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Open like a system booting up. Explain that students will move from simple sketches to a real multitasking firmware design.</a:t>
            </a:r>
          </a:p>
          <a:p>
            <a:r>
              <a:t>Analogy: A laptop boot screen: first the hardware wakes up, then services start.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Who has used delay() to make an LED blink?</a:t>
            </a:r>
          </a:p>
          <a:p>
            <a:r>
              <a:t>Common mistake: Do not promise that RTOS makes code automatically faster; it makes behavior structured and predictable.</a:t>
            </a:r>
          </a:p>
          <a:p>
            <a:r>
              <a:t>Animation suggestion: Fade in the boot log after the title.</a:t>
            </a:r>
          </a:p>
          <a:p>
            <a:r>
              <a:t>Transition suggestion: Move from title to why this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Set the learning promise: every topic helps the final system become less fragile.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Preview the final project so the path has a destination.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Show the destination before the details. Students should know why each concept exists.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Which parts must run at the same time?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Now map the two workshop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Use the handwritten schedule as the pacing guide without putting exact times on screen.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Ground the story in the physical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Introduce the hardware as the workshop's vocabulary.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Which devices are inputs and which are outputs?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Before RTOS, confirm the basic Arduino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The handwritten plan starts with setup. Treat it as risk reduction, not admin.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Move into the refresher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Use this as a clean reset before ESP32 and Arduino Refresher. Frame what students are about to build.</a:t>
            </a:r>
          </a:p>
          <a:p>
            <a:r>
              <a:t>Analogy: A workshop module is like enabling the next subsystem in firmware.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we already know that will help here?</a:t>
            </a:r>
          </a:p>
          <a:p>
            <a:r>
              <a:t>Common mistake: Do not dive into syntax on the divider slide.</a:t>
            </a:r>
          </a:p>
          <a:p>
            <a:r>
              <a:t>Animation suggestion: Use a simple wipe or fade.</a:t>
            </a:r>
          </a:p>
          <a:p>
            <a:r>
              <a:t>Transition suggestion: Start the next slide with the simplest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Connect known Arduino habits to the ESP32's richer execution model.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Refresh the functions they will use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Keep this concrete: these calls are the workshop's sensor and actuator vocabulary.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Which function reads a potentiometer?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Show just enough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Do not teach all Arduino. Teach the subset needed for RTOS activities.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Now make the baseline blink.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Make one LED blink with ordinary Arduino code.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Use the pain of delay as the first reason to think about scheduling.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Assign the millis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Blink without blocking the loop.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Multiple LEDs make students feel why manual timing gets busy.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Let them build MultiBlink before naming RTOS.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Run two or more LEDs with different non-blocking intervals.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Introduce dual-core without pretending parallel hardware removes coordination problems.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Assign the dual-core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Pin blink tasks to different ESP32 cores and observe behavior.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Use this as a clean reset before Superloop. Frame what students are about to build.</a:t>
            </a:r>
          </a:p>
          <a:p>
            <a:r>
              <a:t>Analogy: A workshop module is like enabling the next subsystem in firmware.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we already know that will help here?</a:t>
            </a:r>
          </a:p>
          <a:p>
            <a:r>
              <a:t>Common mistake: Do not dive into syntax on the divider slide.</a:t>
            </a:r>
          </a:p>
          <a:p>
            <a:r>
              <a:t>Animation suggestion: Use a simple wipe or fade.</a:t>
            </a:r>
          </a:p>
          <a:p>
            <a:r>
              <a:t>Transition suggestion: Start the next slide with the simplest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Name the pattern students have already used so it becomes inspectable.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Show what happens when one step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Make blocking visible. The timeline is the simplest way to show a system getting stuck.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Compare superloop with FreeRTOS.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Position RTOS as a design tool, not a buzzword.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Make students diagnose blockers.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Mark where a loop-based sketch can miss an event.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Use this as a clean reset before Need for RTOS. Frame what students are about to build.</a:t>
            </a:r>
          </a:p>
          <a:p>
            <a:r>
              <a:t>Analogy: A workshop module is like enabling the next subsystem in firmware.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we already know that will help here?</a:t>
            </a:r>
          </a:p>
          <a:p>
            <a:r>
              <a:t>Common mistake: Do not dive into syntax on the divider slide.</a:t>
            </a:r>
          </a:p>
          <a:p>
            <a:r>
              <a:t>Animation suggestion: Use a simple wipe or fade.</a:t>
            </a:r>
          </a:p>
          <a:p>
            <a:r>
              <a:t>Transition suggestion: Start the next slide with the simplest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Introduce RTOS as a small operating discipline inside the microcontroller.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Separate concurrency from parallelism.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This avoids a common first-year misconception.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Define real-time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Keep real-time practical: not fastest, but predictable.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Open the FreeRTOS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Show architecture at a distance before API names.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restaurant order queue: orders arrive, the kitchen consumes them in a controlled way.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Assign a mental-model conversion.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Rewrite one superloop behavior as named RTOS jobs.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Use this as a clean reset before Tasks. Frame what students are about to build.</a:t>
            </a:r>
          </a:p>
          <a:p>
            <a:r>
              <a:t>Analogy: A workshop module is like enabling the next subsystem in firmware.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we already know that will help here?</a:t>
            </a:r>
          </a:p>
          <a:p>
            <a:r>
              <a:t>Common mistake: Do not dive into syntax on the divider slide.</a:t>
            </a:r>
          </a:p>
          <a:p>
            <a:r>
              <a:t>Animation suggestion: Use a simple wipe or fade.</a:t>
            </a:r>
          </a:p>
          <a:p>
            <a:r>
              <a:t>Transition suggestion: Start the next slide with the simplest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Make tasks less mysterious by showing they are ordinary functions with a loop.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Show how a task is spawned.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Explain every argument visually; do not ask students to memorize it yet.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Place tasks on a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The lifecycle unlocks later scheduling and debugging slides.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Zoom in on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This is one of the most important early distinctions.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Bring in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Warn against giving every task high priority.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Assign blink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Move blink.ino into a task using vTaskDelay.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The handwritten schedule includes suspend-resume. Teach it as a control tool, not a default pattern.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Let students wire it to a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Use a button or Serial command to pause and resume blinking.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Create two independent LED tasks with different delays.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Use this as a clean reset before Scheduling. Frame what students are about to build.</a:t>
            </a:r>
          </a:p>
          <a:p>
            <a:r>
              <a:t>Analogy: A workshop module is like enabling the next subsystem in firmware.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we already know that will help here?</a:t>
            </a:r>
          </a:p>
          <a:p>
            <a:r>
              <a:t>Common mistake: Do not dive into syntax on the divider slide.</a:t>
            </a:r>
          </a:p>
          <a:p>
            <a:r>
              <a:t>Animation suggestion: Use a simple wipe or fade.</a:t>
            </a:r>
          </a:p>
          <a:p>
            <a:r>
              <a:t>Transition suggestion: Start the next slide with the simplest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Use the traffic controller analogy so the scheduler feels concrete.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Connect it to task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Most FreeRTOS debugging starts by asking which state a task is in.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Layer priorities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Keep the policy simple before discussing deeper scheduling internals.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Relate this back to ESP32 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Teach dual-core as an extension of scheduling, not the first solution.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Assign scheduling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Print task names, priorities, delays, and core IDs.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Use this as a clean reset before Queues. Frame what students are about to build.</a:t>
            </a:r>
          </a:p>
          <a:p>
            <a:r>
              <a:t>Analogy: A workshop module is like enabling the next subsystem in firmware.</a:t>
            </a:r>
          </a:p>
          <a:p>
            <a:r>
              <a:t>Real-world example: A restaurant order queue: orders arrive, the kitchen consumes them in a controlled way.</a:t>
            </a:r>
          </a:p>
          <a:p>
            <a:r>
              <a:t>Ask students: What do we already know that will help here?</a:t>
            </a:r>
          </a:p>
          <a:p>
            <a:r>
              <a:t>Common mistake: Do not dive into syntax on the divider slide.</a:t>
            </a:r>
          </a:p>
          <a:p>
            <a:r>
              <a:t>Animation suggestion: Use a simple wipe or fade.</a:t>
            </a:r>
          </a:p>
          <a:p>
            <a:r>
              <a:t>Transition suggestion: Start the next slide with the simplest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Queues solve data transfer between independent jobs.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restaurant order queue: orders arrive, the kitchen consumes them in a controlled way.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Show API at a tiny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Point out that queues copy data by size.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restaurant order queue: orders arrive, the kitchen consumes them in a controlled way.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Build the three-task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The proposal's event-management activity becomes a concrete architecture.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Warn about queue misuse.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Give debugging warnings before the activity.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restaurant order queue: orders arrive, the kitchen consumes them in a controlled way.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Assign the queue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Send button or potentiometer values from one task to another.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A restaurant order queue: orders arrive, the kitchen consumes them in a controlled way.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Build producer, processor, and display tasks connected by a queue.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A restaurant order queue: orders arrive, the kitchen consumes them in a controlled way.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Use this as a clean reset before Semaphores. Frame what students are about to build.</a:t>
            </a:r>
          </a:p>
          <a:p>
            <a:r>
              <a:t>Analogy: A workshop module is like enabling the next subsystem in firmware.</a:t>
            </a:r>
          </a:p>
          <a:p>
            <a:r>
              <a:t>Real-world example: A doorbell or event buzzer: one press wakes the right worker.</a:t>
            </a:r>
          </a:p>
          <a:p>
            <a:r>
              <a:t>Ask students: What do we already know that will help here?</a:t>
            </a:r>
          </a:p>
          <a:p>
            <a:r>
              <a:t>Common mistake: Do not dive into syntax on the divider slide.</a:t>
            </a:r>
          </a:p>
          <a:p>
            <a:r>
              <a:t>Animation suggestion: Use a simple wipe or fade.</a:t>
            </a:r>
          </a:p>
          <a:p>
            <a:r>
              <a:t>Transition suggestion: Start the next slide with the simplest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Separate queues from semaphores before students blend them.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doorbell or event buzzer: one press wakes the right worker.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Show button to LCD.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Use the smart notification system from the proposal.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Binary versus 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Keep the difference visual and practical.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doorbell or event buzzer: one press wakes the right worker.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Assign toggle semaphore.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Signal an LED or buzzer task from a button task.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A doorbell or event buzzer: one press wakes the right worker.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This is the proposal mini-project, adapted to the handwritten Day 1 flow.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Close Day 1 with a short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Build a multi-mode embedded system with visible feedback.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Summarize without adding new material. This is a mental checkpoint.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Day 2 starts with timed work that does not need a full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Use this as a clean reset before Software Timers. Frame what students are about to build.</a:t>
            </a:r>
          </a:p>
          <a:p>
            <a:r>
              <a:t>Analogy: A workshop module is like enabling the next subsystem in firmware.</a:t>
            </a:r>
          </a:p>
          <a:p>
            <a:r>
              <a:t>Real-world example: An alarm clock that calls a callback at a fixed time.</a:t>
            </a:r>
          </a:p>
          <a:p>
            <a:r>
              <a:t>Ask students: What do we already know that will help here?</a:t>
            </a:r>
          </a:p>
          <a:p>
            <a:r>
              <a:t>Common mistake: Do not dive into syntax on the divider slide.</a:t>
            </a:r>
          </a:p>
          <a:p>
            <a:r>
              <a:t>Animation suggestion: Use a simple wipe or fade.</a:t>
            </a:r>
          </a:p>
          <a:p>
            <a:r>
              <a:t>Transition suggestion: Start the next slide with the simplest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Introduce timers as lightweight time-based triggers.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An alarm clock that calls a callback at a fixed time.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Show the timer service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This prevents students from putting long work inside a timer callback.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An alarm clock that calls a callback at a fixed time.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Assign timer blink.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Show the core API for software timers.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An alarm clock that calls a callback at a fixed time.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Hands-on timer blink.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Recreate blink and multiblink with software timers.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An alarm clock that calls a callback at a fixed time.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Use this as a clean reset before Mutex. Frame what students are about to build.</a:t>
            </a:r>
          </a:p>
          <a:p>
            <a:r>
              <a:t>Analogy: A workshop module is like enabling the next subsystem in firmware.</a:t>
            </a:r>
          </a:p>
          <a:p>
            <a:r>
              <a:t>Real-world example: One key for the LCD: only the task holding the key can write.</a:t>
            </a:r>
          </a:p>
          <a:p>
            <a:r>
              <a:t>Ask students: What do we already know that will help here?</a:t>
            </a:r>
          </a:p>
          <a:p>
            <a:r>
              <a:t>Common mistake: Do not dive into syntax on the divider slide.</a:t>
            </a:r>
          </a:p>
          <a:p>
            <a:r>
              <a:t>Animation suggestion: Use a simple wipe or fade.</a:t>
            </a:r>
          </a:p>
          <a:p>
            <a:r>
              <a:t>Transition suggestion: Start the next slide with the simplest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Mutex is entirely Day 2 per the latest plan.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Introduce the key analogy.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Make ownership visible. The shared LCD is the best workshop example.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One key for the LCD: only the task holding the key can write.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Mention priority inversion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Give the concept, not a graduate lecture. It is a cautionary tale.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Assign the LCD mutex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Let multiple tasks update the LCD without corrupting output.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One key for the LCD: only the task holding the key can write.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Use this as a clean reset before Memory Management. Frame what students are about to build.</a:t>
            </a:r>
          </a:p>
          <a:p>
            <a:r>
              <a:t>Analogy: A workshop module is like enabling the next subsystem in firmware.</a:t>
            </a:r>
          </a:p>
          <a:p>
            <a:r>
              <a:t>Real-world example: A backpack with limited space: each task needs enough stack but not the whole bag.</a:t>
            </a:r>
          </a:p>
          <a:p>
            <a:r>
              <a:t>Ask students: What do we already know that will help here?</a:t>
            </a:r>
          </a:p>
          <a:p>
            <a:r>
              <a:t>Common mistake: Do not dive into syntax on the divider slide.</a:t>
            </a:r>
          </a:p>
          <a:p>
            <a:r>
              <a:t>Animation suggestion: Use a simple wipe or fade.</a:t>
            </a:r>
          </a:p>
          <a:p>
            <a:r>
              <a:t>Transition suggestion: Start the next slide with the simplest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Use memory as a practical debugging topic.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Show stack sizing.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Make memory visible as a set of budgets.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Show the monitoring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Teach students one concrete memory measurement.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Assign stack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Create tasks with different stack sizes and observe behavior.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Use this as a clean reset before Interrupts. Frame what students are about to build.</a:t>
            </a:r>
          </a:p>
          <a:p>
            <a:r>
              <a:t>Analogy: A workshop module is like enabling the next subsystem in firmware.</a:t>
            </a:r>
          </a:p>
          <a:p>
            <a:r>
              <a:t>Real-world example: A fire alarm: it interrupts normal work but should hand off quickly.</a:t>
            </a:r>
          </a:p>
          <a:p>
            <a:r>
              <a:t>Ask students: What do we already know that will help here?</a:t>
            </a:r>
          </a:p>
          <a:p>
            <a:r>
              <a:t>Common mistake: Do not dive into syntax on the divider slide.</a:t>
            </a:r>
          </a:p>
          <a:p>
            <a:r>
              <a:t>Animation suggestion: Use a simple wipe or fade.</a:t>
            </a:r>
          </a:p>
          <a:p>
            <a:r>
              <a:t>Transition suggestion: Start the next slide with the simplest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Interrupts are emergency entry points, not a place to do full work.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Show ISR-safe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Focus on the safe handoff pattern.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Assign emergency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Use a button interrupt to trigger an alert task.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A fire alarm: it interrupts normal work but should hand off quickly.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Use this as a clean reset before Task Notifications. Frame what students are about to build.</a:t>
            </a:r>
          </a:p>
          <a:p>
            <a:r>
              <a:t>Analogy: A workshop module is like enabling the next subsystem in firmware.</a:t>
            </a:r>
          </a:p>
          <a:p>
            <a:r>
              <a:t>Real-world example: A direct phone ping to one task instead of posting a public message.</a:t>
            </a:r>
          </a:p>
          <a:p>
            <a:r>
              <a:t>Ask students: What do we already know that will help here?</a:t>
            </a:r>
          </a:p>
          <a:p>
            <a:r>
              <a:t>Common mistake: Do not dive into syntax on the divider slide.</a:t>
            </a:r>
          </a:p>
          <a:p>
            <a:r>
              <a:t>Animation suggestion: Use a simple wipe or fade.</a:t>
            </a:r>
          </a:p>
          <a:p>
            <a:r>
              <a:t>Transition suggestion: Start the next slide with the simplest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Notifications are lightweight, but they target one task.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direct phone ping to one task instead of posting a public message.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Compare with queue and semaphore.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This slide helps students select mechanisms instead of collecting APIs.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Assign the LCD notification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Show the essential pattern in four lines.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restaurant order queue: orders arrive, the kitchen consumes them in a controlled way.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Hands-on notification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Let teams work before explaining the complete answer. Objective: Trigger LCD updates through direct task notifications.</a:t>
            </a:r>
          </a:p>
          <a:p>
            <a:r>
              <a:t>Analogy: Like debugging a tiny lab instrument: change one variable and observe the output.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you expect to see before uploading?</a:t>
            </a:r>
          </a:p>
          <a:p>
            <a:r>
              <a:t>Common mistake: Common mistake: wiring and pin numbers are confused with RTOS logic. Separate hardware debugging from code debugging.</a:t>
            </a:r>
          </a:p>
          <a:p>
            <a:r>
              <a:t>Animation suggestion: Keep the activity title fixed; reveal steps as the room catches up.</a:t>
            </a:r>
          </a:p>
          <a:p>
            <a:r>
              <a:t>Transition suggestion: After the activity, ask one group to describe the symptom they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Use this as a clean reset before Integrated FreeRTOS Application. Frame what students are about to build.</a:t>
            </a:r>
          </a:p>
          <a:p>
            <a:r>
              <a:t>Analogy: A workshop module is like enabling the next subsystem in firmware.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do we already know that will help here?</a:t>
            </a:r>
          </a:p>
          <a:p>
            <a:r>
              <a:t>Common mistake: Do not dive into syntax on the divider slide.</a:t>
            </a:r>
          </a:p>
          <a:p>
            <a:r>
              <a:t>Animation suggestion: Use a simple wipe or fade.</a:t>
            </a:r>
          </a:p>
          <a:p>
            <a:r>
              <a:t>Transition suggestion: Start the next slide with the simplest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Tie together all modules into the final monitoring and control system.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Show build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Give a build sequence that prevents students from trying everything at once.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Give the demo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Set expectations for teams before final demos.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Summarize the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Match the proposal learning outcomes in student-friendly language.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What would break first if this ran inside one long loop?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End with one simple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Explain: Close by reinforcing confidence and the system-thinking arc.</a:t>
            </a:r>
          </a:p>
          <a:p>
            <a:r>
              <a:t>Analogy: A small embedded system is like a tiny team: each part needs a clear job and a way to coordinate.</a:t>
            </a:r>
          </a:p>
          <a:p>
            <a:r>
              <a:t>Real-world example: A smartwatch, drone, or car dashboard where sensing, display, alerts, and input happen together.</a:t>
            </a:r>
          </a:p>
          <a:p>
            <a:r>
              <a:t>Ask students: Which FreeRTOS primitive would you reach for first in your own project?</a:t>
            </a:r>
          </a:p>
          <a:p>
            <a:r>
              <a:t>Common mistake: Students may memorize API names before understanding the timing or ownership problem.</a:t>
            </a:r>
          </a:p>
          <a:p>
            <a:r>
              <a:t>Animation suggestion: Reveal the diagram or cards one step at a time.</a:t>
            </a:r>
          </a:p>
          <a:p>
            <a:r>
              <a:t>Transition suggestion: Invite questions and final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D9499D65-350A-4CC0-AA74-871A9CDF3DDD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AC37F0-569A-4D9D-BA04-FA213E52B9C5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EA0111-93E5-4E69-AB0E-358C0A001155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81F4D1-2082-41DB-992E-B6CC0B859F1D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B73AA6-6573-469C-BD1E-D7FE1F73E530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87D86-99C4-4B98-9B51-A9EA1FB39B4C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DF352-6E50-4CF6-9512-A562B725E1D6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CCC339-1604-4B84-A546-3F2B5B3AD0EF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F0F0A1-6DF8-487B-80EC-CC985DFCC659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64D3E1-8DCE-4D5C-8F42-DDDAF5C6B0AF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637B09-E928-4438-9561-003100138420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5EA4F1-36DF-4B1F-A5D3-A60BF6B51BA0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2E061A-6B39-49E6-8CD8-C1C31C35ACBF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794ED-12EA-4D5A-98D2-51D22F680157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5B86BD-24C4-44BE-9544-EAC4DFAF4530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8F6839-DD84-48BE-ACB0-BB3BC9D48E65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AC9DC3-9FFC-4F1A-8E44-D9E1CE80FB4F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EA6ED-1562-4E33-AF2E-E05B818D7E12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A6603E-CD72-48F5-A3E5-24FD9D7E83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337F8D-CB64-4188-A85A-ECBD6429C991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8D8655-A0C1-46F6-80A8-327DB17E58BD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0B4D4A-2235-4983-93FA-6E58E3D71CE7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E8D8C1-356E-48A6-B4A6-BF857069C4DA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E67885-17B6-4433-9EB8-2B3081773F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2FB6D2-6D76-48AE-9B63-B09F2646DF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06A7F203-B1E3-4AF1-AE4A-3AAE48D28F46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6889C976-C6B8-40ED-ABB3-A9878F6F143C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8D1779-3356-41CB-87CC-6E8A4436CE23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E30A6B-5186-45B8-83EB-F7DDF6081ABC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223BC37-2C99-43D7-98AD-EB0565AACD90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828993B-286A-4F34-8284-CD36F4ED1523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212D922-6983-4792-8E78-5A5CEAE15566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F5119D7-7333-433A-AB66-EF7CBFA4D140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0383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7B3B16C-FA4F-4552-8B44-AB802B2D1328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771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 dirty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BOOT_SEQUENCE_INIT..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29FCAF2-2266-4E03-8313-8467338070EC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DB2B937-0976-4C44-B694-EBDF181A33D0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C450D82-1485-47A2-9B5F-EACA9851E2B1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E590F6-2B85-4D97-B8A7-86F2E08A9D44}"/>
              </a:ext>
            </a:extLst>
          </p:cNvPr>
          <p:cNvSpPr>
            <a:spLocks noGrp="1"/>
          </p:cNvSpPr>
          <p:nvPr/>
        </p:nvSpPr>
        <p:spPr>
          <a:xfrm>
            <a:off x="838200" y="1123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 dirty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REAL_TIME_KERNEL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FD3A5D-62A6-4049-9B9B-98E91524AB4D}"/>
              </a:ext>
            </a:extLst>
          </p:cNvPr>
          <p:cNvSpPr>
            <a:spLocks noGrp="1"/>
          </p:cNvSpPr>
          <p:nvPr/>
        </p:nvSpPr>
        <p:spPr>
          <a:xfrm>
            <a:off x="680085" y="1284863"/>
            <a:ext cx="8399391" cy="18103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700" b="1">
                <a:solidFill>
                  <a:srgbClr val="07844A"/>
                </a:solidFill>
                <a:latin typeface="Aptos Display"/>
                <a:ea typeface="Aptos Display"/>
                <a:cs typeface="Aptos Display"/>
              </a:defRPr>
            </a:pPr>
            <a:r>
              <a:rPr sz="13800" b="1" dirty="0" err="1">
                <a:solidFill>
                  <a:srgbClr val="07844A"/>
                </a:solidFill>
                <a:latin typeface="Segoe UI" panose="020B0502040204020203" pitchFamily="34" charset="0"/>
                <a:ea typeface="Aptos Display"/>
                <a:cs typeface="Segoe UI" panose="020B0502040204020203" pitchFamily="34" charset="0"/>
              </a:rPr>
              <a:t>FreeRTOS</a:t>
            </a:r>
            <a:endParaRPr sz="13800" b="1" dirty="0">
              <a:solidFill>
                <a:srgbClr val="07844A"/>
              </a:solidFill>
              <a:latin typeface="Segoe UI" panose="020B0502040204020203" pitchFamily="34" charset="0"/>
              <a:ea typeface="Aptos Display"/>
              <a:cs typeface="Segoe UI" panose="020B0502040204020203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0B082ED-324C-41AB-994E-29EEC1C6823F}"/>
              </a:ext>
            </a:extLst>
          </p:cNvPr>
          <p:cNvSpPr>
            <a:spLocks noGrp="1"/>
          </p:cNvSpPr>
          <p:nvPr/>
        </p:nvSpPr>
        <p:spPr>
          <a:xfrm flipV="1">
            <a:off x="895349" y="3121496"/>
            <a:ext cx="7398773" cy="45719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426B8E8-118F-4AC3-BC8F-7B85BBB354AF}"/>
              </a:ext>
            </a:extLst>
          </p:cNvPr>
          <p:cNvSpPr>
            <a:spLocks noGrp="1"/>
          </p:cNvSpPr>
          <p:nvPr/>
        </p:nvSpPr>
        <p:spPr>
          <a:xfrm>
            <a:off x="838200" y="3217606"/>
            <a:ext cx="676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72033"/>
                </a:solidFill>
                <a:latin typeface="Cascadia Mono"/>
                <a:ea typeface="Cascadia Mono"/>
                <a:cs typeface="Cascadia Mono"/>
              </a:defRPr>
            </a:pPr>
            <a:r>
              <a:rPr sz="2800" b="1" dirty="0">
                <a:solidFill>
                  <a:srgbClr val="172033"/>
                </a:solidFill>
                <a:latin typeface="Cascadia Mono"/>
                <a:ea typeface="Cascadia Mono"/>
                <a:cs typeface="Cascadia Mono"/>
              </a:rPr>
              <a:t>Hands-on Workshop using ESP32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47DDC74-9B45-A587-67CD-C9FB86C4F013}"/>
              </a:ext>
            </a:extLst>
          </p:cNvPr>
          <p:cNvSpPr/>
          <p:nvPr/>
        </p:nvSpPr>
        <p:spPr>
          <a:xfrm>
            <a:off x="868926" y="4014635"/>
            <a:ext cx="3028950" cy="1943100"/>
          </a:xfrm>
          <a:prstGeom prst="roundRect">
            <a:avLst>
              <a:gd name="adj" fmla="val 5882"/>
            </a:avLst>
          </a:prstGeom>
          <a:solidFill>
            <a:srgbClr val="F6F9FC"/>
          </a:solidFill>
          <a:ln w="11430">
            <a:solidFill>
              <a:srgbClr val="AEBBC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285D3B7-50E5-FF7B-0E9A-44068FD3AE1A}"/>
              </a:ext>
            </a:extLst>
          </p:cNvPr>
          <p:cNvSpPr/>
          <p:nvPr/>
        </p:nvSpPr>
        <p:spPr>
          <a:xfrm>
            <a:off x="1154676" y="430038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D061D-1678-4DD2-9290-9FE946C92804}"/>
              </a:ext>
            </a:extLst>
          </p:cNvPr>
          <p:cNvSpPr/>
          <p:nvPr/>
        </p:nvSpPr>
        <p:spPr>
          <a:xfrm>
            <a:off x="1383276" y="430038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6994D13-F7F4-4106-E293-2FB31EE1D231}"/>
              </a:ext>
            </a:extLst>
          </p:cNvPr>
          <p:cNvSpPr/>
          <p:nvPr/>
        </p:nvSpPr>
        <p:spPr>
          <a:xfrm>
            <a:off x="1611876" y="430038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8D330C8-1200-2B62-2ECC-DCF5BAA0CA99}"/>
              </a:ext>
            </a:extLst>
          </p:cNvPr>
          <p:cNvSpPr/>
          <p:nvPr/>
        </p:nvSpPr>
        <p:spPr>
          <a:xfrm>
            <a:off x="1154676" y="4738535"/>
            <a:ext cx="2381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7B8794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 dirty="0">
                <a:solidFill>
                  <a:srgbClr val="7B8794"/>
                </a:solidFill>
                <a:latin typeface="Cascadia Mono"/>
                <a:ea typeface="Cascadia Mono"/>
                <a:cs typeface="Cascadia Mono"/>
              </a:rPr>
              <a:t>FREE_RTOS v10.x</a:t>
            </a:r>
          </a:p>
          <a:p>
            <a:pPr>
              <a:defRPr sz="1575" b="0">
                <a:solidFill>
                  <a:srgbClr val="7B8794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 dirty="0">
                <a:solidFill>
                  <a:srgbClr val="7B8794"/>
                </a:solidFill>
                <a:latin typeface="Cascadia Mono"/>
                <a:ea typeface="Cascadia Mono"/>
                <a:cs typeface="Cascadia Mono"/>
              </a:rPr>
              <a:t>ESP32 @ 240MHz</a:t>
            </a:r>
          </a:p>
          <a:p>
            <a:pPr>
              <a:defRPr sz="1575" b="0">
                <a:solidFill>
                  <a:srgbClr val="7B8794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 dirty="0">
                <a:solidFill>
                  <a:srgbClr val="7B8794"/>
                </a:solidFill>
                <a:latin typeface="Cascadia Mono"/>
                <a:ea typeface="Cascadia Mono"/>
                <a:cs typeface="Cascadia Mono"/>
              </a:rPr>
              <a:t>SYSTEM READY</a:t>
            </a:r>
          </a:p>
        </p:txBody>
      </p:sp>
    </p:spTree>
    <p:extLst>
      <p:ext uri="{BB962C8B-B14F-4D97-AF65-F5344CB8AC3E}">
        <p14:creationId xmlns:p14="http://schemas.microsoft.com/office/powerpoint/2010/main" val="180385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43AF4809-F8DC-419F-8171-EFB6052968C8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CB2BE6-6630-4E7E-A1CB-CA7195339BC3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3017BD-D0F4-4BA4-9F5B-F604B44EEA38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9B60A6-5ECE-49D8-A86A-B67A27EFA5FF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E24B79-E711-4B5F-9AE8-86CBF08FC4A9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CD22D1-1F22-47C3-A03C-DA0457F69C0B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260123-3892-4524-9E33-859A9A4191F3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75AF67-AA44-4B38-B1F8-26CF47DB97C3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616FAC-651D-4E9F-BD00-4BD0DA53E01B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402C43-9F76-4243-94FF-1C9AC15D5817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C29AC7-35CC-493A-B822-A2C93D23688C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3864B6-E801-4E57-9393-A524ECABE37B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C09E11-C5E8-4FB9-92D6-3A4E1D8248B9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0CB6BA-E0A6-49BD-8BEA-1516554D2695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C77C8A-E9DE-4951-8715-4D04646CEF13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1A0BDD-11DF-4C32-A15A-2102F358B456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A99108-3193-49D9-9B83-DDBA6425D033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15DEAE-BC9E-4C67-B2FC-BD96838C26FD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BEFE4C-2F9F-4620-A5AC-A847B1B7902F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9EE25D-330D-4045-8907-4429ECA152BE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BBF41C-B979-4241-A4E0-4577193FC762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EA75DC-3493-4580-B4F5-73712689D886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E73F65-DB50-4323-BF09-4AD60C78D975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54F578-492E-42EF-9FC0-89A8DAACC4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F3F724-3ED9-41AA-8DEE-D8595C58D7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0C0CCDED-6951-42B2-AEA1-BFF3490A418A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B4524CCB-4037-4AF9-BC58-F89963C4DE7A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3B4A08-24B4-47F1-BFD3-8CCEAAB1ACD7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55B584-8693-43FA-AD68-E33DB342C60E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0CCBACD-56C1-4E75-913A-EF8349EC652F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61F3494-989E-47E0-BE01-1A91D7598A1D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AD3294C-73A7-42C3-9284-FA72BB37109A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DEDC6BC-B9A7-4D63-82CD-F1A8860CB586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77490F-58BE-4F56-AD5E-E54DE043D734}"/>
              </a:ext>
            </a:extLst>
          </p:cNvPr>
          <p:cNvSpPr>
            <a:spLocks noGrp="1"/>
          </p:cNvSpPr>
          <p:nvPr/>
        </p:nvSpPr>
        <p:spPr>
          <a:xfrm>
            <a:off x="1962150" y="180975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600" b="1" dirty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INTRO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1CA491B-84EC-4080-8120-FFF62CE68F9F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80179E3-6A97-405D-9AFA-CB3B89E9A2AA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F6EA937-0204-4DD3-AA4D-29319950A899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F6335A-9ED2-4D70-AABB-CBAB298AD5A9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dirty="0">
                <a:solidFill>
                  <a:srgbClr val="172033"/>
                </a:solidFill>
                <a:latin typeface="Inter"/>
                <a:ea typeface="Aptos Display"/>
                <a:cs typeface="Aptos Display"/>
              </a:rPr>
              <a:t>This workshop turns sketches into firmware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3F997D0-EABB-4D98-A12C-4F44C6436A91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838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Students start with blink and end with a coordinated real-time system.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7CFF95-CF17-48C1-83A5-E0A2DE261234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142875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7B1693E-861B-4810-86D8-22E3A6CFB994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30B09E5-37E4-4FE1-A58F-073D1751C5E8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28D953F-75B1-4212-8030-D68A92B99194}"/>
              </a:ext>
            </a:extLst>
          </p:cNvPr>
          <p:cNvSpPr>
            <a:spLocks noGrp="1"/>
          </p:cNvSpPr>
          <p:nvPr/>
        </p:nvSpPr>
        <p:spPr>
          <a:xfrm>
            <a:off x="11049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Start simple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F7A2A6A-D523-49F4-94D4-91708FC59C7E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GPIO, Serial, </a:t>
            </a:r>
            <a:r>
              <a:rPr sz="1575" b="0" dirty="0" err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millis</a:t>
            </a:r>
            <a:r>
              <a:rPr sz="1575" b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, cores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0756BFC-E493-407B-BAB6-36E4FAF592AF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F8FA028-4EFC-421B-B538-728047B903AF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E0A2257-1A56-4047-BF0C-909D070B24E4}"/>
              </a:ext>
            </a:extLst>
          </p:cNvPr>
          <p:cNvSpPr>
            <a:spLocks noGrp="1"/>
          </p:cNvSpPr>
          <p:nvPr/>
        </p:nvSpPr>
        <p:spPr>
          <a:xfrm>
            <a:off x="38481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844A"/>
                </a:solidFill>
                <a:latin typeface="Aptos"/>
                <a:ea typeface="Aptos"/>
                <a:cs typeface="Aptos"/>
              </a:rPr>
              <a:t>Add structure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0881ADE-D518-4FC0-8458-576E611221C3}"/>
              </a:ext>
            </a:extLst>
          </p:cNvPr>
          <p:cNvSpPr>
            <a:spLocks noGrp="1"/>
          </p:cNvSpPr>
          <p:nvPr/>
        </p:nvSpPr>
        <p:spPr>
          <a:xfrm>
            <a:off x="38481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Tasks, scheduler, timing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A557A04-A920-4477-903A-611A3414CE23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C26FA04-B197-4EC5-A82A-677044FB0AB3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AD4A20F-9C7B-4D95-9480-B35BD81B1B8D}"/>
              </a:ext>
            </a:extLst>
          </p:cNvPr>
          <p:cNvSpPr>
            <a:spLocks noGrp="1"/>
          </p:cNvSpPr>
          <p:nvPr/>
        </p:nvSpPr>
        <p:spPr>
          <a:xfrm>
            <a:off x="65913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Coordinate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71B7F04-C3A9-4E1C-A188-A754B7EFE54B}"/>
              </a:ext>
            </a:extLst>
          </p:cNvPr>
          <p:cNvSpPr>
            <a:spLocks noGrp="1"/>
          </p:cNvSpPr>
          <p:nvPr/>
        </p:nvSpPr>
        <p:spPr>
          <a:xfrm>
            <a:off x="65913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Queues, semaphores, mutex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AC49A08-B2C4-4DB5-9E79-C4E68BD4B10B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CF37096-09F6-4A04-9290-E8F7E75DC574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2E986E-092B-4AAB-9B1F-BDCEDDAC0FFC}"/>
              </a:ext>
            </a:extLst>
          </p:cNvPr>
          <p:cNvSpPr>
            <a:spLocks noGrp="1"/>
          </p:cNvSpPr>
          <p:nvPr/>
        </p:nvSpPr>
        <p:spPr>
          <a:xfrm>
            <a:off x="93345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Integrate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5668A90-BA32-4E5B-830B-0C2BADBCAD0E}"/>
              </a:ext>
            </a:extLst>
          </p:cNvPr>
          <p:cNvSpPr>
            <a:spLocks noGrp="1"/>
          </p:cNvSpPr>
          <p:nvPr/>
        </p:nvSpPr>
        <p:spPr>
          <a:xfrm>
            <a:off x="93345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Timers, ISR, notifications</a:t>
            </a:r>
          </a:p>
        </p:txBody>
      </p:sp>
    </p:spTree>
    <p:extLst>
      <p:ext uri="{BB962C8B-B14F-4D97-AF65-F5344CB8AC3E}">
        <p14:creationId xmlns:p14="http://schemas.microsoft.com/office/powerpoint/2010/main" val="803510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D662F4D5-8258-4164-880B-9B130AFC9AB3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03EF5E-13FB-4CC9-9FE1-947C099C8401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631E3A-6953-45DD-BAE5-8EDD5984613A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298D21-251D-47BD-BD5E-990D958225B7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FE9DE5-A03D-4EAA-996C-77F2D90407F9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0242D4-B31C-4579-B269-7DDE93C87E8D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E81D6C-18C0-489F-880A-EE5974C4284A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55155-2BC6-42AD-B789-F4B1D897DCE8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24CCEE-AE10-48D1-8B8B-2029826B4FEB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502CA-A9E7-49AD-97BA-30D9E727197C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1EBE8B-FC5C-4CC6-991B-FAAC5A3DEF66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6D3899-8D7A-4C24-86F1-320523B642D4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6616C6-BBD1-4C96-8BEC-D853FB1D6C6E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D93D10-AB94-4EE4-9841-B009953AED2E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EB85CF-B425-4841-A3B9-79243D830FAC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84CDEB-5192-4D4C-B44B-81E0F3E1B419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295ABA-B276-4CA7-A5C4-DA04A652B334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43A040-AB32-419B-85FE-848EA9A38098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641EBA-7F8A-4968-8E36-CA7EFEF5047C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1F2EFC-3863-46B6-96D6-953A8D9E1D60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794E21-EF7A-4A2F-B086-8EEE3AF38C6F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587B34-9F80-42C3-B2B2-6F797C7CE50B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DB9D5D-AA5D-4C6B-AF75-D26803C59708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719DFA-BFC2-4976-8B40-A77D22AD09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C856CE-F00C-46CC-951D-46F8B0A6E8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6FC52F6-DEB1-4C83-8CB8-5122EDA2C60F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DE358336-D439-4575-BD92-AE8D0C2D2FBC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96AEA2-DBFA-440A-9B88-8DC6E05960BB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E11D74-3EF7-4122-9CF4-5F606030D730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1DD300C-6792-4911-B4D3-645568AC0E1D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5953F13-9A93-4FF2-9AB6-FE5E418C5137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8FB2AF5-946B-428A-A189-FB36E92FFAFF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E60D96E-1BF8-4698-8BF9-920FBB8E4F38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2A3F19E-12A6-48A6-A3DB-1D572884910E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INTRO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E4D3D1-BCB4-468F-949C-9F0B4FAE0A6F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3A9BB05-9890-446D-8811-764E766B7B7E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59D9FDB-8AB8-49D0-86B3-DB2FB7F706E2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70E73C9-B782-4417-A37A-2729F7FCB970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final project is the north star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319F4AE-B956-470B-812B-E6D4037645CF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838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live ESP32 app with sensors, display, alerts, controls, and emergency response.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C2782C7-5C37-4DA5-8374-FE56DA9A09D2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30566D5-6249-4894-B391-DFB1B2DC9CA5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C5375EC-DAF2-46C4-8DEA-ED91E18A70C3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5875F9E-B4D6-4A55-B325-E0C9C5AA18E6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984C56A-ABBD-4D7A-984D-1A687C00129F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8C8DE04-3196-4DD6-BA45-EA32F7DA9CCF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5D6E5-1993-429F-AC9B-3B4B1A2D4815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7EDA01C-CDC8-4727-9792-95EA03E3D8E1}"/>
              </a:ext>
            </a:extLst>
          </p:cNvPr>
          <p:cNvSpPr>
            <a:spLocks noGrp="1"/>
          </p:cNvSpPr>
          <p:nvPr/>
        </p:nvSpPr>
        <p:spPr>
          <a:xfrm>
            <a:off x="29908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2D86A90-F5ED-42F5-914E-72EC2DB983A4}"/>
              </a:ext>
            </a:extLst>
          </p:cNvPr>
          <p:cNvSpPr>
            <a:spLocks noGrp="1"/>
          </p:cNvSpPr>
          <p:nvPr/>
        </p:nvSpPr>
        <p:spPr>
          <a:xfrm>
            <a:off x="29908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cxnSp>
        <p:nvCxnSpPr>
          <p:cNvPr id="115" name="Straight Arrow Connector 114"/>
          <p:cNvCxnSpPr>
            <a:stCxn id="42" idx="3"/>
            <a:endCxn id="46" idx="1"/>
          </p:cNvCxnSpPr>
          <p:nvPr/>
        </p:nvCxnSpPr>
        <p:spPr>
          <a:xfrm>
            <a:off x="24955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C5610DC-B881-46F2-9E87-DF38E3B2B41F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FEF02D4-1FC7-4DD8-97EC-67D1D408DBFF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FC4896-EE7E-4DAF-BE45-F569C3E33848}"/>
              </a:ext>
            </a:extLst>
          </p:cNvPr>
          <p:cNvSpPr>
            <a:spLocks noGrp="1"/>
          </p:cNvSpPr>
          <p:nvPr/>
        </p:nvSpPr>
        <p:spPr>
          <a:xfrm>
            <a:off x="49720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F729921-D8D0-4089-BE48-AF3BE8EC3752}"/>
              </a:ext>
            </a:extLst>
          </p:cNvPr>
          <p:cNvSpPr>
            <a:spLocks noGrp="1"/>
          </p:cNvSpPr>
          <p:nvPr/>
        </p:nvSpPr>
        <p:spPr>
          <a:xfrm>
            <a:off x="49720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Queue</a:t>
            </a:r>
          </a:p>
        </p:txBody>
      </p:sp>
      <p:cxnSp>
        <p:nvCxnSpPr>
          <p:cNvPr id="120" name="Straight Arrow Connector 119"/>
          <p:cNvCxnSpPr>
            <a:stCxn id="46" idx="3"/>
            <a:endCxn id="51" idx="1"/>
          </p:cNvCxnSpPr>
          <p:nvPr/>
        </p:nvCxnSpPr>
        <p:spPr>
          <a:xfrm>
            <a:off x="44767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5919C56-A7E5-43D9-BB85-9AF362B8E153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73F00B2-7F7C-4798-A861-E9612E1E0DC7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0E9120C-FB12-4FC5-8652-C146C4D6F8D5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FA1F478-0046-4BA0-802F-F99F561208CF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LCD</a:t>
            </a:r>
          </a:p>
        </p:txBody>
      </p:sp>
      <p:cxnSp>
        <p:nvCxnSpPr>
          <p:cNvPr id="125" name="Straight Arrow Connector 124"/>
          <p:cNvCxnSpPr>
            <a:stCxn id="51" idx="3"/>
            <a:endCxn id="56" idx="1"/>
          </p:cNvCxnSpPr>
          <p:nvPr/>
        </p:nvCxnSpPr>
        <p:spPr>
          <a:xfrm>
            <a:off x="64579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13D38FB-05B7-4C1D-B36F-17C13965CB84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4754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E4232F6-34C9-4E20-88A8-D745BE201205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66675"/>
          </a:xfrm>
          <a:prstGeom prst="rect">
            <a:avLst/>
          </a:prstGeom>
          <a:solidFill>
            <a:srgbClr val="475467"/>
          </a:solidFill>
          <a:ln w="0">
            <a:noFill/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101EAD-3C32-41FC-8240-14D4437C5368}"/>
              </a:ext>
            </a:extLst>
          </p:cNvPr>
          <p:cNvSpPr>
            <a:spLocks noGrp="1"/>
          </p:cNvSpPr>
          <p:nvPr/>
        </p:nvSpPr>
        <p:spPr>
          <a:xfrm>
            <a:off x="89344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ED63495-0969-4016-8D75-EF60BD73AEBF}"/>
              </a:ext>
            </a:extLst>
          </p:cNvPr>
          <p:cNvSpPr>
            <a:spLocks noGrp="1"/>
          </p:cNvSpPr>
          <p:nvPr/>
        </p:nvSpPr>
        <p:spPr>
          <a:xfrm>
            <a:off x="89344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Alert</a:t>
            </a:r>
          </a:p>
        </p:txBody>
      </p:sp>
      <p:cxnSp>
        <p:nvCxnSpPr>
          <p:cNvPr id="130" name="Straight Arrow Connector 129"/>
          <p:cNvCxnSpPr>
            <a:stCxn id="56" idx="3"/>
            <a:endCxn id="61" idx="1"/>
          </p:cNvCxnSpPr>
          <p:nvPr/>
        </p:nvCxnSpPr>
        <p:spPr>
          <a:xfrm>
            <a:off x="84391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404616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827AA111-D78D-4772-80F8-FC05D117807D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38D096-A021-417F-A9E1-8E4FC3AAAFF8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335695-049E-4994-B471-DF415FBB647A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6A8C2C-DDD9-4639-AF91-A3C39B298FE7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B83F9C-A735-461B-8BAE-5B4444F92044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3E9D5C-1BDE-4CC9-8313-33E9B18CCBC6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CBEB01-0728-4D8D-92F8-1C9D00DF1C25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6B19AC-E207-461D-9F34-9EB282DEF09D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F24CF5-01C2-4747-A76B-2BC2F988382E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C88D3F-6A40-4620-A1A7-6C293B8E7336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67C418-9D16-42AF-8689-34888916969C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2113D2-0E29-4578-B9AD-A710387E16E9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D9AB33-1621-4F05-A845-4F768719CEE6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2332EB-FEE3-4F0A-BF96-DF61429C59B0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562CEC-ABB1-44EA-8F98-98B0E5BB1A77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DC5D6B-5E50-4CB9-B7C1-6F095F62F038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A4DB4D-1988-4545-8379-3B37C514C9D9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05F894-6FA0-4470-A1A0-268271BE893D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5EC1CD-C657-4C96-B27E-5AC3F01E2F81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C576F6-A1A5-4E75-B2F6-75FFFA9835DC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B02300-4E79-406F-8E0C-85C6BCAA92DA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1205D5-8664-4170-BFC7-AE71716C6909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0B875A-A515-4C17-946A-C1208021C215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A5B745-309E-43BB-BBC9-221023071B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EE0159-7821-4FDA-9AFC-3354F3D0E0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AF006EA5-7BCB-4C78-8311-A659F050C59C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826D7754-117B-4D7E-AAF0-59ACF33CEFB8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B5C3DE-494A-402F-8674-784B5188DE03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DB6B26-0C4C-438C-89D8-45DF802F7B8F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A2DD660-6022-478B-B4A7-EC91FF141A37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7406100-C707-4C25-AF22-68FF06543975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3979557-3D15-423F-8B4C-EE9C6E78CD9D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D995B06-58B8-4BB1-A9EC-2F4B8AAF2D08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88DFB34-3CBE-4CA3-A193-065F8A51D670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INTRO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E02E292-E287-464B-B9AE-8A0615628ACF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A2F064E-C73D-423D-87C8-7249DBAFC0CA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3FFE8D5-3D2D-4F3C-A288-017A6EF9309B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78EDFF9-19D9-475B-917A-90AECED95B49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Two days, one firmware story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32A9DF2-484C-4FCF-A691-ED4A1788778F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989A2A9-AAD2-45DC-80E5-6A6845CE4C0F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10191750" cy="1790700"/>
          </a:xfrm>
          <a:prstGeom prst="roundRect">
            <a:avLst>
              <a:gd name="adj" fmla="val 7447"/>
            </a:avLst>
          </a:prstGeom>
          <a:solidFill>
            <a:srgbClr val="FFFFFF">
              <a:alpha val="72000"/>
            </a:srgbClr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F55F9766-7852-4A4D-B43D-02A5FA9DC80C}"/>
              </a:ext>
            </a:extLst>
          </p:cNvPr>
          <p:cNvSpPr>
            <a:spLocks noGrp="1"/>
          </p:cNvSpPr>
          <p:nvPr/>
        </p:nvSpPr>
        <p:spPr>
          <a:xfrm>
            <a:off x="1352550" y="3695700"/>
            <a:ext cx="9144000" cy="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29215F5-D599-496D-B8A9-91618692FB1C}"/>
              </a:ext>
            </a:extLst>
          </p:cNvPr>
          <p:cNvSpPr>
            <a:spLocks noGrp="1"/>
          </p:cNvSpPr>
          <p:nvPr/>
        </p:nvSpPr>
        <p:spPr>
          <a:xfrm>
            <a:off x="1209675" y="3571875"/>
            <a:ext cx="247650" cy="247650"/>
          </a:xfrm>
          <a:prstGeom prst="ellipse">
            <a:avLst/>
          </a:prstGeom>
          <a:solidFill>
            <a:srgbClr val="475467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C362749-EE33-4985-8AF7-8BB79AEEE911}"/>
              </a:ext>
            </a:extLst>
          </p:cNvPr>
          <p:cNvSpPr>
            <a:spLocks noGrp="1"/>
          </p:cNvSpPr>
          <p:nvPr/>
        </p:nvSpPr>
        <p:spPr>
          <a:xfrm>
            <a:off x="57150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8B89325-E32D-4150-AB00-6F686F025027}"/>
              </a:ext>
            </a:extLst>
          </p:cNvPr>
          <p:cNvSpPr>
            <a:spLocks noGrp="1"/>
          </p:cNvSpPr>
          <p:nvPr/>
        </p:nvSpPr>
        <p:spPr>
          <a:xfrm>
            <a:off x="57150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Board + IDE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3662B9D-929A-4731-88A1-7CE4A4D4CFAC}"/>
              </a:ext>
            </a:extLst>
          </p:cNvPr>
          <p:cNvSpPr>
            <a:spLocks noGrp="1"/>
          </p:cNvSpPr>
          <p:nvPr/>
        </p:nvSpPr>
        <p:spPr>
          <a:xfrm>
            <a:off x="3448050" y="3571875"/>
            <a:ext cx="247650" cy="247650"/>
          </a:xfrm>
          <a:prstGeom prst="ellipse">
            <a:avLst/>
          </a:prstGeom>
          <a:solidFill>
            <a:srgbClr val="2563EB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EEFF447-9B50-4A33-B675-D6D569CAFE3C}"/>
              </a:ext>
            </a:extLst>
          </p:cNvPr>
          <p:cNvSpPr>
            <a:spLocks noGrp="1"/>
          </p:cNvSpPr>
          <p:nvPr/>
        </p:nvSpPr>
        <p:spPr>
          <a:xfrm>
            <a:off x="2809875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Refresher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21A5F61-3F1A-49D6-AE04-AC62E764A305}"/>
              </a:ext>
            </a:extLst>
          </p:cNvPr>
          <p:cNvSpPr>
            <a:spLocks noGrp="1"/>
          </p:cNvSpPr>
          <p:nvPr/>
        </p:nvSpPr>
        <p:spPr>
          <a:xfrm>
            <a:off x="2809875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Arduino basics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FD38C72-3A9D-4A10-97F9-8BCED742EF01}"/>
              </a:ext>
            </a:extLst>
          </p:cNvPr>
          <p:cNvSpPr>
            <a:spLocks noGrp="1"/>
          </p:cNvSpPr>
          <p:nvPr/>
        </p:nvSpPr>
        <p:spPr>
          <a:xfrm>
            <a:off x="5686425" y="3571875"/>
            <a:ext cx="247650" cy="247650"/>
          </a:xfrm>
          <a:prstGeom prst="ellipse">
            <a:avLst/>
          </a:prstGeom>
          <a:solidFill>
            <a:srgbClr val="07844A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4F08ABD-E7BD-435B-B906-0BCCD823EC76}"/>
              </a:ext>
            </a:extLst>
          </p:cNvPr>
          <p:cNvSpPr>
            <a:spLocks noGrp="1"/>
          </p:cNvSpPr>
          <p:nvPr/>
        </p:nvSpPr>
        <p:spPr>
          <a:xfrm>
            <a:off x="504825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RTOS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CE6D8E0-221F-4FC2-B0E1-342F9011AC60}"/>
              </a:ext>
            </a:extLst>
          </p:cNvPr>
          <p:cNvSpPr>
            <a:spLocks noGrp="1"/>
          </p:cNvSpPr>
          <p:nvPr/>
        </p:nvSpPr>
        <p:spPr>
          <a:xfrm>
            <a:off x="504825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Tasks + schedule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17246F0-D88A-44FA-B742-9150DABA423C}"/>
              </a:ext>
            </a:extLst>
          </p:cNvPr>
          <p:cNvSpPr>
            <a:spLocks noGrp="1"/>
          </p:cNvSpPr>
          <p:nvPr/>
        </p:nvSpPr>
        <p:spPr>
          <a:xfrm>
            <a:off x="7924800" y="3571875"/>
            <a:ext cx="247650" cy="247650"/>
          </a:xfrm>
          <a:prstGeom prst="ellipse">
            <a:avLst/>
          </a:prstGeom>
          <a:solidFill>
            <a:srgbClr val="F97316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5B145CC-CE18-400D-AF86-4AC828F7A9DD}"/>
              </a:ext>
            </a:extLst>
          </p:cNvPr>
          <p:cNvSpPr>
            <a:spLocks noGrp="1"/>
          </p:cNvSpPr>
          <p:nvPr/>
        </p:nvSpPr>
        <p:spPr>
          <a:xfrm>
            <a:off x="7286625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IPC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B16B01E-685C-48E7-9903-D429B7B2A9ED}"/>
              </a:ext>
            </a:extLst>
          </p:cNvPr>
          <p:cNvSpPr>
            <a:spLocks noGrp="1"/>
          </p:cNvSpPr>
          <p:nvPr/>
        </p:nvSpPr>
        <p:spPr>
          <a:xfrm>
            <a:off x="7286625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Queues + semaphores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CA9E4D8-7502-4205-BB4B-CCB5A513F381}"/>
              </a:ext>
            </a:extLst>
          </p:cNvPr>
          <p:cNvSpPr>
            <a:spLocks noGrp="1"/>
          </p:cNvSpPr>
          <p:nvPr/>
        </p:nvSpPr>
        <p:spPr>
          <a:xfrm>
            <a:off x="10163175" y="3571875"/>
            <a:ext cx="247650" cy="247650"/>
          </a:xfrm>
          <a:prstGeom prst="ellipse">
            <a:avLst/>
          </a:prstGeom>
          <a:solidFill>
            <a:srgbClr val="E11D48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B4BC41E-BC97-4A4F-9A60-6A2A7231F5CB}"/>
              </a:ext>
            </a:extLst>
          </p:cNvPr>
          <p:cNvSpPr>
            <a:spLocks noGrp="1"/>
          </p:cNvSpPr>
          <p:nvPr/>
        </p:nvSpPr>
        <p:spPr>
          <a:xfrm>
            <a:off x="952500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78961B9-C9BC-49D9-B432-8316D48B2E3E}"/>
              </a:ext>
            </a:extLst>
          </p:cNvPr>
          <p:cNvSpPr>
            <a:spLocks noGrp="1"/>
          </p:cNvSpPr>
          <p:nvPr/>
        </p:nvSpPr>
        <p:spPr>
          <a:xfrm>
            <a:off x="952500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Timers + ISR + final</a:t>
            </a:r>
          </a:p>
        </p:txBody>
      </p:sp>
    </p:spTree>
    <p:extLst>
      <p:ext uri="{BB962C8B-B14F-4D97-AF65-F5344CB8AC3E}">
        <p14:creationId xmlns:p14="http://schemas.microsoft.com/office/powerpoint/2010/main" val="2123278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2511AB39-B927-4196-BB89-472C6A15A566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77596D-3768-4CDB-A564-CE4B1D73E02A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6F430C-7373-4DC4-9D21-0D26C8C4E07F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52116B-43B0-4F96-9569-4987D93B9AA8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8979B9-2B26-49EF-9F30-CF25C495D9B6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D9FE30-5C83-44FA-A0BC-1299C04DDFB2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947618-E5AC-437B-9F3E-F887A2018B77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0150BA-FFE2-48E3-83E6-BE6F1BC62C7A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AFC409-9505-4AC5-A512-A3D61E696AC4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0DAFEC-EF66-462C-8F98-DD40C785FAD2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3E876F-6935-49A7-B5FE-FC5133015876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7332AA-5C8A-442E-B492-7EA13145616B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B2FDD4-364D-4751-BAC6-E5D345E94365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200F77-A65E-418C-9831-6C802E39EBC6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E94F91-C2B2-42E4-8E7B-72A246D90B4F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B7E591-923B-474D-A7DE-03A5C922B587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C56205-1A50-4DE2-931C-A811D6B255CB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B4D164-FDC9-4A8C-90A3-6728D390C325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2A5CF7-D398-4FCA-844E-BADC36DF0157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1589D9-7141-4D6D-A37D-379C2BD896A6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B7D014-125E-4271-AC20-3752F8DD804B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D400C7-4A78-4A3F-A620-A70B1352A747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57623D-53F4-45FE-9FE2-E037624B66D0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EF5AEA-FCB3-4031-9B28-430A5D755C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CAFA4B-F56F-4F76-911B-206E3DD8B8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D929D615-DFD1-4F72-B234-AC29432094BA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D34DAAD2-6415-4867-8039-F14452A830A8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CEF34F-02B7-4364-A4D2-C39CE96E54E2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DF4602-F34C-44D4-A94B-AEDBBAE66572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158D966-041C-42F3-9876-1346A95AB7CA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66B29D0-F60F-423D-B1BE-24347A953DFF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6158F1-5B8A-49E7-9454-E55346CD3000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FBF4155-872A-4F9D-A4C5-67334E304789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4FB1DA8-7712-4550-9D1E-7BD51DEC456C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INTRO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72EC2BD-07CB-45CD-9130-252BC0D0257A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D8EC93F-447E-46FF-8A49-15AD075F29DA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5E00C22-43E6-4111-90FE-33A12C677362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5C944FF-CAA1-4933-975A-C7177EB898F1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Every team gets a small embedded lab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37691F9-FB47-4513-95DC-FF1842D07283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838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kit is enough to model real products without hiding the firmware.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E516457-8B0F-4526-9FE5-7A89276C1518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142875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F8FDD51-905D-4617-B318-CC366FEFCA0A}"/>
              </a:ext>
            </a:extLst>
          </p:cNvPr>
          <p:cNvSpPr>
            <a:spLocks noGrp="1"/>
          </p:cNvSpPr>
          <p:nvPr/>
        </p:nvSpPr>
        <p:spPr>
          <a:xfrm>
            <a:off x="1181100" y="2362200"/>
            <a:ext cx="4000500" cy="228600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E4F0D6B-CA5D-4D99-8D28-8979C7F9FD53}"/>
              </a:ext>
            </a:extLst>
          </p:cNvPr>
          <p:cNvSpPr>
            <a:spLocks noGrp="1"/>
          </p:cNvSpPr>
          <p:nvPr/>
        </p:nvSpPr>
        <p:spPr>
          <a:xfrm>
            <a:off x="1181100" y="2362200"/>
            <a:ext cx="4000500" cy="952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9A112B6-7C21-4F48-87BF-8C0E6FCAD51E}"/>
              </a:ext>
            </a:extLst>
          </p:cNvPr>
          <p:cNvSpPr>
            <a:spLocks noGrp="1"/>
          </p:cNvSpPr>
          <p:nvPr/>
        </p:nvSpPr>
        <p:spPr>
          <a:xfrm>
            <a:off x="2381250" y="3162300"/>
            <a:ext cx="161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4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34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ESP32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97D7D4E-3FEB-4F70-96F8-7AE5A48B2C1C}"/>
              </a:ext>
            </a:extLst>
          </p:cNvPr>
          <p:cNvSpPr>
            <a:spLocks noGrp="1"/>
          </p:cNvSpPr>
          <p:nvPr/>
        </p:nvSpPr>
        <p:spPr>
          <a:xfrm>
            <a:off x="933450" y="2381250"/>
            <a:ext cx="7810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7BCB729-4907-4CA4-9877-909751BD50A7}"/>
              </a:ext>
            </a:extLst>
          </p:cNvPr>
          <p:cNvSpPr>
            <a:spLocks noGrp="1"/>
          </p:cNvSpPr>
          <p:nvPr/>
        </p:nvSpPr>
        <p:spPr>
          <a:xfrm>
            <a:off x="1009650" y="2466975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GPIO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5E931C0-F4D1-4532-9522-699C68F96776}"/>
              </a:ext>
            </a:extLst>
          </p:cNvPr>
          <p:cNvSpPr>
            <a:spLocks noGrp="1"/>
          </p:cNvSpPr>
          <p:nvPr/>
        </p:nvSpPr>
        <p:spPr>
          <a:xfrm>
            <a:off x="933450" y="2933700"/>
            <a:ext cx="7810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77A1AB0-75D7-469C-B64E-8345198F83AC}"/>
              </a:ext>
            </a:extLst>
          </p:cNvPr>
          <p:cNvSpPr>
            <a:spLocks noGrp="1"/>
          </p:cNvSpPr>
          <p:nvPr/>
        </p:nvSpPr>
        <p:spPr>
          <a:xfrm>
            <a:off x="1009650" y="3019425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ADC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61EDCCE-7594-4ABB-AE7C-F7F49F41BF9E}"/>
              </a:ext>
            </a:extLst>
          </p:cNvPr>
          <p:cNvSpPr>
            <a:spLocks noGrp="1"/>
          </p:cNvSpPr>
          <p:nvPr/>
        </p:nvSpPr>
        <p:spPr>
          <a:xfrm>
            <a:off x="933450" y="3486150"/>
            <a:ext cx="7810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A49A3D6-DAA8-47B5-859C-9527BB7CBCF9}"/>
              </a:ext>
            </a:extLst>
          </p:cNvPr>
          <p:cNvSpPr>
            <a:spLocks noGrp="1"/>
          </p:cNvSpPr>
          <p:nvPr/>
        </p:nvSpPr>
        <p:spPr>
          <a:xfrm>
            <a:off x="1009650" y="3571875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I2C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43A13B5-412B-4F12-9A5D-63B89F034199}"/>
              </a:ext>
            </a:extLst>
          </p:cNvPr>
          <p:cNvSpPr>
            <a:spLocks noGrp="1"/>
          </p:cNvSpPr>
          <p:nvPr/>
        </p:nvSpPr>
        <p:spPr>
          <a:xfrm>
            <a:off x="933450" y="4038600"/>
            <a:ext cx="7810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1F6A955-79F9-439D-89CF-BDCC4669A046}"/>
              </a:ext>
            </a:extLst>
          </p:cNvPr>
          <p:cNvSpPr>
            <a:spLocks noGrp="1"/>
          </p:cNvSpPr>
          <p:nvPr/>
        </p:nvSpPr>
        <p:spPr>
          <a:xfrm>
            <a:off x="1009650" y="4124325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PWM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13FD03B7-EB9F-4CF9-9F4C-352DC8F350D4}"/>
              </a:ext>
            </a:extLst>
          </p:cNvPr>
          <p:cNvSpPr>
            <a:spLocks noGrp="1"/>
          </p:cNvSpPr>
          <p:nvPr/>
        </p:nvSpPr>
        <p:spPr>
          <a:xfrm>
            <a:off x="5334000" y="2381250"/>
            <a:ext cx="7810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277ED22-43D4-4A54-8B16-7FA7D363F8EA}"/>
              </a:ext>
            </a:extLst>
          </p:cNvPr>
          <p:cNvSpPr>
            <a:spLocks noGrp="1"/>
          </p:cNvSpPr>
          <p:nvPr/>
        </p:nvSpPr>
        <p:spPr>
          <a:xfrm>
            <a:off x="5410200" y="2466975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UART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8129E34-CB4A-415A-B701-042E63D900CD}"/>
              </a:ext>
            </a:extLst>
          </p:cNvPr>
          <p:cNvSpPr>
            <a:spLocks noGrp="1"/>
          </p:cNvSpPr>
          <p:nvPr/>
        </p:nvSpPr>
        <p:spPr>
          <a:xfrm>
            <a:off x="5334000" y="2933700"/>
            <a:ext cx="7810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0199CF5-005B-420B-9A6C-878FDD315A1E}"/>
              </a:ext>
            </a:extLst>
          </p:cNvPr>
          <p:cNvSpPr>
            <a:spLocks noGrp="1"/>
          </p:cNvSpPr>
          <p:nvPr/>
        </p:nvSpPr>
        <p:spPr>
          <a:xfrm>
            <a:off x="5410200" y="3019425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CPU0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F48640BB-5E6C-4A2A-A3A5-A8791564A172}"/>
              </a:ext>
            </a:extLst>
          </p:cNvPr>
          <p:cNvSpPr>
            <a:spLocks noGrp="1"/>
          </p:cNvSpPr>
          <p:nvPr/>
        </p:nvSpPr>
        <p:spPr>
          <a:xfrm>
            <a:off x="5334000" y="3486150"/>
            <a:ext cx="7810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8DA54F-8629-4CD9-9F35-B63DE4CE8AAA}"/>
              </a:ext>
            </a:extLst>
          </p:cNvPr>
          <p:cNvSpPr>
            <a:spLocks noGrp="1"/>
          </p:cNvSpPr>
          <p:nvPr/>
        </p:nvSpPr>
        <p:spPr>
          <a:xfrm>
            <a:off x="5410200" y="3571875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CPU1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AE0BDD80-7C0A-4DF6-9DB1-56913170A81F}"/>
              </a:ext>
            </a:extLst>
          </p:cNvPr>
          <p:cNvSpPr>
            <a:spLocks noGrp="1"/>
          </p:cNvSpPr>
          <p:nvPr/>
        </p:nvSpPr>
        <p:spPr>
          <a:xfrm>
            <a:off x="6858000" y="2238375"/>
            <a:ext cx="37147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A88CBFC-0DCA-41C4-A7BF-0E2618BBB54A}"/>
              </a:ext>
            </a:extLst>
          </p:cNvPr>
          <p:cNvSpPr>
            <a:spLocks noGrp="1"/>
          </p:cNvSpPr>
          <p:nvPr/>
        </p:nvSpPr>
        <p:spPr>
          <a:xfrm>
            <a:off x="6858000" y="2238375"/>
            <a:ext cx="76200" cy="59055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EA9C3ED-1AF6-4732-A364-51C6A072B932}"/>
              </a:ext>
            </a:extLst>
          </p:cNvPr>
          <p:cNvSpPr>
            <a:spLocks noGrp="1"/>
          </p:cNvSpPr>
          <p:nvPr/>
        </p:nvSpPr>
        <p:spPr>
          <a:xfrm>
            <a:off x="7124700" y="24003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I2C LCD for shared output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38D4A5AA-371C-4D3B-AC14-4D3B531299E8}"/>
              </a:ext>
            </a:extLst>
          </p:cNvPr>
          <p:cNvSpPr>
            <a:spLocks noGrp="1"/>
          </p:cNvSpPr>
          <p:nvPr/>
        </p:nvSpPr>
        <p:spPr>
          <a:xfrm>
            <a:off x="6858000" y="3038475"/>
            <a:ext cx="37147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3A73121-4141-4D9B-960D-DB7A85375F73}"/>
              </a:ext>
            </a:extLst>
          </p:cNvPr>
          <p:cNvSpPr>
            <a:spLocks noGrp="1"/>
          </p:cNvSpPr>
          <p:nvPr/>
        </p:nvSpPr>
        <p:spPr>
          <a:xfrm>
            <a:off x="6858000" y="3038475"/>
            <a:ext cx="76200" cy="5905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F72C109-08D1-4992-844A-5F8538DB7DA1}"/>
              </a:ext>
            </a:extLst>
          </p:cNvPr>
          <p:cNvSpPr>
            <a:spLocks noGrp="1"/>
          </p:cNvSpPr>
          <p:nvPr/>
        </p:nvSpPr>
        <p:spPr>
          <a:xfrm>
            <a:off x="7124700" y="32004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Buttons for events and interrupts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D9C4319-17DA-459C-9AEC-173315B601FB}"/>
              </a:ext>
            </a:extLst>
          </p:cNvPr>
          <p:cNvSpPr>
            <a:spLocks noGrp="1"/>
          </p:cNvSpPr>
          <p:nvPr/>
        </p:nvSpPr>
        <p:spPr>
          <a:xfrm>
            <a:off x="6858000" y="3838575"/>
            <a:ext cx="37147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4EDCD7C-B80F-48CB-9FD8-93025EB6AD5B}"/>
              </a:ext>
            </a:extLst>
          </p:cNvPr>
          <p:cNvSpPr>
            <a:spLocks noGrp="1"/>
          </p:cNvSpPr>
          <p:nvPr/>
        </p:nvSpPr>
        <p:spPr>
          <a:xfrm>
            <a:off x="6858000" y="3838575"/>
            <a:ext cx="76200" cy="59055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6BB1299-BD06-4A69-9309-D86592BF5F7D}"/>
              </a:ext>
            </a:extLst>
          </p:cNvPr>
          <p:cNvSpPr>
            <a:spLocks noGrp="1"/>
          </p:cNvSpPr>
          <p:nvPr/>
        </p:nvSpPr>
        <p:spPr>
          <a:xfrm>
            <a:off x="7124700" y="40005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Potentiometers for changing inputs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9A92EEF-24C6-41C1-9049-02961B00EAAD}"/>
              </a:ext>
            </a:extLst>
          </p:cNvPr>
          <p:cNvSpPr>
            <a:spLocks noGrp="1"/>
          </p:cNvSpPr>
          <p:nvPr/>
        </p:nvSpPr>
        <p:spPr>
          <a:xfrm>
            <a:off x="6858000" y="4638675"/>
            <a:ext cx="37147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4EB0103-5623-475B-8053-EE1F84E7A27D}"/>
              </a:ext>
            </a:extLst>
          </p:cNvPr>
          <p:cNvSpPr>
            <a:spLocks noGrp="1"/>
          </p:cNvSpPr>
          <p:nvPr/>
        </p:nvSpPr>
        <p:spPr>
          <a:xfrm>
            <a:off x="6858000" y="4638675"/>
            <a:ext cx="76200" cy="5905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488EEE3-A487-4FA2-A504-D02D7DA6AB62}"/>
              </a:ext>
            </a:extLst>
          </p:cNvPr>
          <p:cNvSpPr>
            <a:spLocks noGrp="1"/>
          </p:cNvSpPr>
          <p:nvPr/>
        </p:nvSpPr>
        <p:spPr>
          <a:xfrm>
            <a:off x="7124700" y="48006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LEDs and buzzer for feedback</a:t>
            </a:r>
          </a:p>
        </p:txBody>
      </p:sp>
    </p:spTree>
    <p:extLst>
      <p:ext uri="{BB962C8B-B14F-4D97-AF65-F5344CB8AC3E}">
        <p14:creationId xmlns:p14="http://schemas.microsoft.com/office/powerpoint/2010/main" val="273226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BB3F1FD1-B85B-4F86-B294-67D891BB7CF8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425397-9701-4FF4-950E-7DABB565B49C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2B71C2-EFBB-4AE5-B6E3-D44B7E7226E0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BDA230-46B5-4A47-BDF5-A825578EA721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6FECB2-4834-44D4-9378-AE9E02857B59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A472F9-CD81-4E46-B080-10B8F0E2EBDD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08EC58-84A4-454E-A53B-93D651BF2ADF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880127-FE80-4F26-9336-2A4AFEBC1B32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ED12F6-7ABC-4315-89D7-24FDA41699A5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FCFC9D-2F7E-4D01-AB0B-BC1C6FFC1FEF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DDD03D-7922-47BF-96D4-FC85907CCA62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F5B6A3-494D-4255-B136-C59FA71B1831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C12EB6-6B1F-4931-AA9D-14189F0DFD73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E59314-ACED-4C00-90B8-A59FA71B60F8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88BFB5-8EE7-4992-958E-BDF696849490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758B3-1012-41C1-BA78-C8BC712FCF87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1E35DC-5851-424B-8F3F-E0ADE12CBEA1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B2D49E-C4E9-4834-A921-A8A2C9144360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AEF291-7A94-4E6E-B2E4-0D89E4A638F6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FECE4D-1FFD-4FA6-8835-2CB3AA87F31B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16BA45-75A8-44C6-A176-72AD48E4B168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FF1447-4781-4BAC-9C28-972FB6D75609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C72EF8-D578-4E19-B82A-499FE89562BE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AFDFA9-259D-4A77-99E8-0EC1D801F5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127DF4-5CE6-4545-85E6-EE0DE15EF5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429481FA-CA6B-4B99-A0C6-B7D1C12BB49B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B33AE354-F89E-4C6B-898B-577BFAA65272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88EFC8-B63F-47EF-B697-4028F1A77000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80CBC2-F878-4E0C-B143-E215D9CD2E8E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4A5FAE8-489F-435E-8E7C-45090F8797F0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6B89C09-5391-4C8A-8CDE-CF279022994B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B98FFAC-D8F9-4F90-93E6-5A23A0CEE8B2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7B4B544-1A7A-4509-85C7-A12C97BE1C30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08FF41-7265-43EE-8DDE-0F991EDA796D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INTRO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A9BD54-0B17-4DD6-8C34-508F9BB38085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968251B-D9A0-4A92-B0AD-453B774CD0F5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73D4E56-CC96-4118-A501-0528DEA5C278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D653990-838E-4C7B-BB5A-8B0CBB6992BC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Setup is part of the system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2D1B716-3E67-4972-97D0-6CE54012A0E9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459A972-2312-41DF-9EE7-D42230EB6F45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0287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2EDDE26-A006-4174-A561-88E2C68F0817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66675" cy="66675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00CDEE3-E020-47F4-91D0-C432EBFDA258}"/>
              </a:ext>
            </a:extLst>
          </p:cNvPr>
          <p:cNvSpPr>
            <a:spLocks noGrp="1"/>
          </p:cNvSpPr>
          <p:nvPr/>
        </p:nvSpPr>
        <p:spPr>
          <a:xfrm>
            <a:off x="1238250" y="23622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784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844A"/>
                </a:solidFill>
                <a:latin typeface="Aptos"/>
                <a:ea typeface="Aptos"/>
                <a:cs typeface="Aptos"/>
              </a:rPr>
              <a:t>IDE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50E785A-C2CD-45A4-8DDB-0AE70572A05D}"/>
              </a:ext>
            </a:extLst>
          </p:cNvPr>
          <p:cNvSpPr>
            <a:spLocks noGrp="1"/>
          </p:cNvSpPr>
          <p:nvPr/>
        </p:nvSpPr>
        <p:spPr>
          <a:xfrm>
            <a:off x="3905250" y="23622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Arduino IDE installed with ESP32 board package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DEBA0D8-8E4B-4B1E-9BF9-0F42BD4A5FF0}"/>
              </a:ext>
            </a:extLst>
          </p:cNvPr>
          <p:cNvSpPr>
            <a:spLocks noGrp="1"/>
          </p:cNvSpPr>
          <p:nvPr/>
        </p:nvSpPr>
        <p:spPr>
          <a:xfrm>
            <a:off x="952500" y="3086100"/>
            <a:ext cx="10287000" cy="66675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BFC0971-A9F6-42B3-888E-A57A15DFD5FD}"/>
              </a:ext>
            </a:extLst>
          </p:cNvPr>
          <p:cNvSpPr>
            <a:spLocks noGrp="1"/>
          </p:cNvSpPr>
          <p:nvPr/>
        </p:nvSpPr>
        <p:spPr>
          <a:xfrm>
            <a:off x="952500" y="3086100"/>
            <a:ext cx="66675" cy="66675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3382CA7-8C01-4488-9E83-26F40D668232}"/>
              </a:ext>
            </a:extLst>
          </p:cNvPr>
          <p:cNvSpPr>
            <a:spLocks noGrp="1"/>
          </p:cNvSpPr>
          <p:nvPr/>
        </p:nvSpPr>
        <p:spPr>
          <a:xfrm>
            <a:off x="1238250" y="3257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784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844A"/>
                </a:solidFill>
                <a:latin typeface="Aptos"/>
                <a:ea typeface="Aptos"/>
                <a:cs typeface="Aptos"/>
              </a:rPr>
              <a:t>Board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6D1693-428F-407B-9A9F-D72625CC390C}"/>
              </a:ext>
            </a:extLst>
          </p:cNvPr>
          <p:cNvSpPr>
            <a:spLocks noGrp="1"/>
          </p:cNvSpPr>
          <p:nvPr/>
        </p:nvSpPr>
        <p:spPr>
          <a:xfrm>
            <a:off x="3905250" y="32575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Correct COM port, upload speed, and boot button workflow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D67A214-6403-48B8-8E72-17FFA2C181F7}"/>
              </a:ext>
            </a:extLst>
          </p:cNvPr>
          <p:cNvSpPr>
            <a:spLocks noGrp="1"/>
          </p:cNvSpPr>
          <p:nvPr/>
        </p:nvSpPr>
        <p:spPr>
          <a:xfrm>
            <a:off x="952500" y="3981450"/>
            <a:ext cx="10287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B0E7167-5C3D-4564-B4CD-7534ACE9FD2E}"/>
              </a:ext>
            </a:extLst>
          </p:cNvPr>
          <p:cNvSpPr>
            <a:spLocks noGrp="1"/>
          </p:cNvSpPr>
          <p:nvPr/>
        </p:nvSpPr>
        <p:spPr>
          <a:xfrm>
            <a:off x="952500" y="3981450"/>
            <a:ext cx="66675" cy="66675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F519F36-DEDD-4C46-9BA6-805C67D538B4}"/>
              </a:ext>
            </a:extLst>
          </p:cNvPr>
          <p:cNvSpPr>
            <a:spLocks noGrp="1"/>
          </p:cNvSpPr>
          <p:nvPr/>
        </p:nvSpPr>
        <p:spPr>
          <a:xfrm>
            <a:off x="1238250" y="41529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784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844A"/>
                </a:solidFill>
                <a:latin typeface="Aptos"/>
                <a:ea typeface="Aptos"/>
                <a:cs typeface="Aptos"/>
              </a:rPr>
              <a:t>Libraries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5AED32-D89B-47BF-9AF0-1E44F39D7CE7}"/>
              </a:ext>
            </a:extLst>
          </p:cNvPr>
          <p:cNvSpPr>
            <a:spLocks noGrp="1"/>
          </p:cNvSpPr>
          <p:nvPr/>
        </p:nvSpPr>
        <p:spPr>
          <a:xfrm>
            <a:off x="3905250" y="415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LCD library and FreeRTOS examples ready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FA190A0-862A-4302-BEBD-0AE044568AE5}"/>
              </a:ext>
            </a:extLst>
          </p:cNvPr>
          <p:cNvSpPr>
            <a:spLocks noGrp="1"/>
          </p:cNvSpPr>
          <p:nvPr/>
        </p:nvSpPr>
        <p:spPr>
          <a:xfrm>
            <a:off x="952500" y="4876800"/>
            <a:ext cx="10287000" cy="66675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062F963-4526-4436-B09E-C7658EDC6355}"/>
              </a:ext>
            </a:extLst>
          </p:cNvPr>
          <p:cNvSpPr>
            <a:spLocks noGrp="1"/>
          </p:cNvSpPr>
          <p:nvPr/>
        </p:nvSpPr>
        <p:spPr>
          <a:xfrm>
            <a:off x="952500" y="4876800"/>
            <a:ext cx="66675" cy="66675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12605EE-A9CD-4C48-9CA9-E7B13672D197}"/>
              </a:ext>
            </a:extLst>
          </p:cNvPr>
          <p:cNvSpPr>
            <a:spLocks noGrp="1"/>
          </p:cNvSpPr>
          <p:nvPr/>
        </p:nvSpPr>
        <p:spPr>
          <a:xfrm>
            <a:off x="1238250" y="50482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784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844A"/>
                </a:solidFill>
                <a:latin typeface="Aptos"/>
                <a:ea typeface="Aptos"/>
                <a:cs typeface="Aptos"/>
              </a:rPr>
              <a:t>Teams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297FDE-8A99-4727-9CFB-94AB6BD08C9E}"/>
              </a:ext>
            </a:extLst>
          </p:cNvPr>
          <p:cNvSpPr>
            <a:spLocks noGrp="1"/>
          </p:cNvSpPr>
          <p:nvPr/>
        </p:nvSpPr>
        <p:spPr>
          <a:xfrm>
            <a:off x="3905250" y="50482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2-3 students share one kit and one debugging log</a:t>
            </a:r>
          </a:p>
        </p:txBody>
      </p:sp>
    </p:spTree>
    <p:extLst>
      <p:ext uri="{BB962C8B-B14F-4D97-AF65-F5344CB8AC3E}">
        <p14:creationId xmlns:p14="http://schemas.microsoft.com/office/powerpoint/2010/main" val="79759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28682A4C-6DE8-4233-8067-AE9224AF3F26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ACDE5C-20D1-4D57-B8C8-59B0DC43D421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DF0BA-CABD-474E-AE7A-6EF219882596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A03070-39DE-4A39-BBCD-EA5D19029451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41C8B1-D936-418E-8108-F72C1F9588D3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44D3EB-4F13-448E-B3CE-66E0AF7CBD80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679A0E-73E8-4B29-A914-A7429A7FC786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5F252D-D076-4C72-A9FC-5E708F991A9B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07AB86-0F08-4B04-B675-67BA6D274C44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FB5DCB-16C6-4748-9BAE-598429B5332C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15704B-8852-4D1A-A238-5EBA23A5968D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8B5154-8CEA-47AA-BA86-E3769CF19CB6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4A0F61-93A1-4686-B35E-E0C0C6DA0064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4B34E6-475B-4E08-BA09-DE7A4BF82249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EE6439-110F-4C82-8892-1616FBD0079C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A41738-AD97-4F3B-8610-A9293A7FABC8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11A88-6426-4CC4-9EB2-8CC808FE5DEC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DE0B42-A29F-42FD-A8FB-D28CD7967527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C339E1-2B63-453D-ACAB-4CD76A9E9EBA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D693E2-D1D8-4703-8E35-223FF2406DB9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B4648F-D947-4E36-9D53-D3AB45151DD2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C656B3-A221-4F3B-A0C6-AD939FEB74B1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8AA9F9-850B-4D54-AB36-1F620D321639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1DA211-969C-4643-8DAA-CFEDB0573D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C58A2F-10B2-4ED2-8EF5-BD1627B211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380D8277-D1EC-4EA4-81AD-ECBDE045C6EE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3F7CE46E-3126-4E3D-AE20-C5381B7D59E4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7BE769-D356-4864-85C2-DF17A1C2B8DD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091665-A700-4E27-8C82-BC21FD0FC664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235B962-3CBE-4017-BE8F-B20175E413F3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89D6508-226E-4ABD-95F5-0BB1DAF9C8DC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012CECE-2F3D-421C-91DC-1CD81DC984E0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C8678FF-407F-4B23-8A38-067F0F76364D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520A00-F6EE-48AF-BADB-FF1450B1FA63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1BF5F5-2178-4592-B2A0-9552A7EB1D12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52FAAF-CD53-46EB-A54A-FF5DD4CA9752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1638184-A237-45F7-BC3E-F8B570706C20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4B0E20C-C26E-467C-814A-6224A192EA0E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0698F7D-B65E-45F2-A7F5-3E5112DC03D2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0382250" cy="3905250"/>
          </a:xfrm>
          <a:prstGeom prst="roundRect">
            <a:avLst>
              <a:gd name="adj" fmla="val 4390"/>
            </a:avLst>
          </a:prstGeom>
          <a:solidFill>
            <a:srgbClr val="0F1D2E"/>
          </a:solidFill>
          <a:ln w="11430">
            <a:solidFill>
              <a:srgbClr val="0F1D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95533BD-88F0-4121-9168-2650D998C3BB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52400" cy="39052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A6BA5A9-6455-4628-9703-98987D28565D}"/>
              </a:ext>
            </a:extLst>
          </p:cNvPr>
          <p:cNvSpPr>
            <a:spLocks noGrp="1"/>
          </p:cNvSpPr>
          <p:nvPr/>
        </p:nvSpPr>
        <p:spPr>
          <a:xfrm>
            <a:off x="1257300" y="1543050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FF6380C-76EA-4AE5-A8EA-D10E4F428BC4}"/>
              </a:ext>
            </a:extLst>
          </p:cNvPr>
          <p:cNvSpPr>
            <a:spLocks noGrp="1"/>
          </p:cNvSpPr>
          <p:nvPr/>
        </p:nvSpPr>
        <p:spPr>
          <a:xfrm>
            <a:off x="1485900" y="1543050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3D3193C-0328-45DC-8231-E1977E14D631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5EC9B97-FF3E-4F83-A8E0-6857739E71AC}"/>
              </a:ext>
            </a:extLst>
          </p:cNvPr>
          <p:cNvSpPr>
            <a:spLocks noGrp="1"/>
          </p:cNvSpPr>
          <p:nvPr/>
        </p:nvSpPr>
        <p:spPr>
          <a:xfrm>
            <a:off x="1257300" y="20383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rPr>
              <a:t>MODULE 00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9EBBE65-1A90-490A-A67E-5A49DCBA45F3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809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ESP32 and Arduino Refresher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DBF0159-631B-490D-9908-6704D10437C5}"/>
              </a:ext>
            </a:extLst>
          </p:cNvPr>
          <p:cNvSpPr>
            <a:spLocks noGrp="1"/>
          </p:cNvSpPr>
          <p:nvPr/>
        </p:nvSpPr>
        <p:spPr>
          <a:xfrm>
            <a:off x="1257300" y="38481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// make the board obey before asking it to multitask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1A3AE8F-B789-4052-9061-C4B75354519A}"/>
              </a:ext>
            </a:extLst>
          </p:cNvPr>
          <p:cNvSpPr>
            <a:spLocks noGrp="1"/>
          </p:cNvSpPr>
          <p:nvPr/>
        </p:nvSpPr>
        <p:spPr>
          <a:xfrm>
            <a:off x="8953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NEXT_MODULE</a:t>
            </a:r>
          </a:p>
        </p:txBody>
      </p:sp>
    </p:spTree>
    <p:extLst>
      <p:ext uri="{BB962C8B-B14F-4D97-AF65-F5344CB8AC3E}">
        <p14:creationId xmlns:p14="http://schemas.microsoft.com/office/powerpoint/2010/main" val="142562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28DDC3E5-31DC-4DD6-9C3F-7ADE19682B50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421B84-966C-4DF3-A051-DFC42553DD8C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B0D1F4-EAD1-4F98-9829-DF4388C0715C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1DBAF6-1F96-44D0-B4CE-512B40E41F66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1681E3-E263-4F8F-9F1B-8026CDA078B2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0461F5-14D9-402D-B5BB-27CB13F102AA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646533-6132-4DA4-9647-2585975F32CC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30EFD5-0724-43D8-B91B-2A3230A4B8D2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8043E8-7AB2-406A-99A2-30A722F04EF7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3B6E0A-5635-4B5D-9FB4-BC50A4BFCB40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0153CC-6213-4B8F-8CC0-61522BE6FC42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66D40-5035-4CE3-9E47-9E8F65C51B44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46847E-BB2D-4F94-9B70-E8E46C399AA7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88A9FE-5995-43CA-8A58-17CEBDD3AFFA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9396D8-174B-4163-B49D-A991DED50784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E19C65-22B6-4968-802E-C5B39EC587C9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2DEFA3-6A0D-4D15-9BBA-8F6BCDC70588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1D7EE2-B0A7-4327-AAE6-DF338D7B41C4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1DC4E7-9CAC-4136-B80B-13222240EC13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0E5A40-567D-4500-8B97-AA12DF4B53C7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CBE7E6-C13D-44E1-9275-3C31405442D4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5934AB-8B36-49C0-8744-B0C8D1DA6F9B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6781B7-1FFA-4032-8670-9862FE7CA11E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CBF215-C8AC-4EAA-BCE1-A10B3BD386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DF82A9-9518-437A-A5A9-ED4774126A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58D2746E-EC59-43A7-B052-338704AC7F4F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4FB018A1-0FB4-4425-AAAA-F2302BAD3E65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75F8EB-9827-411F-9243-10A02D120844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5845AA-65DD-4282-8A0F-9FC3E63CE89D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00DDA2A-286F-4E87-8DD3-75598E413F8E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9842745-8DEC-4A16-891F-2C7797A2F49B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DDC97BB-5959-40E7-8D96-D295251985C1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AA099EF-43CF-4A56-A837-E0006BB698FE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C27C922-7807-4BBE-8D97-C42E3C3538FF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B4D95C-EAA8-4CD7-83A7-16478EAE8751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E112ED7-CF25-49DE-BB94-3AEA8F4F81FA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BADE0F0-E8DE-4EF4-87B8-A6D23ED90F3A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2EA989F-F7EE-4BCA-84C5-CB8280097330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4159E55-2CAE-4483-B96F-7538BA4F2111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ESP32 is not just an Arduino with Wi-Fi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1FAA904-FBA7-4056-8CA5-63A48A70B46C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838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It has two cores, many peripherals, and a real FreeRTOS runtime underneath.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4EA4591-D3E1-4D42-AE7A-BA5A0B0DF188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142875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B1BDA95-C3DC-49F5-A4B8-ABC76604C429}"/>
              </a:ext>
            </a:extLst>
          </p:cNvPr>
          <p:cNvSpPr>
            <a:spLocks noGrp="1"/>
          </p:cNvSpPr>
          <p:nvPr/>
        </p:nvSpPr>
        <p:spPr>
          <a:xfrm>
            <a:off x="1181100" y="2362200"/>
            <a:ext cx="4000500" cy="228600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0E6D967-2EB8-43C9-B0C0-BE87B50EDFE6}"/>
              </a:ext>
            </a:extLst>
          </p:cNvPr>
          <p:cNvSpPr>
            <a:spLocks noGrp="1"/>
          </p:cNvSpPr>
          <p:nvPr/>
        </p:nvSpPr>
        <p:spPr>
          <a:xfrm>
            <a:off x="1181100" y="2362200"/>
            <a:ext cx="4000500" cy="952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87C565E-0D83-4566-9B48-3D727D7660BC}"/>
              </a:ext>
            </a:extLst>
          </p:cNvPr>
          <p:cNvSpPr>
            <a:spLocks noGrp="1"/>
          </p:cNvSpPr>
          <p:nvPr/>
        </p:nvSpPr>
        <p:spPr>
          <a:xfrm>
            <a:off x="2381250" y="3162300"/>
            <a:ext cx="161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4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34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ESP32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F76B461-1078-4070-BE16-48E879645EE4}"/>
              </a:ext>
            </a:extLst>
          </p:cNvPr>
          <p:cNvSpPr>
            <a:spLocks noGrp="1"/>
          </p:cNvSpPr>
          <p:nvPr/>
        </p:nvSpPr>
        <p:spPr>
          <a:xfrm>
            <a:off x="933450" y="2381250"/>
            <a:ext cx="7810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F5F261B-41CA-4DE1-A550-B7741B85E73B}"/>
              </a:ext>
            </a:extLst>
          </p:cNvPr>
          <p:cNvSpPr>
            <a:spLocks noGrp="1"/>
          </p:cNvSpPr>
          <p:nvPr/>
        </p:nvSpPr>
        <p:spPr>
          <a:xfrm>
            <a:off x="1009650" y="2466975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GPIO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21D4174-C01A-400C-805A-623394D7B217}"/>
              </a:ext>
            </a:extLst>
          </p:cNvPr>
          <p:cNvSpPr>
            <a:spLocks noGrp="1"/>
          </p:cNvSpPr>
          <p:nvPr/>
        </p:nvSpPr>
        <p:spPr>
          <a:xfrm>
            <a:off x="933450" y="2933700"/>
            <a:ext cx="7810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50BEF44-6EDB-446D-8295-6300A856C990}"/>
              </a:ext>
            </a:extLst>
          </p:cNvPr>
          <p:cNvSpPr>
            <a:spLocks noGrp="1"/>
          </p:cNvSpPr>
          <p:nvPr/>
        </p:nvSpPr>
        <p:spPr>
          <a:xfrm>
            <a:off x="1009650" y="3019425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ADC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56D7F08-1A36-40F2-AD74-2DCE461D079E}"/>
              </a:ext>
            </a:extLst>
          </p:cNvPr>
          <p:cNvSpPr>
            <a:spLocks noGrp="1"/>
          </p:cNvSpPr>
          <p:nvPr/>
        </p:nvSpPr>
        <p:spPr>
          <a:xfrm>
            <a:off x="933450" y="3486150"/>
            <a:ext cx="7810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C3A50A-1DEC-45D0-83F1-78674BC34F55}"/>
              </a:ext>
            </a:extLst>
          </p:cNvPr>
          <p:cNvSpPr>
            <a:spLocks noGrp="1"/>
          </p:cNvSpPr>
          <p:nvPr/>
        </p:nvSpPr>
        <p:spPr>
          <a:xfrm>
            <a:off x="1009650" y="3571875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I2C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B81C059-F06B-4721-B20F-6766056601A0}"/>
              </a:ext>
            </a:extLst>
          </p:cNvPr>
          <p:cNvSpPr>
            <a:spLocks noGrp="1"/>
          </p:cNvSpPr>
          <p:nvPr/>
        </p:nvSpPr>
        <p:spPr>
          <a:xfrm>
            <a:off x="933450" y="4038600"/>
            <a:ext cx="7810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9F64F89-1C4C-4A61-B194-BA8CAA31CEC7}"/>
              </a:ext>
            </a:extLst>
          </p:cNvPr>
          <p:cNvSpPr>
            <a:spLocks noGrp="1"/>
          </p:cNvSpPr>
          <p:nvPr/>
        </p:nvSpPr>
        <p:spPr>
          <a:xfrm>
            <a:off x="1009650" y="4124325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PWM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AD71BA7-E923-4DA8-8A0E-3D0742D88C93}"/>
              </a:ext>
            </a:extLst>
          </p:cNvPr>
          <p:cNvSpPr>
            <a:spLocks noGrp="1"/>
          </p:cNvSpPr>
          <p:nvPr/>
        </p:nvSpPr>
        <p:spPr>
          <a:xfrm>
            <a:off x="5334000" y="2381250"/>
            <a:ext cx="7810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F778FB8-9B54-43BD-9E4D-D18529E2F9D4}"/>
              </a:ext>
            </a:extLst>
          </p:cNvPr>
          <p:cNvSpPr>
            <a:spLocks noGrp="1"/>
          </p:cNvSpPr>
          <p:nvPr/>
        </p:nvSpPr>
        <p:spPr>
          <a:xfrm>
            <a:off x="5410200" y="2466975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UART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CA4F8FE-FB17-4CBC-9C64-D6A32B6C3529}"/>
              </a:ext>
            </a:extLst>
          </p:cNvPr>
          <p:cNvSpPr>
            <a:spLocks noGrp="1"/>
          </p:cNvSpPr>
          <p:nvPr/>
        </p:nvSpPr>
        <p:spPr>
          <a:xfrm>
            <a:off x="5334000" y="2933700"/>
            <a:ext cx="7810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65F4DA0-AC13-4925-8FB0-86DAEF3481D8}"/>
              </a:ext>
            </a:extLst>
          </p:cNvPr>
          <p:cNvSpPr>
            <a:spLocks noGrp="1"/>
          </p:cNvSpPr>
          <p:nvPr/>
        </p:nvSpPr>
        <p:spPr>
          <a:xfrm>
            <a:off x="5410200" y="3019425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CPU0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FBE689D-5BDB-4D01-BC32-C48C411B9E44}"/>
              </a:ext>
            </a:extLst>
          </p:cNvPr>
          <p:cNvSpPr>
            <a:spLocks noGrp="1"/>
          </p:cNvSpPr>
          <p:nvPr/>
        </p:nvSpPr>
        <p:spPr>
          <a:xfrm>
            <a:off x="5334000" y="3486150"/>
            <a:ext cx="7810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8587D11-7548-4A4A-8BFA-1BE8A1F3F0A3}"/>
              </a:ext>
            </a:extLst>
          </p:cNvPr>
          <p:cNvSpPr>
            <a:spLocks noGrp="1"/>
          </p:cNvSpPr>
          <p:nvPr/>
        </p:nvSpPr>
        <p:spPr>
          <a:xfrm>
            <a:off x="5410200" y="3571875"/>
            <a:ext cx="62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CPU1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CAAAF3E-DA9D-4ADE-A22A-38B9B5C55CD4}"/>
              </a:ext>
            </a:extLst>
          </p:cNvPr>
          <p:cNvSpPr>
            <a:spLocks noGrp="1"/>
          </p:cNvSpPr>
          <p:nvPr/>
        </p:nvSpPr>
        <p:spPr>
          <a:xfrm>
            <a:off x="6858000" y="2238375"/>
            <a:ext cx="37147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2D75DE9-416D-485F-8513-EABD06FBE43B}"/>
              </a:ext>
            </a:extLst>
          </p:cNvPr>
          <p:cNvSpPr>
            <a:spLocks noGrp="1"/>
          </p:cNvSpPr>
          <p:nvPr/>
        </p:nvSpPr>
        <p:spPr>
          <a:xfrm>
            <a:off x="6858000" y="2238375"/>
            <a:ext cx="76200" cy="59055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343D599-6CDF-4E26-AEBF-CC7E17CEF657}"/>
              </a:ext>
            </a:extLst>
          </p:cNvPr>
          <p:cNvSpPr>
            <a:spLocks noGrp="1"/>
          </p:cNvSpPr>
          <p:nvPr/>
        </p:nvSpPr>
        <p:spPr>
          <a:xfrm>
            <a:off x="7124700" y="24003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Two Xtensa cores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68A5502-4444-4D07-8A0D-D2CBDCDFD319}"/>
              </a:ext>
            </a:extLst>
          </p:cNvPr>
          <p:cNvSpPr>
            <a:spLocks noGrp="1"/>
          </p:cNvSpPr>
          <p:nvPr/>
        </p:nvSpPr>
        <p:spPr>
          <a:xfrm>
            <a:off x="6858000" y="3038475"/>
            <a:ext cx="37147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FEA22AD-8455-46ED-A6C6-075BC9B6D3BA}"/>
              </a:ext>
            </a:extLst>
          </p:cNvPr>
          <p:cNvSpPr>
            <a:spLocks noGrp="1"/>
          </p:cNvSpPr>
          <p:nvPr/>
        </p:nvSpPr>
        <p:spPr>
          <a:xfrm>
            <a:off x="6858000" y="3038475"/>
            <a:ext cx="76200" cy="5905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9CB1FA3-A443-481C-AF07-1620B8C98F6C}"/>
              </a:ext>
            </a:extLst>
          </p:cNvPr>
          <p:cNvSpPr>
            <a:spLocks noGrp="1"/>
          </p:cNvSpPr>
          <p:nvPr/>
        </p:nvSpPr>
        <p:spPr>
          <a:xfrm>
            <a:off x="7124700" y="32004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GPIO, ADC, PWM, I2C, UART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5A56147-3120-4CAE-9303-3D035F0FE592}"/>
              </a:ext>
            </a:extLst>
          </p:cNvPr>
          <p:cNvSpPr>
            <a:spLocks noGrp="1"/>
          </p:cNvSpPr>
          <p:nvPr/>
        </p:nvSpPr>
        <p:spPr>
          <a:xfrm>
            <a:off x="6858000" y="3838575"/>
            <a:ext cx="37147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E265922-3BB8-4079-9F6E-554482B9429A}"/>
              </a:ext>
            </a:extLst>
          </p:cNvPr>
          <p:cNvSpPr>
            <a:spLocks noGrp="1"/>
          </p:cNvSpPr>
          <p:nvPr/>
        </p:nvSpPr>
        <p:spPr>
          <a:xfrm>
            <a:off x="6858000" y="3838575"/>
            <a:ext cx="76200" cy="59055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472CC87-FEE4-41D0-83E8-CD67E7031883}"/>
              </a:ext>
            </a:extLst>
          </p:cNvPr>
          <p:cNvSpPr>
            <a:spLocks noGrp="1"/>
          </p:cNvSpPr>
          <p:nvPr/>
        </p:nvSpPr>
        <p:spPr>
          <a:xfrm>
            <a:off x="7124700" y="40005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FreeRTOS already runs in the ESP32 Arduino core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56E0ED7-23D8-491B-8E09-0840E93E9FA6}"/>
              </a:ext>
            </a:extLst>
          </p:cNvPr>
          <p:cNvSpPr>
            <a:spLocks noGrp="1"/>
          </p:cNvSpPr>
          <p:nvPr/>
        </p:nvSpPr>
        <p:spPr>
          <a:xfrm>
            <a:off x="6858000" y="4638675"/>
            <a:ext cx="37147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B673EEF-C8D5-4ABF-8DD5-017D94B1C5D1}"/>
              </a:ext>
            </a:extLst>
          </p:cNvPr>
          <p:cNvSpPr>
            <a:spLocks noGrp="1"/>
          </p:cNvSpPr>
          <p:nvPr/>
        </p:nvSpPr>
        <p:spPr>
          <a:xfrm>
            <a:off x="6858000" y="4638675"/>
            <a:ext cx="76200" cy="5905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B86C0C1-C500-4ED2-B337-250B8909E8B4}"/>
              </a:ext>
            </a:extLst>
          </p:cNvPr>
          <p:cNvSpPr>
            <a:spLocks noGrp="1"/>
          </p:cNvSpPr>
          <p:nvPr/>
        </p:nvSpPr>
        <p:spPr>
          <a:xfrm>
            <a:off x="7124700" y="48006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Our sketches become tasks</a:t>
            </a:r>
          </a:p>
        </p:txBody>
      </p:sp>
    </p:spTree>
    <p:extLst>
      <p:ext uri="{BB962C8B-B14F-4D97-AF65-F5344CB8AC3E}">
        <p14:creationId xmlns:p14="http://schemas.microsoft.com/office/powerpoint/2010/main" val="1924824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7AA57318-E184-42D3-9AA8-A06174CBC14A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D97C91-5123-4B9F-A4A9-6958E3C08320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B3FE21-C621-490F-8D44-BFBFF04C1517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72E366-94EF-460C-BAF9-5748D412373C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D832F3-222E-44B5-8DC0-7FC613AE72CE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243C63-74C8-4A8D-B445-C0FD46698190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CFB0B3-3057-4989-B00B-325BD73D34DA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7B7CAA-68EE-4093-B98A-39E010BBE0C8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552AC-BD62-485D-83BE-CD7CE6DD99D4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E68A73-AC26-46E5-A173-E1E534CE853C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CD72D2-53F6-48ED-82DE-77DA1933F961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0DD950-2227-4CC9-B0BA-04254D10EBA9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5AC5CD-CF72-44A8-BCED-B8DA8404AB44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6B3250-E4AD-43B1-B48C-461E54DF0693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7D8299-AF8E-44F2-B307-A503F6E57D89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FAAACA-7B6E-43F6-92E3-296C42D5AE26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D537EB-18C4-43E0-91CA-AFAC2B3E6740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8FCECC-29F2-436F-BA28-2FDEC858DC94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EC15C8-9461-4C86-A20B-2E4DDE559D1D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524880-78DB-42CA-BA43-7D1C34A11AF5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5C8687-BDEB-4A02-8034-3ACEFB6E4EDF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7D060D-546D-434E-BA5D-375C518F5DB8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544B0B-0CA0-47E2-8910-ACE038D55742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E4F758-62AE-4AD5-A466-17E2B8AC3A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E4F84C-9F6C-4E49-9B58-9471C2B7CD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38ED97A0-3FDD-46D4-BAB1-EC28130EF5E7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D4990324-A907-4EC5-B148-482975D4F849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C71DE7-57A8-4540-A4B7-EBD7EF134262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54E196-43A3-4C28-89C7-2C7BD938B83D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95D47D4-5635-43EA-A842-B15B82D16CEA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71909FB-D3F4-4E6F-B2C5-1ED98192FDAB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0F9293-D937-4E53-A6DC-27DFB3264539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A1EA3C5-16E9-4879-BA63-69B6B1F3FDA0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DB4DDE-FF1C-4099-80BE-4939BAF91FAD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DAB7F7-ABB3-4FEC-A4E1-0FD78CF5895F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710D320-C9CC-4024-8923-B57C37B75B7C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93B5008-6BC5-45E4-B4C3-88A9963445F1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93813E2-6D01-494E-B861-60BFF2DF1782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CE99496-1248-413A-A5BA-13B259096482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Arduino code is a tiny contract with hardware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3E6526A-7F6F-4EE3-AF9D-AA343FD155EF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C71BFA9-3C4F-4C8F-A958-A262BED88BCE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8F759C8-9EAB-4253-81F4-2CE32202B873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45A4D2D-302D-4F61-99FB-9C6D015C1BC0}"/>
              </a:ext>
            </a:extLst>
          </p:cNvPr>
          <p:cNvSpPr>
            <a:spLocks noGrp="1"/>
          </p:cNvSpPr>
          <p:nvPr/>
        </p:nvSpPr>
        <p:spPr>
          <a:xfrm>
            <a:off x="11049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digitalRead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3D3DB0A-C97F-4201-B922-2DC655302FF1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Button state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7003D39-392C-4437-BA03-37B35EE9638B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EEA012A-47F9-4797-BD30-B0E0D8D933A6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83D6484-4A5D-4D6B-89A0-7A71D46F305A}"/>
              </a:ext>
            </a:extLst>
          </p:cNvPr>
          <p:cNvSpPr>
            <a:spLocks noGrp="1"/>
          </p:cNvSpPr>
          <p:nvPr/>
        </p:nvSpPr>
        <p:spPr>
          <a:xfrm>
            <a:off x="38481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844A"/>
                </a:solidFill>
                <a:latin typeface="Aptos"/>
                <a:ea typeface="Aptos"/>
                <a:cs typeface="Aptos"/>
              </a:rPr>
              <a:t>digitalWrite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B42B136-1D1B-4CAE-AF59-937333D04AEC}"/>
              </a:ext>
            </a:extLst>
          </p:cNvPr>
          <p:cNvSpPr>
            <a:spLocks noGrp="1"/>
          </p:cNvSpPr>
          <p:nvPr/>
        </p:nvSpPr>
        <p:spPr>
          <a:xfrm>
            <a:off x="38481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LED or buzzer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BC509D1-4253-44D0-AF51-5D658E6BB2B7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950F35C-E906-4594-8249-A01F32D8F548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D471E2E-A7BC-4873-9F3C-D167BDFCE035}"/>
              </a:ext>
            </a:extLst>
          </p:cNvPr>
          <p:cNvSpPr>
            <a:spLocks noGrp="1"/>
          </p:cNvSpPr>
          <p:nvPr/>
        </p:nvSpPr>
        <p:spPr>
          <a:xfrm>
            <a:off x="65913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analogRead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D7277D6-572D-4D22-9F9F-C48768213105}"/>
              </a:ext>
            </a:extLst>
          </p:cNvPr>
          <p:cNvSpPr>
            <a:spLocks noGrp="1"/>
          </p:cNvSpPr>
          <p:nvPr/>
        </p:nvSpPr>
        <p:spPr>
          <a:xfrm>
            <a:off x="65913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Potentiometer value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7B35A3E-F1A6-4094-B4CC-E7DDF724FDEB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1971B5C-E817-4410-AFFA-9535E49A8136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B7F70BB-BBD6-4B67-BA71-50ED786C8634}"/>
              </a:ext>
            </a:extLst>
          </p:cNvPr>
          <p:cNvSpPr>
            <a:spLocks noGrp="1"/>
          </p:cNvSpPr>
          <p:nvPr/>
        </p:nvSpPr>
        <p:spPr>
          <a:xfrm>
            <a:off x="93345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Serial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49CEF90-92AF-478E-940B-2E0F6FB69186}"/>
              </a:ext>
            </a:extLst>
          </p:cNvPr>
          <p:cNvSpPr>
            <a:spLocks noGrp="1"/>
          </p:cNvSpPr>
          <p:nvPr/>
        </p:nvSpPr>
        <p:spPr>
          <a:xfrm>
            <a:off x="93345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Debug messages</a:t>
            </a:r>
          </a:p>
        </p:txBody>
      </p:sp>
    </p:spTree>
    <p:extLst>
      <p:ext uri="{BB962C8B-B14F-4D97-AF65-F5344CB8AC3E}">
        <p14:creationId xmlns:p14="http://schemas.microsoft.com/office/powerpoint/2010/main" val="1336565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D4119B3A-0FE2-4B7C-8044-53F8782E5333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52A579-E7D9-4ECE-9416-E6CF6C14BDAD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EAC236-3678-47A1-9067-E8EAEEFBBFCD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7E5A8B-AD8C-4D91-B583-2B7628BF068E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77EBCD-2D6F-43A4-873C-19FDB61C6A5E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C1C0EB-E9A6-4D9D-836B-176CCF85FC3D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03D6C4-9AE6-4F2F-9A54-2FF4F050775A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56C89A-1AE0-4ED3-B419-513A610BBE86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5D41C2-8706-45D2-8D0E-42DC8151BB47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2C1BE5-74C6-40F1-A000-8DEAF35B85F6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D6FCBD-D3AE-4B6A-92A0-678185B7C08E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71EF1C-836A-44C7-B298-AD69BFC8CDAB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290EC3-D894-4D6D-B456-BD47E017B9FE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8A9405-E93E-4AEF-9ACF-509381039AC5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ADA3FC-6EDC-4652-B3FC-3ECC11FD8BD3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CA5A57-F364-4A5B-B0C8-2D9A1AC64079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E04FD6-00D3-4FC3-8899-CB6B21129F13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7B294D-667F-4349-874A-EE8E2BD023CE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A0B8CB-651F-4DC9-84AE-A3182E874332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BDE21E-B8D0-425A-8546-6B37A5F8C49A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0D40E8-263B-40FF-8CAE-79648EA90ECF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49A399-BF41-4291-A783-EA3DE3E32197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01B1DC-3BBF-459F-A832-C911DAED1F5E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2D5FCA-EADC-449F-9516-2255C8C4BC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D2A971-5CD5-4729-9E3B-682466EFB6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DE5C2B49-46FA-4841-97A8-553A64B76937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FAEE6DA5-83A1-4AF6-AB4A-E549E7E0220B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5E6B6F5-1070-41F1-B54B-63DE44FBAE4B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E32110-BCCD-4247-ADEC-6EDFD36B1399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F2C75D0-B054-4B50-AD39-DBF9214702AE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37C05DF-E005-486B-B680-43D060C95D9B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7E3D4C1-A5B2-442A-8EAA-7715BB777CC7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2991848-A63F-45C9-A486-DB91052ADCE8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E98327-07FF-40AB-B529-24FB89A8EA6A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9237A9B-82A0-411A-A4D2-FB890F80FFDE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E3147B1-8B53-440A-B3E6-9DC2C9551757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612872F-D43D-4CAE-A5D2-0A8A5E8AB52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792BB6E-27B6-40F9-89B2-C15466692511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41A2E10-C8F8-4A0C-99BD-38E10C69D4CB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Keep syntax small enough to debug live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DB44F01-CBAB-4016-8415-63916DBD298C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1F0CEE8-D651-4C68-9E32-FEA2ADFABBED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6705600" cy="3562350"/>
          </a:xfrm>
          <a:prstGeom prst="roundRect">
            <a:avLst>
              <a:gd name="adj" fmla="val 3209"/>
            </a:avLst>
          </a:prstGeom>
          <a:solidFill>
            <a:srgbClr val="122033"/>
          </a:solidFill>
          <a:ln w="11430">
            <a:solidFill>
              <a:srgbClr val="1220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51A154-3834-43D4-95FC-E2848A2E3FDA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6705600" cy="419100"/>
          </a:xfrm>
          <a:prstGeom prst="rect">
            <a:avLst/>
          </a:prstGeom>
          <a:solidFill>
            <a:srgbClr val="1D2D42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6A72D59-2DBA-4D76-BAC6-014EFBA49AA6}"/>
              </a:ext>
            </a:extLst>
          </p:cNvPr>
          <p:cNvSpPr>
            <a:spLocks noGrp="1"/>
          </p:cNvSpPr>
          <p:nvPr/>
        </p:nvSpPr>
        <p:spPr>
          <a:xfrm>
            <a:off x="1104900" y="225742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3E806A8-9B1E-43CC-B1CC-D1ACAD04467B}"/>
              </a:ext>
            </a:extLst>
          </p:cNvPr>
          <p:cNvSpPr>
            <a:spLocks noGrp="1"/>
          </p:cNvSpPr>
          <p:nvPr/>
        </p:nvSpPr>
        <p:spPr>
          <a:xfrm>
            <a:off x="1333500" y="225742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C652131-131B-4735-9BD8-5EEF774C4467}"/>
              </a:ext>
            </a:extLst>
          </p:cNvPr>
          <p:cNvSpPr>
            <a:spLocks noGrp="1"/>
          </p:cNvSpPr>
          <p:nvPr/>
        </p:nvSpPr>
        <p:spPr>
          <a:xfrm>
            <a:off x="1562100" y="225742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F05FE5-43FF-409C-92BB-CD6DD8535524}"/>
              </a:ext>
            </a:extLst>
          </p:cNvPr>
          <p:cNvSpPr>
            <a:spLocks noGrp="1"/>
          </p:cNvSpPr>
          <p:nvPr/>
        </p:nvSpPr>
        <p:spPr>
          <a:xfrm>
            <a:off x="1924050" y="2257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arduino_refresher.ino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BDF94C9-EACA-462D-9F0E-2B45CC4A32C6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5905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pinMode(LED_PIN, OUTPUT);</a:t>
            </a:r>
          </a:p>
          <a:p>
            <a:endParaRPr sz="1725" b="0">
              <a:solidFill>
                <a:srgbClr val="D1FAE5"/>
              </a:solidFill>
              <a:latin typeface="Cascadia Mono"/>
              <a:ea typeface="Cascadia Mono"/>
              <a:cs typeface="Cascadia Mono"/>
            </a:endParaRP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int button = digitalRead(BTN_PIN);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int knob = analogRead(POT_PIN);</a:t>
            </a:r>
          </a:p>
          <a:p>
            <a:endParaRPr sz="1725" b="0">
              <a:solidFill>
                <a:srgbClr val="D1FAE5"/>
              </a:solidFill>
              <a:latin typeface="Cascadia Mono"/>
              <a:ea typeface="Cascadia Mono"/>
              <a:cs typeface="Cascadia Mono"/>
            </a:endParaRP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analogWrite(LED_PIN, knob / 16);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Serial.println(button);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15BE562-B8E3-4C75-B645-E3C4B9D73BC9}"/>
              </a:ext>
            </a:extLst>
          </p:cNvPr>
          <p:cNvSpPr>
            <a:spLocks noGrp="1"/>
          </p:cNvSpPr>
          <p:nvPr/>
        </p:nvSpPr>
        <p:spPr>
          <a:xfrm>
            <a:off x="7953375" y="2114550"/>
            <a:ext cx="3048000" cy="356235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D9A3F08-9C0A-4DF6-8A64-13869F413BAD}"/>
              </a:ext>
            </a:extLst>
          </p:cNvPr>
          <p:cNvSpPr>
            <a:spLocks noGrp="1"/>
          </p:cNvSpPr>
          <p:nvPr/>
        </p:nvSpPr>
        <p:spPr>
          <a:xfrm>
            <a:off x="7953375" y="2114550"/>
            <a:ext cx="3048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EF60D70-7496-4D8A-8E49-BA2AD4981C3D}"/>
              </a:ext>
            </a:extLst>
          </p:cNvPr>
          <p:cNvSpPr>
            <a:spLocks noGrp="1"/>
          </p:cNvSpPr>
          <p:nvPr/>
        </p:nvSpPr>
        <p:spPr>
          <a:xfrm>
            <a:off x="8248650" y="2571750"/>
            <a:ext cx="23812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Pin modes first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Read inputs often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Print only what helps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Map ADC to output range</a:t>
            </a:r>
          </a:p>
        </p:txBody>
      </p:sp>
    </p:spTree>
    <p:extLst>
      <p:ext uri="{BB962C8B-B14F-4D97-AF65-F5344CB8AC3E}">
        <p14:creationId xmlns:p14="http://schemas.microsoft.com/office/powerpoint/2010/main" val="663164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5D6284C3-20B7-4E37-AF92-A4185143AC3C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E12E0C-B82D-4BBB-97E6-AF2E9D2C3B0A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C225D5-580E-4FF6-8B9C-19EE650EAC15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470D05-3B49-496C-86DD-0CA770412AC5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8A487-8530-4FE8-9216-64F87166AF7F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B7D24-5569-4626-98D3-323E6133EE74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5B8626-CC5D-44E0-9F6B-7032B8B62CC9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BE9552-2746-45DB-8F2B-A30CF1E36EF6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150984-30AA-4491-8C85-620175D47DC3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7CFC64-14A6-4804-A4AD-748A5E4FC925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BCBB74-415A-4801-B57C-074DF64011E1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50D5ED-9CA6-47CE-97D8-B5DA0D26D7BA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1DDDD7-2EE5-4FD7-9BA5-6B20F0552494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E7782A-2890-4620-8F59-E10F572BD0AE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E67614-F9D4-431D-B633-2C6A2678CD04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9330A0-68BC-4ABF-88EA-11655EE296C2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E97024-4544-4769-9646-A27CB889C47A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CAFE12-6B8B-4F0D-ADA3-D52D2A4A5C03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935A21-B7FD-4B30-A2B9-831F3830B9A4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0B7C6A-851B-4C14-9FCF-26E5666A27C4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0DDCB2-CD82-4479-BE60-0EB0C73B121C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5555E6-539A-4C50-AB19-D5618E93E896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59138E-8BDC-49F6-ACC4-5C7736309B16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481464-E375-487B-B5A4-D5DEB71803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F84AF5-3072-4E24-AEC9-4812FE3BB9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1049A7E9-8499-4A84-A14E-DB9D1008BCF7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3C6A466A-C3CE-4B3A-8C92-1F1CA37DD65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505D39-2F5C-4463-A067-69E1EAF9B771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9CCE76-8349-4787-B45C-23BB29C6638F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5C0C01B-E770-4E31-83BB-956B2695A68A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6255040-9017-492F-A748-70E62EDB85A7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F91E78A-7E85-432F-8013-A9CAC1F0B0F9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24F2C9D-2D53-42F7-BD4A-BDC9F0EB7E96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1C67E01-FED0-4933-A542-3CBDE43320BD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3EB946B-4CE1-4EA1-8CA0-AD20C8F7EA72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7C9EC13-53AF-4D03-9F62-E40B157A0CD4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948CF71-B5B0-4C1B-9927-673E8B27D2F5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633576F-E45F-4A17-9047-240EDF898161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3456245-8245-4511-967E-34A24BD169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B0D8310-5A42-4CEE-BF4A-CD3EAF380299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F6FFD79-29B9-43B5-9DC5-92989DC7897D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49E759E-0B37-406C-8C19-02DE6231218D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Blink Baseline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CBF99BF-8FC0-4716-A825-6BF99CBB8E5E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521CFFD-0D80-4E8D-A014-2A495ACFE191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FC1551C-243D-4A73-A3C3-F18E18D6FAA1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E27427E-D1B7-4F6E-8378-8E398A500238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82DD7D0-0E13-422B-9FCE-3576F6E65150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31B7747-B10F-43FB-979B-AD13C692194D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Make one LED blink with ordinary Arduino code.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8A7D722-3402-484D-B1ED-7F5F580F820A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4991540-6CAF-4650-9D6F-DEDC282920A0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blink.ino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pinMode and digitalWrite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delay(500)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Confirm the LED toggles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976054D-8BF1-4E35-90DE-F8CC93F0E386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34F1551-7603-4958-8E52-17C6FD67668B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One LED blinks steadily.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F9166E5-FF19-4FF4-96EE-165A2A12471B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FB4BDF-689F-4728-85FE-A19A65D496D3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Change the blink rate without rewiring.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4AB0351-BC7B-4316-815A-8BCF972D7A8C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8301C019-2BC8-4410-9670-64AA7C5D201C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64CD2C4-EB9E-4EC7-A8B9-49D90343E4B4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LED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Resistor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Breadboard</a:t>
            </a:r>
          </a:p>
        </p:txBody>
      </p:sp>
    </p:spTree>
    <p:extLst>
      <p:ext uri="{BB962C8B-B14F-4D97-AF65-F5344CB8AC3E}">
        <p14:creationId xmlns:p14="http://schemas.microsoft.com/office/powerpoint/2010/main" val="1514457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C9ED631-2287-4B2A-BFD1-31B8E16FE876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E8A2A0-2BEE-4662-B34C-CE7E68273843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AB46FD-534B-4362-82F9-B143D10B5CF7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9DA368-7FC7-48C0-BDE3-1B1888F17943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D9A0B3-36C7-429D-92EB-3E63CB7DB16D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A04069-89A1-4AE2-A035-16DF4B6F3DB7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69ADE6-5A8C-4E29-B7C0-35BB03523AA3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7E16B2-8C52-4586-B3E9-85E59E321C8D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D08640-8D41-4775-A6FB-4E95DDC39031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6A5D38-E13C-40F0-B6E9-DBA67700798F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C937AF-05CC-410D-8BFD-DD80F97EA2EB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1D6B77-5E92-484B-AD3D-61F5EB2A802F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455E46-3323-43F2-961B-B2772E09E601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77162E-21A3-4001-B009-3A3D1FAF3C3C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05146E-5AC6-4ACA-90B6-5D359712C843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F7CB09-2AA7-48D1-BAFB-0E081D8BD602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22B614-47EF-4747-B287-3EB99BA2530C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95A8FB-3F2C-4D25-8DE2-20F7E046B510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F1CBBF-46F5-4DFB-8EE3-AFD012C27D67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50EC58-F7A5-46DB-80AD-BF4BDE8DC050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9A4C94-0D4D-4D41-9332-23AC31B1EA82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D24629-3860-4F97-919B-EE058C326200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B7EA95-E3A7-4D27-8CD9-0E6110565302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073BBC-294A-45F5-9728-3886727C23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1237E6-3DE6-4AC6-8946-524B2D73C0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A52B7778-E989-4D72-BC30-C5B8E8DAF524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8B14B34B-F7AF-4B81-8534-E33359437B41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4FAFE4-5560-447D-9643-32B0CE309F70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B018FC-D626-4010-AD90-EBE7A562E97E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5017022-0D11-4F85-AD6A-2D2A6C2114ED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6654C47-DD43-48DA-B063-0151FCE55FC8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CB0ABDD-1B3C-4CF5-9193-E7A0F3CDE60A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ECA49EA-4B46-473F-AC94-5872EB6DFCBB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 w="11430">
            <a:solidFill>
              <a:srgbClr val="E11D4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B131DF-5883-4F8B-9B32-A54BEB3EE6EC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208F6B-C445-4EC6-94E6-FC3CD528D52D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808FC61-FE49-4013-A6D0-C22E945A74BF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62A8D65-CF67-4AB3-B985-133F9AC5F4A0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319FCDC-7842-420F-82A0-23E5ACFC5A08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8D5154-7F7E-42ED-9FC4-208D64907E76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delay() is easy until anything else must happen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D04C7D-90CD-4C4D-A1AD-320584A55A5A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BF85C2A-F57A-447A-B262-E827404BC7E7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FFF1F2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0F9DCA0-1E46-47ED-AFD7-49B92FE6B65B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ECFDF3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E25C83-4305-4656-97F3-A34EA0ECB0C8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953000" cy="762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8D1250-9580-4D8B-9481-33D8CE693623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4953000" cy="762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245588D-3EC4-4A2E-A927-7CEB376EEDAA}"/>
              </a:ext>
            </a:extLst>
          </p:cNvPr>
          <p:cNvSpPr>
            <a:spLocks noGrp="1"/>
          </p:cNvSpPr>
          <p:nvPr/>
        </p:nvSpPr>
        <p:spPr>
          <a:xfrm>
            <a:off x="1143000" y="24288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delay()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24E547F-8499-44C3-906C-4C669C363C0D}"/>
              </a:ext>
            </a:extLst>
          </p:cNvPr>
          <p:cNvSpPr>
            <a:spLocks noGrp="1"/>
          </p:cNvSpPr>
          <p:nvPr/>
        </p:nvSpPr>
        <p:spPr>
          <a:xfrm>
            <a:off x="6705600" y="24288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millis()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9F96358-D0C3-4199-B4B1-EE43545CFBDE}"/>
              </a:ext>
            </a:extLst>
          </p:cNvPr>
          <p:cNvSpPr>
            <a:spLocks noGrp="1"/>
          </p:cNvSpPr>
          <p:nvPr/>
        </p:nvSpPr>
        <p:spPr>
          <a:xfrm>
            <a:off x="1190625" y="3000375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Simple to read</a:t>
            </a:r>
          </a:p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Blocks the whole loop</a:t>
            </a:r>
          </a:p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Hides missed button presses</a:t>
            </a:r>
          </a:p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Does not scale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61E9340-79BB-4583-896F-8533592B6307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Checks time without stopping</a:t>
            </a:r>
          </a:p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Lets other work continue</a:t>
            </a:r>
          </a:p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Builds the superloop pattern</a:t>
            </a:r>
          </a:p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Prepares timing thinking</a:t>
            </a:r>
          </a:p>
        </p:txBody>
      </p:sp>
    </p:spTree>
    <p:extLst>
      <p:ext uri="{BB962C8B-B14F-4D97-AF65-F5344CB8AC3E}">
        <p14:creationId xmlns:p14="http://schemas.microsoft.com/office/powerpoint/2010/main" val="1702063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63D02B5A-60AD-4933-AACF-30193A42F8F9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7C7F44-45C9-4F6F-B940-AF6587F9525B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27F6E0-4A16-4741-AA3C-596AC96D6EF3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8C6068-6840-4CCF-BF8E-4C2B945902C7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EEE8CE-0121-4453-92B7-46BB915E08C9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07DF9D-6167-40CF-BBBE-AF2EE5E0D9C0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2052FE-63B6-4FA2-A203-29EB304AFA95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DE6D8E-90DD-42D7-B85F-08593A3A1F3B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5BC8E7-BCDF-4707-8D3F-88F6627C7F9A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A68C6E-A81B-4E18-81E5-9169124AB7C0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2F8E33-E729-40FE-9122-F3D63EF9E228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855E4D-F966-4D0F-8589-C37FD1C5581D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362BA6-3287-4439-B5DD-B7DEE38030F3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C7F938-7372-4F8D-A653-6F61C6FA9A43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5473A2-3DC6-44B0-817F-D535A8BC905F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9A06E1-9CF2-4578-A946-306376D25FB6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994467-8388-451F-B218-677F5B3C5264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153F6C-2E05-4783-825B-A867C65D3EF9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F7BEB0-F40A-4029-83A6-609F4E9739D7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E8DDF1-C390-4FA2-8464-E793A7BABEA1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0D3187-B03C-4A2B-8188-5C3D3C7102CD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B12D8-ADFA-4B8B-9952-37493D3CF845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A04724-753F-43AB-8571-F79AAD38B488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7DF9B5-2099-4620-90F5-15C8A682BF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3C474A-15C1-4129-8A00-681B2F4BCD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2D118613-68E9-451B-B93D-3510F3A8717A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D15DC428-28DE-4529-A5C8-A3BBAEE3C022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BE92DF-4317-4300-B67C-2C06650B9F26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6CC421-FF33-4224-B430-38F4DC682B5E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FA30191-F889-46A1-AE78-90F33B655AEB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39EF0DB-4989-493B-AADB-5BAC4D3D5726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6D6ECDC-98BB-4CB4-A8D9-F45A9EAF62BE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7044683-6C85-455B-9B1A-B3F559104DE8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AAB87A-CD7E-4ED6-9B4A-45B40D43D4CE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3303B8-776B-416D-A594-B451E0D35825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F65287-EC40-4D69-BC71-67B09FA6CB0E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444E032-6B6B-4928-8099-88AB213BE8FA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9C03736-B116-42C7-BB2D-FA8F9C591F79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E9AAE81-7186-4F94-B3D4-AF8BE826D1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33D8625-7E98-4EB1-B9ED-9652BC6BABA1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4090210-A5A5-4A9D-8A40-06E2F27E966A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AD01CFE-C177-4655-A5D0-CD9DE4B6322A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Blink with millis()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6D6EB9E-0E43-4679-A0E8-6710DF24D70D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BA68548-47C2-4619-AB35-5067C038546D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E89EEC-28CD-4DAC-A41B-8BA69A61946A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3D51E4C-C5BD-4DC4-A1BA-5B170307F8CD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719D7D6-2DDB-4989-8542-ACBBB04F1F40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D64DCD9-17B4-49FA-B231-487E7E5A1D51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Blink without blocking the loop.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8F88A25-4758-41EE-84AD-990C56317DEF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AE0C08D-4B87-4381-B906-BFF92F72ABE3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Store previousMillis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Compare now - previous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Toggle when interval expires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Print loop heartbeat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20D4545-2BEE-40EF-B7E0-6249A2A4FCEF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B76D693-283A-40A0-BF87-CDE180BE4526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LED blinks while Serial continues.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A8A64B0-F948-4646-A7C0-2900F19D3623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3843C06-6EE9-4E97-80CE-4EE4FCAC0ED8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Add a button read without missing presses.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A5D910E-8D92-465E-BE82-B3537FC395E4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C5027B00-8E16-43A3-88B5-DFFA53E1D93E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AB3150-1F21-43B4-9382-5E8B7B5D117A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LED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Serial Monitor</a:t>
            </a:r>
          </a:p>
        </p:txBody>
      </p:sp>
    </p:spTree>
    <p:extLst>
      <p:ext uri="{BB962C8B-B14F-4D97-AF65-F5344CB8AC3E}">
        <p14:creationId xmlns:p14="http://schemas.microsoft.com/office/powerpoint/2010/main" val="136362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E7066E0C-6651-4DF4-90A4-8898662E26D0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9D290-0BD4-4044-A070-858441C42448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0AFFCE-1B50-4113-9909-2539ADB124B7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9B46D7-43A8-4CB1-96F5-36BC401599D1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8944EA-E85A-4C93-849C-3D42147C0896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20D772-DF46-4906-BA84-42F8BD039BEC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25DCAD-82A2-442C-8F4C-95580DAF5420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D40041-0722-4F25-A5F9-8790D331E2E5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4096DF-B365-47CA-B6EE-E4AE761072B3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CB5611-7F50-452E-8C36-B8E58553F011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EF006B-5191-4132-9603-7151F0DD878A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6A0ABF-D075-45CA-B39C-E118A2B7A5D4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D9B5C9-6CE2-491C-914D-9DF3C0216373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174C07-34C9-4847-B0A9-50F731764F13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1681E1-78D0-4926-BA4A-2105D335CF0A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8F7AE7-60B2-40D7-8FDF-D08A05D7401B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9FE941-0B2D-44F4-BCAA-47FE0DA936B9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ECA52E-C5C9-4FDC-9182-ABFCF9DEBD8F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9E8F89-7418-48EE-BCB5-C96F727925C8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61799A-BC5A-4A68-8D3D-54EB9B1E3BEE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F2D2BC-BDB1-4547-8A06-463B73F97EF0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BDA5FB-5260-4AF0-A361-F1B2EAFD7B74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C0F153-5A5F-47B6-BC40-8317662E4650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E1B282-87AD-40AD-9145-899647678D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7B18CC-3F9E-4724-ABBE-C6A8C50FFD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69DFE364-A025-4864-BB82-490A3F64CBA7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30D676F4-36A4-494A-A418-851E0F737479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A171AD-C727-485D-92BA-564CE93659EA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A4F09F-4EDD-4520-B81B-581F604F31F5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3A44397-F6B1-4204-93B1-E8ABF597B528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B23B918-9713-4852-BA4E-2B27F304853D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553FE20-70E5-4B84-A13C-ACA7CBECF372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0BB6880-5F5A-413C-9C7C-B7E82330BE70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AF85DC-3517-4F4E-A622-EADBAF916CB0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80D8030-C063-476B-931F-0E8F2ED2BE6D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39E8BF-36BB-46E7-8B46-34B8DCA2AF63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14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6CAF285-DC12-4DB6-A204-931D471071E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9152B3E-19EE-44B7-ADE8-5552E2430935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18F1AC3-8B9C-421D-AB25-F8490BBA0392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MultiBlink is the first scheduling problem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392A7B3-2A9D-46A4-8754-5288B4A5C290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4571A39-AABA-4C9B-BE55-A861D319B263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10191750" cy="1790700"/>
          </a:xfrm>
          <a:prstGeom prst="roundRect">
            <a:avLst>
              <a:gd name="adj" fmla="val 7447"/>
            </a:avLst>
          </a:prstGeom>
          <a:solidFill>
            <a:srgbClr val="FFFFFF">
              <a:alpha val="72000"/>
            </a:srgbClr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BCB38AD3-B152-4E5B-B9FB-E74B5889A91B}"/>
              </a:ext>
            </a:extLst>
          </p:cNvPr>
          <p:cNvSpPr>
            <a:spLocks noGrp="1"/>
          </p:cNvSpPr>
          <p:nvPr/>
        </p:nvSpPr>
        <p:spPr>
          <a:xfrm>
            <a:off x="1352550" y="3695700"/>
            <a:ext cx="9144000" cy="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E14D8DD-4462-4BA8-BED8-D5FC09F47A64}"/>
              </a:ext>
            </a:extLst>
          </p:cNvPr>
          <p:cNvSpPr>
            <a:spLocks noGrp="1"/>
          </p:cNvSpPr>
          <p:nvPr/>
        </p:nvSpPr>
        <p:spPr>
          <a:xfrm>
            <a:off x="1209675" y="3571875"/>
            <a:ext cx="247650" cy="247650"/>
          </a:xfrm>
          <a:prstGeom prst="ellipse">
            <a:avLst/>
          </a:prstGeom>
          <a:solidFill>
            <a:srgbClr val="2563EB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3966F72-0837-4180-A4AF-D36F5AE8139F}"/>
              </a:ext>
            </a:extLst>
          </p:cNvPr>
          <p:cNvSpPr>
            <a:spLocks noGrp="1"/>
          </p:cNvSpPr>
          <p:nvPr/>
        </p:nvSpPr>
        <p:spPr>
          <a:xfrm>
            <a:off x="57150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LED 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3539C84-91EC-47AD-A312-279BD7FFE1D3}"/>
              </a:ext>
            </a:extLst>
          </p:cNvPr>
          <p:cNvSpPr>
            <a:spLocks noGrp="1"/>
          </p:cNvSpPr>
          <p:nvPr/>
        </p:nvSpPr>
        <p:spPr>
          <a:xfrm>
            <a:off x="57150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500 ms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F0C1EDE-19FD-4791-B235-AB13B8009FF8}"/>
              </a:ext>
            </a:extLst>
          </p:cNvPr>
          <p:cNvSpPr>
            <a:spLocks noGrp="1"/>
          </p:cNvSpPr>
          <p:nvPr/>
        </p:nvSpPr>
        <p:spPr>
          <a:xfrm>
            <a:off x="4194175" y="3571875"/>
            <a:ext cx="247650" cy="247650"/>
          </a:xfrm>
          <a:prstGeom prst="ellipse">
            <a:avLst/>
          </a:prstGeom>
          <a:solidFill>
            <a:srgbClr val="07844A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944C71-1057-47AA-92BA-C24C12C79946}"/>
              </a:ext>
            </a:extLst>
          </p:cNvPr>
          <p:cNvSpPr>
            <a:spLocks noGrp="1"/>
          </p:cNvSpPr>
          <p:nvPr/>
        </p:nvSpPr>
        <p:spPr>
          <a:xfrm>
            <a:off x="355600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LED 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C2A13BF-709F-435F-9916-E4EAA59FA8A6}"/>
              </a:ext>
            </a:extLst>
          </p:cNvPr>
          <p:cNvSpPr>
            <a:spLocks noGrp="1"/>
          </p:cNvSpPr>
          <p:nvPr/>
        </p:nvSpPr>
        <p:spPr>
          <a:xfrm>
            <a:off x="355600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700 ms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0E25380-358C-4EDF-AAEB-0A40191F54F4}"/>
              </a:ext>
            </a:extLst>
          </p:cNvPr>
          <p:cNvSpPr>
            <a:spLocks noGrp="1"/>
          </p:cNvSpPr>
          <p:nvPr/>
        </p:nvSpPr>
        <p:spPr>
          <a:xfrm>
            <a:off x="7178675" y="3571875"/>
            <a:ext cx="247650" cy="247650"/>
          </a:xfrm>
          <a:prstGeom prst="ellipse">
            <a:avLst/>
          </a:prstGeom>
          <a:solidFill>
            <a:srgbClr val="F97316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15A4600-A6B3-4A16-9E43-70720FD07872}"/>
              </a:ext>
            </a:extLst>
          </p:cNvPr>
          <p:cNvSpPr>
            <a:spLocks noGrp="1"/>
          </p:cNvSpPr>
          <p:nvPr/>
        </p:nvSpPr>
        <p:spPr>
          <a:xfrm>
            <a:off x="654050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LED C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C9B076F-8F75-4E74-AC12-87605DDE792C}"/>
              </a:ext>
            </a:extLst>
          </p:cNvPr>
          <p:cNvSpPr>
            <a:spLocks noGrp="1"/>
          </p:cNvSpPr>
          <p:nvPr/>
        </p:nvSpPr>
        <p:spPr>
          <a:xfrm>
            <a:off x="654050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1100 ms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0736C77-1B06-448B-A3D0-B2C4FA5B6619}"/>
              </a:ext>
            </a:extLst>
          </p:cNvPr>
          <p:cNvSpPr>
            <a:spLocks noGrp="1"/>
          </p:cNvSpPr>
          <p:nvPr/>
        </p:nvSpPr>
        <p:spPr>
          <a:xfrm>
            <a:off x="10163175" y="3571875"/>
            <a:ext cx="247650" cy="247650"/>
          </a:xfrm>
          <a:prstGeom prst="ellipse">
            <a:avLst/>
          </a:prstGeom>
          <a:solidFill>
            <a:srgbClr val="475467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3E026C0-97B1-4B7A-9CC0-F47ED3721B56}"/>
              </a:ext>
            </a:extLst>
          </p:cNvPr>
          <p:cNvSpPr>
            <a:spLocks noGrp="1"/>
          </p:cNvSpPr>
          <p:nvPr/>
        </p:nvSpPr>
        <p:spPr>
          <a:xfrm>
            <a:off x="952500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Loop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6229751-432E-4072-B00E-88B0FC5C14E6}"/>
              </a:ext>
            </a:extLst>
          </p:cNvPr>
          <p:cNvSpPr>
            <a:spLocks noGrp="1"/>
          </p:cNvSpPr>
          <p:nvPr/>
        </p:nvSpPr>
        <p:spPr>
          <a:xfrm>
            <a:off x="952500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keeps scanning</a:t>
            </a:r>
          </a:p>
        </p:txBody>
      </p:sp>
    </p:spTree>
    <p:extLst>
      <p:ext uri="{BB962C8B-B14F-4D97-AF65-F5344CB8AC3E}">
        <p14:creationId xmlns:p14="http://schemas.microsoft.com/office/powerpoint/2010/main" val="541287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371FC030-8473-496C-9A82-DA5D772E8C7E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2898B5-5D48-4ABD-8A03-F0EBB5F592D2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EB515B-0964-4644-8EE6-9D7C7C61C188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D92B7A-4773-44D6-A078-66E838F86DDD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02926B-BA08-4B6C-9FD6-28F28CCB154D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420A10-8765-4FAC-9F96-258D5412D8E4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289CB-B75E-4E39-8EA0-26B9F95FE01F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632755-6F8E-479F-8FAC-8BC9A0C1D4B8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B95E81-5DF0-4519-9962-78FC939E2D21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CC8C8B-E1D5-4DB5-952F-C19AFA1B9C87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2960AA-AC50-4A4D-80F3-9D328EAD7D76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32F13-E227-4A3A-9FA9-C0BED67C41F0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C82174-C534-498E-A5B6-016B58BB37C1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F5AAB0-8CC8-471E-A5D6-5A7F6AEB6857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AB175C-9F53-4730-9CB4-A9B3AF193E06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DA7A99-6B27-4CD3-A9E1-2C5976BAF0AD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662CF7-246B-4BAA-8CD1-953B52FCB7D0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0C49F-73EE-46DC-A847-4A8E9ABD9BA1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125F94-FF3E-409A-B21A-0A053B02876B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269081-FC63-4757-B0DF-9667DE7B6225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739311-7DD3-4E0B-B1CB-01232786AF5B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750A05-25C3-4BBB-AA53-FBF88B3F2967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E34360-692D-4E66-A1E8-D9122C30402D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25ECF8-E60F-4D5F-B2ED-509850859A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D90956-6A6C-40DE-A7E3-DFF13D882C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F197FD17-D83F-4155-8701-B03FED464A43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5965EDCD-4EF2-44FD-B838-AC8E1F58B00A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77D350-F9F3-4726-80E2-DF81E94D724D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3C1EA3-42E2-4531-92C1-B56AFCA65ADF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ED95AB-832E-4E1F-A4C1-9A00BC5F6526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C0C8E24-BD6C-4A64-90E6-37B4A9EFCBE9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D205DA3-0CD3-4EAB-8546-C2FAF9861ED9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73587D8-BA46-4E3C-B168-491138F6DC95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178C53-E30C-4876-AC71-C187F4222BE0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BF2044F-AC5F-4C12-8871-11102BF8B222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0E0E159-A7B3-43B6-9A86-141E8D6E17F6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15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4D41E48-F94E-49A8-8479-196A5FDBC659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AEEAA71-A944-4404-B922-FAFF47519C52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45E0E8-163F-4B55-852C-F8B111EC95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6D1CD21-E9EB-4DA5-BE94-A1D0654CCAF3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5D73E2-342E-4498-B46E-DFC32825D9AC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F6504AB-10CA-47C2-A412-E6C75800719B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MultiBlink on one core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12FC956-FA1B-4B13-8399-14E6E71D77AA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5591F9F-D3A4-4FCF-9F98-0810FDF6B74A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C11843C-0386-4EF1-8C4E-2908219BA7D3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8D82E01-DFF4-4450-B564-DFF55C9DB4AD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EEA1CCA-BF63-42E5-B4D6-CEA07E1A8E78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FE0006B-1102-445E-B13B-40D9E4D989BC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Run two or more LEDs with different non-blocking intervals.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1F2F89D-F03A-4DA2-9514-331029FC187B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A929965-D249-4A5D-AFA8-3713938A28FE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multiblink.ino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Give each LED its own interval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separate previousMillis values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Observe independent blink rates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D303306-3221-4D3A-914B-ACD2280B84FD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0FD2FA5-36CB-47B0-A908-EE3847C063CB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LEDs blink independently.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4308F30-FA0D-48D1-A2EE-610B8B223D4F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1CA67AC-95A8-43BC-9EB1-1BB40C77EDBF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Add a third LED cleanly.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B8B4103-3F0E-486F-A085-2489EA5CED39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946F1A2D-4DBA-4601-AD26-C9828803413D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8D98624-EA14-422C-B6EA-85C9EAB05081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 LEDs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Resistors</a:t>
            </a:r>
          </a:p>
        </p:txBody>
      </p:sp>
    </p:spTree>
    <p:extLst>
      <p:ext uri="{BB962C8B-B14F-4D97-AF65-F5344CB8AC3E}">
        <p14:creationId xmlns:p14="http://schemas.microsoft.com/office/powerpoint/2010/main" val="1405063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DF6C5D92-7B05-45DC-9E05-2F1F99E1917D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A362C3-9296-4C7E-AD84-734BA14F91B1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D93AEC-A937-4B65-B7CE-D4920FC9E265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C11E3D-91DA-4FC3-A130-4AABF8EAC38A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C44D02-B062-4E55-A926-195487ACA192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44A5A4-8502-4C5D-A437-71B5E4D26597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6033F7-BBCE-43F2-A730-BF71FD957609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1D5808-F1C6-4B62-BCE1-0A6463611814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C056FB-ACDF-45B4-BAFF-8B6BA3CE9FF1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0CBCBF-A921-40ED-B3C8-C97C1CD7747B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5088B5-741F-4689-8D92-D8F5C70B2BAB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28EB18-87F2-43D2-88EB-8A33876510E7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CBFA3B-C9C6-4E56-8853-59CC90B0563C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52A267-83DC-47D8-A9AD-4C0DB7C8F9AD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8AE41E-A6C6-4A4A-8E0E-9EAF47E44FE6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46985D-1ADC-4E95-BB3F-EEA8BA67D657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AA0A57-0F84-4C57-9A6D-3A21624E6FC4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48E15B-3CBE-4B0F-A92B-2EE9065FF440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3EBF83-8127-4576-976A-6D6648B78815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9A0636-D011-46F5-8EFE-EC53EDE5C261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33A94E-F71C-4EC0-AC22-FCD01CE7F281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E0B6E0-2AD0-44E4-B222-856D31BCF2EF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1406C2-B332-45F4-B40F-256CF888893F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B57944-1EE5-42D0-B7B3-888C3277F5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861F4F-8634-4448-89E1-8B9EAD3C4B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AAAF1EB0-788A-4C8E-8BEE-6A208A2A66DA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24547D1C-E024-4B1A-83AB-8C18B8C9B3C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839620-7DA8-4176-A926-AD0172C30E96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AA1CA4-264D-46D3-9761-09A654B779D5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E9B1BA6-AD53-4699-9672-70DEA2F64E9A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DF5A31D-4694-45E5-A5D9-1CE269BD8056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BD38141-B49B-45C6-9981-F7FA9F0F173A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48C0BCF-F534-4551-B05F-3CF1D6A840EC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B52B74-EB5D-4711-8462-91B1505E0E74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FE4F771-7B0E-4D15-B992-F6DB02E9981A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7C9636-BD3E-4876-B518-75421BD63B9C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16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785FF8A-D69F-42FB-854A-83C6A8D01235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B2CEAF-0974-4221-AED5-0B32915BF3C2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155573D-7A40-4A0A-B9B2-566446B7ACC5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ESP32 has two cores, but code still needs structure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1F5D7EB-E506-4510-AC28-27C0A6600B42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CB14E7F-4BE0-4CF5-8CCF-2C1055611961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FFF1F2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0A1EFF4-4B09-4DC1-B746-5450F4B68694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ECFDF3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B172793-9E59-4F50-87FE-8ABF34819098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953000" cy="762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EC278B-250D-41EE-BA75-C292BB80EE77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4953000" cy="762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2913D80-6FAE-4C98-89D9-9CDA2D41EBF2}"/>
              </a:ext>
            </a:extLst>
          </p:cNvPr>
          <p:cNvSpPr>
            <a:spLocks noGrp="1"/>
          </p:cNvSpPr>
          <p:nvPr/>
        </p:nvSpPr>
        <p:spPr>
          <a:xfrm>
            <a:off x="1143000" y="24288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Core 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467F43B-2917-41DD-AEFD-398CA784C592}"/>
              </a:ext>
            </a:extLst>
          </p:cNvPr>
          <p:cNvSpPr>
            <a:spLocks noGrp="1"/>
          </p:cNvSpPr>
          <p:nvPr/>
        </p:nvSpPr>
        <p:spPr>
          <a:xfrm>
            <a:off x="6705600" y="24288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Core 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403B1C5-B10C-4B36-A77B-6ECE046B68BA}"/>
              </a:ext>
            </a:extLst>
          </p:cNvPr>
          <p:cNvSpPr>
            <a:spLocks noGrp="1"/>
          </p:cNvSpPr>
          <p:nvPr/>
        </p:nvSpPr>
        <p:spPr>
          <a:xfrm>
            <a:off x="1190625" y="3000375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Often handles system work</a:t>
            </a:r>
          </a:p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Can run pinned tasks</a:t>
            </a:r>
          </a:p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Not a magic fix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3F42391-CBF4-4535-AC99-C1C6232BD201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Often runs Arduino loop</a:t>
            </a:r>
          </a:p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Can run app work</a:t>
            </a:r>
          </a:p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Still shares resources</a:t>
            </a:r>
          </a:p>
        </p:txBody>
      </p:sp>
    </p:spTree>
    <p:extLst>
      <p:ext uri="{BB962C8B-B14F-4D97-AF65-F5344CB8AC3E}">
        <p14:creationId xmlns:p14="http://schemas.microsoft.com/office/powerpoint/2010/main" val="457138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7C5F9D2B-12A6-4DA9-A4C6-0CA0A596FEC1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28DCB7-670D-4A44-A009-DAD9BB6CC768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095D81-0F42-4DAD-B2A4-6122062B9374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5A4DE8-B260-42CB-9607-874AB0106600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4D257E-FD40-43A7-B1EF-1FB8F4D9251F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188726-724D-4255-9E41-CC94500D1EDD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4E5017-F592-470A-B658-D752137BF407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A28566-91B8-4A19-8078-F108F4E116C7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5A8187-10E5-490A-9E63-F5E15DB202C3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6950A5-901A-4380-AE1E-32E29E078501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DF1CD4-B9B5-421D-A686-A7B9B3AC1B5E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D9C1D1-614D-4FB0-B77C-E7ADA9A2BD6F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68914B-4556-49FB-A165-08E69B4957DC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95E49B-D70E-4495-9A06-EDB32359E7BF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AC11BB-3F55-404A-80A3-457E5170044E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F72E29-1E0D-4DE7-95C3-22B7C0A3F052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1DDC10-7F80-4F85-9846-DA9C7707F520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7367AB-BD7E-4855-9756-2F2FF682CDC5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C19F34-0C5B-4FA8-AD15-ADAA65E3B97D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F9CDC3-C652-438B-8123-90854E0C84C5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367DC1-B1F0-4C72-9172-FE641ADF20DA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5957FE-7110-47D3-885F-62A212FC8FB0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8B58D9-D1EC-4F2D-818C-68E529BC74F2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5FE017-57D3-47A6-B091-7EF7852695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D5DD5C-EBFA-42E8-BE84-73EB7BCC64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DF309F4F-358D-41CF-9889-EE9718F07B34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50A08BC7-AC6D-4A72-83C2-D8A1C2637F04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A741A5-8524-405E-9B33-3501CCE310F3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3D5122-116F-4093-94DA-915DDAC5549A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3F11401-33F1-4A33-A41C-8C6361EBF642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F9755DB-DE5F-4363-A08C-B08CE28D95E6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9ED5E7E-9D31-4923-BAE5-14633C0DE055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2231855-2BCA-47A5-BD69-303AE514AD5D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2C563D-DB5C-4898-81B0-F6B2DEBA13F2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AFB999-5087-4C75-86C7-9B4C7F6DD65B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2A6CA5-BFAE-4086-8CE8-96A13AB5D2E5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17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8E2CE7B-FFC1-43EE-82C3-5631F4D1EFC8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4BE4BC2-41F3-40EE-B062-C7763DDF53E9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1E63C1-C2AB-483B-9560-DF7D6CFDD5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8E34FF-21F0-4FAE-8EFC-A9BF0DE36854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E9FA518-2229-4700-BD13-1C21693A1443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9E5365C-4C31-486F-8E0D-DDA657E7C3E7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MultiBlink on both cores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5F62AE8-5BE3-4DFD-A205-B63931D1BBC3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00DA044-CC41-4072-96E9-EA70D0B0C760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9AA2BE9-F05B-440E-A1B0-8B598072D45B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DC217F6-EF79-41B2-9686-2AC83BA0E2F4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D14F181-44A5-4000-AEB6-1AA2405E4279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21C11A1-6272-457E-9FDC-3367A6869C96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Pin blink tasks to different ESP32 cores and observe behavior.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CE30272-09D2-4BDD-BFA9-98236E62949D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584C29F-1552-45C8-84B2-28F7D2F251F0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Print xPortGetCoreID()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two tasks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Pin one task to each core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Compare blink stability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72E0E0C-5AAB-43A8-95E5-B8010AF80DB5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32AA28F-D929-4CBB-9F30-663C36C68995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Serial shows two core IDs.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B444F8A-CA7B-473D-8A0F-FAE74EB25086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A8711D1-437F-4E21-A79B-B873CC3D6D59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happens if both tasks print too much?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DB64A4E-35E8-485E-9F2E-D001CC9973E8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94626F0C-CFF3-4200-A97E-58CA925FBACD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A7C658-43D4-4C1F-B48E-6CF87BE14060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 LEDs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Serial Monitor</a:t>
            </a:r>
          </a:p>
        </p:txBody>
      </p:sp>
    </p:spTree>
    <p:extLst>
      <p:ext uri="{BB962C8B-B14F-4D97-AF65-F5344CB8AC3E}">
        <p14:creationId xmlns:p14="http://schemas.microsoft.com/office/powerpoint/2010/main" val="1796566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629F3AC4-D40E-4916-B54A-9AE8B6E1FEAC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6F88D0-66D9-4FCA-B152-8497DD3D6DC0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CD0ABE-572E-48D0-B6F1-6B1979CCB23A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A88000-818C-46E0-BFCC-33095C89483B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5D8C08-7BF7-4D20-AE22-7C0F880A0EBF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62BB56-5B79-4D2C-B70F-379ACEF2FCFE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24D433-019D-4297-8BDB-97689F2B7D42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6397BA-61E7-4CA8-9AFB-9A63A9F6020E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AF1EB5-83BB-4355-B7AE-9241BD3CB0CB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F1EDC9-8C9C-4026-A1EA-A7B248209C6F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F53E99-45A3-4787-A811-6D06C5BF67A8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8B10A4-EE95-4A09-88EB-9330E7868FE0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B73391-3520-4625-8265-FFFD83325FE7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479A1F-BC17-40AC-A5D0-C816DD4C656D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AE15EE-FE4E-4975-A326-27A1A294215C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68769C-2C46-4E21-845C-58ED66134A4C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86444A-CD00-4B57-A70F-C0E06BA4FDCD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6D7479-30E8-40F8-AC12-1F59FC7839E9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3DE683-040C-42B3-A749-618DD256E817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5F151B-BA6D-4272-8CE4-80922F85B37A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E733E6-A466-42EA-ADD3-0B51F998D5BF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E16A29-48D7-4BCE-AB3E-D2B996D6874F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7264C6-090C-483D-A889-646517F9F481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42EFC3-62FC-4163-A6EA-2F8D546434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844FE1-83F2-456B-95DC-B82B7309FE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2A246B7-BF01-4A4B-B1B8-0725D163D11B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68E0EFAE-21B5-4F31-826B-3AF8782BB82C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8B363A-8826-4C31-94FD-CAF9C89AB8A0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EA4183-4193-482D-8F5D-576739192669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FB252C2-D635-462F-BCC1-BDF21E03FD35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84CC184-9F4F-4FFC-A13C-A2F2CD751A08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783FDFF-5666-458D-B387-9F23E6EE640B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508009C-3053-4736-9837-49801C58BD7A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31B2F79-BA85-47B3-A44E-33404CC22EC9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D71CC4-81C5-41E0-8747-A792F55345C5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21E19A-1F52-431D-B2A4-5BFBAF756FB1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18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F7A571C-022C-43F9-8F67-B35FB16B89D0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EF5A50F-AD9D-412A-834C-B15092CC5131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E57500A-6415-4CDC-8459-B1D16550D020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0382250" cy="3905250"/>
          </a:xfrm>
          <a:prstGeom prst="roundRect">
            <a:avLst>
              <a:gd name="adj" fmla="val 4390"/>
            </a:avLst>
          </a:prstGeom>
          <a:solidFill>
            <a:srgbClr val="0F1D2E"/>
          </a:solidFill>
          <a:ln w="11430">
            <a:solidFill>
              <a:srgbClr val="0F1D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23EE457-DD47-406C-8ACC-8241A0BCBBE1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52400" cy="390525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AFF97BA-1BC6-46FF-8510-E846BEED3AE5}"/>
              </a:ext>
            </a:extLst>
          </p:cNvPr>
          <p:cNvSpPr>
            <a:spLocks noGrp="1"/>
          </p:cNvSpPr>
          <p:nvPr/>
        </p:nvSpPr>
        <p:spPr>
          <a:xfrm>
            <a:off x="1257300" y="1543050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E89FAD7-6338-4405-913A-1CFE2E8F096D}"/>
              </a:ext>
            </a:extLst>
          </p:cNvPr>
          <p:cNvSpPr>
            <a:spLocks noGrp="1"/>
          </p:cNvSpPr>
          <p:nvPr/>
        </p:nvSpPr>
        <p:spPr>
          <a:xfrm>
            <a:off x="1485900" y="1543050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CE4BAC2-31C6-46F4-B336-01ABBDFF58AB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1877D98-327C-43F1-BF81-5D8663FCF41A}"/>
              </a:ext>
            </a:extLst>
          </p:cNvPr>
          <p:cNvSpPr>
            <a:spLocks noGrp="1"/>
          </p:cNvSpPr>
          <p:nvPr/>
        </p:nvSpPr>
        <p:spPr>
          <a:xfrm>
            <a:off x="1257300" y="20383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rPr>
              <a:t>MODULE 01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0B5CBCC-90C3-45F9-9180-21BE5E1C0660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809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Superloop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B95E16F-E7D6-4F42-A15D-ECA323C3883E}"/>
              </a:ext>
            </a:extLst>
          </p:cNvPr>
          <p:cNvSpPr>
            <a:spLocks noGrp="1"/>
          </p:cNvSpPr>
          <p:nvPr/>
        </p:nvSpPr>
        <p:spPr>
          <a:xfrm>
            <a:off x="1257300" y="38481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// the pattern every Arduino student already knows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4912134-3F43-4D96-918B-08817D4C87A9}"/>
              </a:ext>
            </a:extLst>
          </p:cNvPr>
          <p:cNvSpPr>
            <a:spLocks noGrp="1"/>
          </p:cNvSpPr>
          <p:nvPr/>
        </p:nvSpPr>
        <p:spPr>
          <a:xfrm>
            <a:off x="8953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NEXT_MODULE</a:t>
            </a:r>
          </a:p>
        </p:txBody>
      </p:sp>
    </p:spTree>
    <p:extLst>
      <p:ext uri="{BB962C8B-B14F-4D97-AF65-F5344CB8AC3E}">
        <p14:creationId xmlns:p14="http://schemas.microsoft.com/office/powerpoint/2010/main" val="517115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2CA7A3F-C05A-413C-88DE-25FF4DD37303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5C2633-366C-4EEB-98B8-2BF9D069B9A6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E0583F-C96B-48A6-8E46-B924F870D69A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CB4CA5-952E-4499-9361-731FAE9B74F0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995DC0-C021-4A5C-AFD7-7C645376B985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5ACCFF-38AA-4157-BD92-4F5193DA8CDA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A6F715-4771-4969-AD3B-4D67F743B4B6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C842BD-37FD-4C8F-9262-FD6F368DD4B3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1DE138-EA26-43F2-B939-A51D7FDB2A4D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C4599-58C5-4A07-A77D-20C7A3E62635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23A5C9-36D4-44F7-A2E9-34D5303EF41C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7863A3-A822-42E4-94FD-4600D6F8A6D8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046293-B702-44D4-AE5E-D41F2934A578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C402F3-B1D8-43C1-B6B4-A0DA404A1956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83E6AF-BA28-4210-A437-E69EFA40ECDD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0D5D57-E5D2-4B74-A23D-F2EF545EB535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876F93-022E-49DD-8617-E520D0D24CC8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8BD244-210D-41DF-87F8-23F457B0A3CE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1836B0-38A0-4A55-99F7-22A22B60BA98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E21D21-7E14-4A0F-937B-2C4054F714CE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77D81B-60DB-47CD-B6F2-ADFFF0E6089F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1C734F-0A50-4DE3-BEAB-FDD67D4CF9EB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034CF1-34E3-4F99-9259-77A4324B51FF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FFA7C6-51DE-4557-B1AA-14CAFCAA2B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BE051D-E156-40C9-B6F5-685F4A8117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325C8862-7B34-4690-B512-8BA245BE6EF6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6C6D0E93-D73A-482A-9C84-DA17206C2C09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95A83A-61C7-45DF-A427-85978019C23A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2EB03A2-4D17-49B9-B0B3-F80D932C4EE7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03F8582-7465-46A5-8210-DBB4756C70FE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01F657B-9032-4FDD-9AAE-AA957680A5AC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8824E50-6201-4FA2-A866-15A7EA181EC4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5930519-9B23-498E-B58F-F7A455CE30BA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0A0F0F-B759-4A95-ACDB-61C0BD15EE71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C2D5B0A-95EB-4AD5-A388-7A8C590BDD53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46118B-98B3-4781-94DE-D2F77C2F15AB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19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B39ED46-AD7F-4DDA-AFEE-F295FF3C947C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BD06268-CCA7-4B47-A3A9-085C33CAF26F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74C8743-03CD-41EA-902B-385931D57849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 superloop does every job in one long turn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FB06508-E11A-48E1-9250-961B5FE1EE68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F801D17-100F-4064-8DC4-44EA16304F03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3D92E30-1036-42A1-A1DE-2384820B7EDC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6F94E1-F862-41D6-AF67-970B7D731FEC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8D13204-94C3-49F8-98F3-2C07FA0FE1F4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546E253-187E-4F85-8F7E-330CA0174BD1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380A306-B71D-4BAA-8565-FD002EA794CE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ACA16D3-7D87-47E4-A7D8-B564B3E2CC2C}"/>
              </a:ext>
            </a:extLst>
          </p:cNvPr>
          <p:cNvSpPr>
            <a:spLocks noGrp="1"/>
          </p:cNvSpPr>
          <p:nvPr/>
        </p:nvSpPr>
        <p:spPr>
          <a:xfrm>
            <a:off x="29908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1E6A8BA-56FE-41DF-A029-B50B52C49F9D}"/>
              </a:ext>
            </a:extLst>
          </p:cNvPr>
          <p:cNvSpPr>
            <a:spLocks noGrp="1"/>
          </p:cNvSpPr>
          <p:nvPr/>
        </p:nvSpPr>
        <p:spPr>
          <a:xfrm>
            <a:off x="29908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cxnSp>
        <p:nvCxnSpPr>
          <p:cNvPr id="113" name="Straight Arrow Connector 112"/>
          <p:cNvCxnSpPr>
            <a:stCxn id="41" idx="3"/>
            <a:endCxn id="45" idx="1"/>
          </p:cNvCxnSpPr>
          <p:nvPr/>
        </p:nvCxnSpPr>
        <p:spPr>
          <a:xfrm>
            <a:off x="24955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6F59E29-C335-4051-92C7-598D4B3BCBCE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637AADC-B82D-4953-9D2E-648E55E1DEE7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3385ABB-1206-4C51-95CD-A70B501C596F}"/>
              </a:ext>
            </a:extLst>
          </p:cNvPr>
          <p:cNvSpPr>
            <a:spLocks noGrp="1"/>
          </p:cNvSpPr>
          <p:nvPr/>
        </p:nvSpPr>
        <p:spPr>
          <a:xfrm>
            <a:off x="49720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622A2F9-0286-4975-A2D7-EEA812AD9D3E}"/>
              </a:ext>
            </a:extLst>
          </p:cNvPr>
          <p:cNvSpPr>
            <a:spLocks noGrp="1"/>
          </p:cNvSpPr>
          <p:nvPr/>
        </p:nvSpPr>
        <p:spPr>
          <a:xfrm>
            <a:off x="49720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Display</a:t>
            </a:r>
          </a:p>
        </p:txBody>
      </p:sp>
      <p:cxnSp>
        <p:nvCxnSpPr>
          <p:cNvPr id="118" name="Straight Arrow Connector 117"/>
          <p:cNvCxnSpPr>
            <a:stCxn id="45" idx="3"/>
            <a:endCxn id="50" idx="1"/>
          </p:cNvCxnSpPr>
          <p:nvPr/>
        </p:nvCxnSpPr>
        <p:spPr>
          <a:xfrm>
            <a:off x="44767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372BF05-89E0-4003-8032-1EE59952CE29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08CE9D8-2966-4CAC-9DFA-92C78AB3458F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57A7874-AD47-4B1E-80F3-4E2D7BA905BA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E538970-0DD5-42E3-926B-07DA24F10172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Alert</a:t>
            </a:r>
          </a:p>
        </p:txBody>
      </p:sp>
      <p:cxnSp>
        <p:nvCxnSpPr>
          <p:cNvPr id="123" name="Straight Arrow Connector 122"/>
          <p:cNvCxnSpPr>
            <a:stCxn id="50" idx="3"/>
            <a:endCxn id="55" idx="1"/>
          </p:cNvCxnSpPr>
          <p:nvPr/>
        </p:nvCxnSpPr>
        <p:spPr>
          <a:xfrm>
            <a:off x="64579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DB4D5BDD-8431-4235-BE52-F834E116D6FD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4754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2584063-69CA-4200-ADF3-73391D3CD700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66675"/>
          </a:xfrm>
          <a:prstGeom prst="rect">
            <a:avLst/>
          </a:prstGeom>
          <a:solidFill>
            <a:srgbClr val="475467"/>
          </a:solidFill>
          <a:ln w="0">
            <a:noFill/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3982A00-6095-42C9-BDB6-5EC527A95A01}"/>
              </a:ext>
            </a:extLst>
          </p:cNvPr>
          <p:cNvSpPr>
            <a:spLocks noGrp="1"/>
          </p:cNvSpPr>
          <p:nvPr/>
        </p:nvSpPr>
        <p:spPr>
          <a:xfrm>
            <a:off x="89344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36F5A8E-5F50-42FB-8E57-25D4B795038D}"/>
              </a:ext>
            </a:extLst>
          </p:cNvPr>
          <p:cNvSpPr>
            <a:spLocks noGrp="1"/>
          </p:cNvSpPr>
          <p:nvPr/>
        </p:nvSpPr>
        <p:spPr>
          <a:xfrm>
            <a:off x="89344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Repeat</a:t>
            </a:r>
          </a:p>
        </p:txBody>
      </p:sp>
      <p:cxnSp>
        <p:nvCxnSpPr>
          <p:cNvPr id="128" name="Straight Arrow Connector 127"/>
          <p:cNvCxnSpPr>
            <a:stCxn id="55" idx="3"/>
            <a:endCxn id="60" idx="1"/>
          </p:cNvCxnSpPr>
          <p:nvPr/>
        </p:nvCxnSpPr>
        <p:spPr>
          <a:xfrm>
            <a:off x="84391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405441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D3D3BC9A-F390-44C8-B2DF-BCD6FC14BEE6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6D22DD-67A9-4FB2-9960-82DD2EDD33E9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9DD196-C923-40C5-88D1-6456F54F7986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ACD75-B1E7-476E-8A54-8E7CB6C1B58D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8B5E4-88D9-45C2-A15E-3EFFEFDD88DA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C91691-201F-4206-A302-42B7747C2A0E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C78247-7CE1-4FCC-90D1-FCB6322641ED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898B70-FBF8-499B-B106-BF449C96DA5C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2FB401-B12D-4217-8233-FA07C1422174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FC88AD-8D7D-4D75-8FA5-CACBF03F0FFE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E53EE4-8B09-40F5-978F-79775F97981D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2DE8AD-7695-472B-AEAF-99249467A2EE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F65C50-30C5-4B62-879B-C83C8DE182B8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406D06-8EA9-4957-86CF-D34DD956C61D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7B803-082A-498E-8219-D5306191EBF2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BBAD16-E951-4457-8252-E396BDD6911A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FB3BE0-8786-4500-AA1F-9629CEBDA412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85B29A-54DB-466F-93E3-E965C4EF3629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1068A-90E3-43D7-8F42-5CAA02365E93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6E2126-3428-488F-B84D-899822E5B9CC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C3AC9D-9549-4111-ADA6-529DBD1E5B99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704CCF-2781-48EE-83E1-A438100CA2AD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048E53-4DE4-4393-8FF1-214E4AB5A1A1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CAB81C-4FCD-42F1-A31F-A86C74C549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99CC2D-54D9-4078-A722-8620E38977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F6A3803C-BC38-422F-80BB-D7F534F24CD8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9BB09FD7-90FA-4C72-8FA3-F2FFC4DC4C8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DC4183-C1D3-4B14-AEF5-6A87B719299F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F4336E-01E8-4A67-B0E3-0C6526479FA7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BACDD1C-9EFC-4B94-9265-8ED4226CF6F4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FBFA9BE-C600-467E-AABE-15EE5101C77B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CD57550-02FF-4EF2-B7F5-45AB9ED1F4E7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AF5ACEC-0F83-4908-B576-0DD54A5BBAA7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8D2499-1BDA-4FD7-8041-127724145EA0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2AEBED-558D-4E0A-BD11-451FD92BDDC1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5BF680-5407-4BA3-A30F-FBC87C17815D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20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148A257-1630-4A2E-9256-ED21E2DC8E0A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54B63AB-AFAF-4404-B119-829EC4425CB5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83072C2-77C2-4E62-9F25-47BE421DD2B3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One slow step makes the whole product feel slow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D3B145-4D70-45D2-904D-24ABFE033147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76248A8-19C9-46B6-AED6-DFA9207593FA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10191750" cy="1790700"/>
          </a:xfrm>
          <a:prstGeom prst="roundRect">
            <a:avLst>
              <a:gd name="adj" fmla="val 7447"/>
            </a:avLst>
          </a:prstGeom>
          <a:solidFill>
            <a:srgbClr val="FFFFFF">
              <a:alpha val="72000"/>
            </a:srgbClr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5F5A1227-33FF-4438-A448-6221BEE20CF8}"/>
              </a:ext>
            </a:extLst>
          </p:cNvPr>
          <p:cNvSpPr>
            <a:spLocks noGrp="1"/>
          </p:cNvSpPr>
          <p:nvPr/>
        </p:nvSpPr>
        <p:spPr>
          <a:xfrm>
            <a:off x="1352550" y="3695700"/>
            <a:ext cx="9144000" cy="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F9FA39C-CDB0-47AD-B0BB-ACAF0B32D4A0}"/>
              </a:ext>
            </a:extLst>
          </p:cNvPr>
          <p:cNvSpPr>
            <a:spLocks noGrp="1"/>
          </p:cNvSpPr>
          <p:nvPr/>
        </p:nvSpPr>
        <p:spPr>
          <a:xfrm>
            <a:off x="1209675" y="3571875"/>
            <a:ext cx="247650" cy="247650"/>
          </a:xfrm>
          <a:prstGeom prst="ellipse">
            <a:avLst/>
          </a:prstGeom>
          <a:solidFill>
            <a:srgbClr val="2563EB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EACB453-11F4-4B89-A903-6B688D078E86}"/>
              </a:ext>
            </a:extLst>
          </p:cNvPr>
          <p:cNvSpPr>
            <a:spLocks noGrp="1"/>
          </p:cNvSpPr>
          <p:nvPr/>
        </p:nvSpPr>
        <p:spPr>
          <a:xfrm>
            <a:off x="57150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Button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BC28896-7BEF-482C-B2EF-3DD4C3822741}"/>
              </a:ext>
            </a:extLst>
          </p:cNvPr>
          <p:cNvSpPr>
            <a:spLocks noGrp="1"/>
          </p:cNvSpPr>
          <p:nvPr/>
        </p:nvSpPr>
        <p:spPr>
          <a:xfrm>
            <a:off x="57150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fast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3A47129-370F-4A10-B2B5-4FF95053A34D}"/>
              </a:ext>
            </a:extLst>
          </p:cNvPr>
          <p:cNvSpPr>
            <a:spLocks noGrp="1"/>
          </p:cNvSpPr>
          <p:nvPr/>
        </p:nvSpPr>
        <p:spPr>
          <a:xfrm>
            <a:off x="3448050" y="3571875"/>
            <a:ext cx="247650" cy="247650"/>
          </a:xfrm>
          <a:prstGeom prst="ellipse">
            <a:avLst/>
          </a:prstGeom>
          <a:solidFill>
            <a:srgbClr val="07844A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05BC509-63C6-420F-A420-871A96D70FE5}"/>
              </a:ext>
            </a:extLst>
          </p:cNvPr>
          <p:cNvSpPr>
            <a:spLocks noGrp="1"/>
          </p:cNvSpPr>
          <p:nvPr/>
        </p:nvSpPr>
        <p:spPr>
          <a:xfrm>
            <a:off x="2809875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Sensor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499D442-03A4-48E2-BF63-B6A5812EA7D6}"/>
              </a:ext>
            </a:extLst>
          </p:cNvPr>
          <p:cNvSpPr>
            <a:spLocks noGrp="1"/>
          </p:cNvSpPr>
          <p:nvPr/>
        </p:nvSpPr>
        <p:spPr>
          <a:xfrm>
            <a:off x="2809875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676FE27-795F-4DB7-AA17-D8E83067D175}"/>
              </a:ext>
            </a:extLst>
          </p:cNvPr>
          <p:cNvSpPr>
            <a:spLocks noGrp="1"/>
          </p:cNvSpPr>
          <p:nvPr/>
        </p:nvSpPr>
        <p:spPr>
          <a:xfrm>
            <a:off x="5686425" y="3571875"/>
            <a:ext cx="247650" cy="247650"/>
          </a:xfrm>
          <a:prstGeom prst="ellipse">
            <a:avLst/>
          </a:prstGeom>
          <a:solidFill>
            <a:srgbClr val="E11D48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60B417C-EA62-43D6-B159-9F1EE6DFF4A8}"/>
              </a:ext>
            </a:extLst>
          </p:cNvPr>
          <p:cNvSpPr>
            <a:spLocks noGrp="1"/>
          </p:cNvSpPr>
          <p:nvPr/>
        </p:nvSpPr>
        <p:spPr>
          <a:xfrm>
            <a:off x="504825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delay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3F9A2A5-BC6C-493D-8A02-91326B324ACE}"/>
              </a:ext>
            </a:extLst>
          </p:cNvPr>
          <p:cNvSpPr>
            <a:spLocks noGrp="1"/>
          </p:cNvSpPr>
          <p:nvPr/>
        </p:nvSpPr>
        <p:spPr>
          <a:xfrm>
            <a:off x="504825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blocks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E51E55A-C5DF-4A29-BA34-C0B20F1C7456}"/>
              </a:ext>
            </a:extLst>
          </p:cNvPr>
          <p:cNvSpPr>
            <a:spLocks noGrp="1"/>
          </p:cNvSpPr>
          <p:nvPr/>
        </p:nvSpPr>
        <p:spPr>
          <a:xfrm>
            <a:off x="7924800" y="3571875"/>
            <a:ext cx="247650" cy="247650"/>
          </a:xfrm>
          <a:prstGeom prst="ellipse">
            <a:avLst/>
          </a:prstGeom>
          <a:solidFill>
            <a:srgbClr val="F97316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9950E61-6C82-4C91-B5CE-9176F98F10FE}"/>
              </a:ext>
            </a:extLst>
          </p:cNvPr>
          <p:cNvSpPr>
            <a:spLocks noGrp="1"/>
          </p:cNvSpPr>
          <p:nvPr/>
        </p:nvSpPr>
        <p:spPr>
          <a:xfrm>
            <a:off x="7286625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LCD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333C4B9-8C08-4B49-8D80-40A63FA279EC}"/>
              </a:ext>
            </a:extLst>
          </p:cNvPr>
          <p:cNvSpPr>
            <a:spLocks noGrp="1"/>
          </p:cNvSpPr>
          <p:nvPr/>
        </p:nvSpPr>
        <p:spPr>
          <a:xfrm>
            <a:off x="7286625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late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223CC16-7137-4F6A-8632-AB4B1EFF6BAE}"/>
              </a:ext>
            </a:extLst>
          </p:cNvPr>
          <p:cNvSpPr>
            <a:spLocks noGrp="1"/>
          </p:cNvSpPr>
          <p:nvPr/>
        </p:nvSpPr>
        <p:spPr>
          <a:xfrm>
            <a:off x="10163175" y="3571875"/>
            <a:ext cx="247650" cy="247650"/>
          </a:xfrm>
          <a:prstGeom prst="ellipse">
            <a:avLst/>
          </a:prstGeom>
          <a:solidFill>
            <a:srgbClr val="475467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4E934BA-AAE9-47B8-B24A-DBC2A88375EA}"/>
              </a:ext>
            </a:extLst>
          </p:cNvPr>
          <p:cNvSpPr>
            <a:spLocks noGrp="1"/>
          </p:cNvSpPr>
          <p:nvPr/>
        </p:nvSpPr>
        <p:spPr>
          <a:xfrm>
            <a:off x="952500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Buzzer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0A80CF1-5065-4CF0-AC6E-D54778255EA6}"/>
              </a:ext>
            </a:extLst>
          </p:cNvPr>
          <p:cNvSpPr>
            <a:spLocks noGrp="1"/>
          </p:cNvSpPr>
          <p:nvPr/>
        </p:nvSpPr>
        <p:spPr>
          <a:xfrm>
            <a:off x="952500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late</a:t>
            </a:r>
          </a:p>
        </p:txBody>
      </p:sp>
    </p:spTree>
    <p:extLst>
      <p:ext uri="{BB962C8B-B14F-4D97-AF65-F5344CB8AC3E}">
        <p14:creationId xmlns:p14="http://schemas.microsoft.com/office/powerpoint/2010/main" val="995778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6F40F618-E26E-410F-B654-7EF82C448923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28DA85-A621-40B6-9771-CA9C636DA2EA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101225-2E30-4DF5-B617-59AEC87E1FC2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95EF15-AA0C-4231-8C17-F405E7275F17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D51292-CE21-4539-9F63-C9FFABE9B759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F98047-16A5-480B-9647-9299194F5EFA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586084-9DC5-4BC0-8BE4-A8018E385C6A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E09D61-E362-4008-A43A-ADCA420741C4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BC8FCD-5EF5-4897-961E-A6620B154E13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CBF6AD-B4E2-4E1E-9941-EE29D49B9C89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FC6CFF-CD1B-4B11-9572-13CE4DE358F4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007B31-4F43-441C-B945-8661D431C756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D44EBB-D5C3-49C1-97E4-738F1CB1D0F9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43ECC-05F5-43B3-A740-9E33FDA3C75E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7D1F97-6822-4445-AFE2-56BD7A597646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E6D80B-50B1-421F-8654-14D9CF38DC2B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B4F6E3-0BC0-43AF-9A5E-2BEDB3B96BFD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05CE53-4498-4EF7-AB10-1C67FD590448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7D650C-2B3A-4E59-BC8B-73F993F3CE60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A87185-7BAF-445F-BD03-D82BE1BC6C9B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37C8D8-F0B4-4786-954D-0384603E6769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9354AC-B5FB-4DE0-9511-4E806B198F9A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A506E9-7181-4548-BCC0-25145901F169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2AC017-DDBB-446C-9A46-F328B1A1E3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DC1D1F-74FD-45DD-921C-D0B9E1871A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BA206A15-4517-4C8B-B922-A1CE9F494B4E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18E0EE5A-376F-4430-9695-594C61D0B7FB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354697-1D28-47C0-B750-FC6B71045262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F606A31-691E-40B0-BA0D-E211695D4585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B89A30D-7460-49A7-B11A-AAA36EDFFA5D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5AAFD73-F8BE-4075-A583-5FF1B52D6A33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6CF07F3-E24D-4F5D-8BB6-70F4580D6634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BE25A22-CE4E-433A-B29A-B6982E44803A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 w="11430">
            <a:solidFill>
              <a:srgbClr val="E11D4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B889AD-3829-43F9-B415-CCBC918AC2C3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76874B1-E6B7-4698-BFF4-CD27671E1527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E90E8E-62A7-48A0-8E09-F64E23B0D372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21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1EC06FA-C7E2-4DD8-8299-B9E55475F981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ED4B2D2-CB82-446A-B16F-0FF15A1FE03F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E506289-8B9B-41FA-8E69-978298DFD6EF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Superloop code grows by accident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DB30B4-5AF0-4CF5-9A33-BA716890CD40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37EC01B-AFF1-450D-9C37-75FC0AB311E7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FFF1F2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242F3BA-F397-443E-8A17-3CD84164F46C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ECFDF3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09C5CE1-45F8-4D48-912D-788FFB0B3B19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953000" cy="762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BE00470-2EDC-4687-9CED-4C15ED425DCD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4953000" cy="762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B2FB686-828A-4AE8-AD3C-F501045CCFD8}"/>
              </a:ext>
            </a:extLst>
          </p:cNvPr>
          <p:cNvSpPr>
            <a:spLocks noGrp="1"/>
          </p:cNvSpPr>
          <p:nvPr/>
        </p:nvSpPr>
        <p:spPr>
          <a:xfrm>
            <a:off x="1143000" y="24288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superloop.ino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525A0CD-3EC3-4A30-BAE1-7AB1F4590EC9}"/>
              </a:ext>
            </a:extLst>
          </p:cNvPr>
          <p:cNvSpPr>
            <a:spLocks noGrp="1"/>
          </p:cNvSpPr>
          <p:nvPr/>
        </p:nvSpPr>
        <p:spPr>
          <a:xfrm>
            <a:off x="6705600" y="24288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structured firmware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6C38024-90E8-4062-A7F7-D56B774B8346}"/>
              </a:ext>
            </a:extLst>
          </p:cNvPr>
          <p:cNvSpPr>
            <a:spLocks noGrp="1"/>
          </p:cNvSpPr>
          <p:nvPr/>
        </p:nvSpPr>
        <p:spPr>
          <a:xfrm>
            <a:off x="1190625" y="3000375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One function owns everything</a:t>
            </a:r>
          </a:p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Timing logic is scattered</a:t>
            </a:r>
          </a:p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Long delays break responsiveness</a:t>
            </a:r>
          </a:p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Hard to test one behavior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8BD77C9-7492-41B9-9A59-C7DCE658E55D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Jobs are separated</a:t>
            </a:r>
          </a:p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Timing belongs to tasks or timers</a:t>
            </a:r>
          </a:p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Events wake the right worker</a:t>
            </a:r>
          </a:p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Modules are easier to reason about</a:t>
            </a:r>
          </a:p>
        </p:txBody>
      </p:sp>
    </p:spTree>
    <p:extLst>
      <p:ext uri="{BB962C8B-B14F-4D97-AF65-F5344CB8AC3E}">
        <p14:creationId xmlns:p14="http://schemas.microsoft.com/office/powerpoint/2010/main" val="1745536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D84C68AF-4667-47ED-A8AE-82238CE64CDD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74CADE-0ABF-4A88-8094-BFD0C451957C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883779-2CB6-4C90-8205-9825669FD182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0FDA30-4367-4316-9792-39340B1AB238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1F6538-535C-41CE-8166-DB6DC7EB4890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CAA051-FD2B-47A4-823F-A44AB619D44E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A97045-0218-4DAF-A89B-90B27F8603A1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9B98D7-77A5-4390-9DA5-B0BD5857430E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C39162-2BA0-4909-A6FA-D6BB767E7174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53B2C4-C2CF-4451-83B6-B899E9074090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1C590C-63BE-4569-BC2B-47B6DC320AD0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751343-CB75-4927-BA44-8E78150C33D0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7275EC-C719-49DB-9CFC-248E1D1ADF0B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C6AE05-CBB6-44CC-B9D7-F39CDADAE50A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AABF36-91A3-45F5-AFF4-98182A2A8F67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7597C6-FEB6-4F30-B46D-EA20A5F709CD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15417D-7E95-4700-B3B4-4C47379A8444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AE7B25-9C7D-4999-9D7E-737D7C1EFC22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7EA29C-76F3-47AF-A12C-C893C905A570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0B7827-C8CB-4057-867C-6F2AD28E6525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B64597-6F55-4B55-B76F-031AAFE4C728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774953-4A7D-4FE3-AB36-18C8699DBDC3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A164C8-A07F-4B22-A41E-1C9B5763AD70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A8E0DE-5751-4311-894F-E7B8506245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4211A7-308C-44B2-80F2-B210A4E332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890C05A9-7FC5-4B5F-A4E9-BEF28535B5AB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246FCC9C-2C3A-4F15-BE9B-4F636978089C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0973BE-AC1D-485C-8F98-F35216724CF8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4FAA96-0633-45BF-A8B9-276B6B4F80F2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C0E9679-EC18-469D-8FA0-6C96C5AB8994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62BC767-F4BC-4D0A-828B-E9D7DAB23896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F22F0A1-0027-48B4-A47B-2D16B4E191B7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534CBF1-40BF-4CC7-9D64-DE73C7510B5F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000CF4-D1DB-4967-9BEC-8B12AF81722E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F1F6E11-AA34-4773-AC0B-62AE5818B2C8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DCC9A1-9791-41D7-B00D-21E824357841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22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4E3CBD8-7DB4-411E-8E43-95989917B90F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E3DE345-13EA-413C-A026-47D9EE110800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96D76DF-7A44-457D-9A2E-2FE79CE34B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2911E7C-BA75-4FFA-A67D-0A653AD9B78D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7D0F3F-8009-43C2-86D8-EA37328B4CBF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BC0AFCE-C4CD-4317-A149-B4A31B6B320B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Find the blockers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886CB8C-664F-43C2-ACA0-375B39685725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E1CD8E7-1D75-4833-BF5B-64406AE29463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234B9C7-9E03-4981-939C-7790C74400D5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3091F9F-97A7-457F-8A15-6EBABE08EBF3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CFAEA12-C4CE-42A2-97AD-6DCD0DAA5680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06B87A1-4856-4EE5-8942-FAD532F7F7D7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Mark where a loop-based sketch can miss an event.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752B61A-5732-4A2E-8EDC-D008320CA9AC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08D93D2-26D2-44BC-943B-BC8542DEFCD5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Run a blocking loop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Press the button during delay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Circle slow lines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Replace one delay with millis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FAD0950-8765-493C-8FD9-0F43972576BA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1E0E7F2-31CE-478F-90F8-92102FBB2C08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 list of blocking points.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2129EDD-5136-489A-B425-4748F772DEEC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F6A1C98-0426-4B46-9B9E-3BDB647509BD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Which line would fail first in a real product?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B2C9421-5D8D-4D72-9C04-DA2EC1037590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6A2F6F04-946E-453E-B9FF-A80AF1567AF3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E198E13-2ED2-49C5-9DEB-E167F67D2D3D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Existing sketch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Serial Monitor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Button</a:t>
            </a:r>
          </a:p>
        </p:txBody>
      </p:sp>
    </p:spTree>
    <p:extLst>
      <p:ext uri="{BB962C8B-B14F-4D97-AF65-F5344CB8AC3E}">
        <p14:creationId xmlns:p14="http://schemas.microsoft.com/office/powerpoint/2010/main" val="1935416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7EF0119-9955-4EF5-BC48-46A189CC29A9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ECBEBB-658B-42CE-BC2A-6CFC8663B616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EA63D1-6B9F-44D4-83DF-640A8D526F31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AE4D01-29C8-48E1-9104-006214D39883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8BCB8C-89AC-4657-B2D5-B74AFAFB188E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C0DF6D-4879-4021-A87B-9891E9B3BDF6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4FE391-16FC-4FDE-BA08-BE7ADF16ADA5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6396F4-ECCB-4FF4-8A04-F66C0DF54432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22108F-4687-4148-90EF-A014EE84655F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4CC489-7F1F-4D94-BFD4-097344630B93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C82500-DEBD-4A37-AA86-BAE65617EBFA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B5597D-87B2-49A4-AF22-AC444E611F2C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23F7C2-84B9-4FC2-BD03-0D7B0E55E92B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7003C1-BA7A-4214-83EA-C1DBF394F87B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78909A-3B07-4139-ADE9-E6DB2C4BFACA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0D8F8D-BB4E-4D21-A4C8-74732F348E64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62C1D8-8BC8-45A1-ACF0-55C41A6508E7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26EDAB-C777-4AE8-AA03-597F1B02922D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EC96AC-0FA6-4463-92B1-22F73ABAAB99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E80550-1907-4C4C-A5D5-3D66EF413282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36413C-0FBF-48A5-A06E-9A5249F68E99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3DF2BD-08A3-4ED7-AE0E-FF3F72A2ADC5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FB8AE1-C303-423E-9E96-138A8F2339B6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7FC664-E5B2-4086-BB17-D8FD4C12DA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284E5A-F588-4F9D-A858-3C23F144E3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7F639BB3-27AA-4493-A666-82BB0D64FDA4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0CAAA287-8692-4015-89F8-2E1AD9C805C4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F941B5-4583-45F1-910B-3ED1E4A9A669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49FA98-373D-4ABB-86C6-09C60FD70658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8E6C102-4505-41DF-8311-6FC026DA0890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1B16A70-63DB-4EBF-8BA3-9C577F4A2849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96BF4BE-DD47-4779-BECA-8729128E45C4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B069FAC-906D-4936-B699-5915EBD0BB95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604399-60ED-4D91-BA42-9A6D9EEDD5C0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EF25B31-77A4-4FBF-AC98-51C621AF2D28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5D32B5A-458F-45C9-9679-39F8816DE9EB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23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FB47C7F-8FEA-4AF0-919C-D499EBDDFB2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5E415FD-E55F-477A-98D8-31F7415846B1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F76256A-EB87-40AC-9B68-7A5F2ADE3909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0382250" cy="3905250"/>
          </a:xfrm>
          <a:prstGeom prst="roundRect">
            <a:avLst>
              <a:gd name="adj" fmla="val 4390"/>
            </a:avLst>
          </a:prstGeom>
          <a:solidFill>
            <a:srgbClr val="0F1D2E"/>
          </a:solidFill>
          <a:ln w="11430">
            <a:solidFill>
              <a:srgbClr val="0F1D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F5D8879-49FB-4D43-BD83-6727F2A26060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52400" cy="39052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A66ACD1-423D-490B-BE08-DAE0D3651965}"/>
              </a:ext>
            </a:extLst>
          </p:cNvPr>
          <p:cNvSpPr>
            <a:spLocks noGrp="1"/>
          </p:cNvSpPr>
          <p:nvPr/>
        </p:nvSpPr>
        <p:spPr>
          <a:xfrm>
            <a:off x="1257300" y="1543050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7B71DED-533E-4AFB-B272-655D15C55D04}"/>
              </a:ext>
            </a:extLst>
          </p:cNvPr>
          <p:cNvSpPr>
            <a:spLocks noGrp="1"/>
          </p:cNvSpPr>
          <p:nvPr/>
        </p:nvSpPr>
        <p:spPr>
          <a:xfrm>
            <a:off x="1485900" y="1543050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D7143AB-C0AB-4C3A-A1A1-1269113E6458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B7ADA0-1C79-4B77-8BA5-5888DA56CBFB}"/>
              </a:ext>
            </a:extLst>
          </p:cNvPr>
          <p:cNvSpPr>
            <a:spLocks noGrp="1"/>
          </p:cNvSpPr>
          <p:nvPr/>
        </p:nvSpPr>
        <p:spPr>
          <a:xfrm>
            <a:off x="1257300" y="20383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rPr>
              <a:t>MODULE 02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7B22067-C05E-41B6-96B2-45DB53DBE9F4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809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Need for RTOS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C3CCE7C-8397-4247-889F-996E8E5DFB52}"/>
              </a:ext>
            </a:extLst>
          </p:cNvPr>
          <p:cNvSpPr>
            <a:spLocks noGrp="1"/>
          </p:cNvSpPr>
          <p:nvPr/>
        </p:nvSpPr>
        <p:spPr>
          <a:xfrm>
            <a:off x="1257300" y="38481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// when one loop is no longer enough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66C0713-65FF-4BBC-A613-BDA0205FEFCF}"/>
              </a:ext>
            </a:extLst>
          </p:cNvPr>
          <p:cNvSpPr>
            <a:spLocks noGrp="1"/>
          </p:cNvSpPr>
          <p:nvPr/>
        </p:nvSpPr>
        <p:spPr>
          <a:xfrm>
            <a:off x="8953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NEXT_MODULE</a:t>
            </a:r>
          </a:p>
        </p:txBody>
      </p:sp>
    </p:spTree>
    <p:extLst>
      <p:ext uri="{BB962C8B-B14F-4D97-AF65-F5344CB8AC3E}">
        <p14:creationId xmlns:p14="http://schemas.microsoft.com/office/powerpoint/2010/main" val="2050842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029090F7-AAB8-4512-8824-532DF04880B6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F45166-8DCA-4C27-9010-B1A556C4BA6C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8C5ED6-45D5-4DD4-B79F-DD48354554B1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51BA34-3BE3-4252-A254-1796AE31408D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34E1FB-6649-4FEA-89BE-CDB3C447E3CB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1AA352-F928-4E72-B2BF-C908A1276AFD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0FD53E-DC1A-4FAD-84A6-DB5FB7BD6496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A27F0E-FED6-4B05-892F-582048592A8D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E7EF04-AE61-4C63-91DF-84D8868989A6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2A5F58-9CE5-49AC-A4D5-FFE08F2012A5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7C0182-190F-4602-87A1-FF8B1854E73B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A15437-2B1E-426E-B8B1-FB52F887D95B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34888C-4004-49D6-89C8-4E699DC28A28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1A450A-8167-4CAE-AB2A-2A57F29E8A2A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3F978E-DEF9-4B31-B95B-4E6095E10A96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424597-347A-40BA-B1FB-B99C16B1AD37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DB578B-D801-4AD1-88B7-D2773A6A3EDB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2CEF7B-1547-40F9-A3AE-C6E29D8A752A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B1007-C888-4615-B477-91157F787F78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8367D4-5B74-4534-91AF-7AF7BE44D548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44CF21-F68E-4083-8F5B-0CDA02C319AC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FE6E8-C9C2-4A0E-8E56-568755600B54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2025E3-DC61-4A4B-AC89-DD91615F51B2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C89656-AA29-4EF3-AAB1-A9D14285BC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C619C5-2DB1-47D0-93FF-6C73C56C82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AC330CD4-95FB-49B5-BE6D-8D5BA6425164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2494A7C0-4902-4EC0-BB13-E1B9D7EC6E95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3C962D-C2A1-4FF4-8336-DB9B37ACF794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649261-E5FD-4C15-A48F-D087CCECE83F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A0D9460-71D3-41DA-9BF8-1DAC80284B62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EDF52E8-A3D4-47B3-8E8A-902524ACE4F3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7BCD062-E34E-458B-B9EF-1F90BE00F199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FE3A36F-943D-48C0-95D6-C3347654C3A0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83CE528-F128-4FA3-84D9-9BD649713000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C56FE7-F83A-45F8-BD45-8D366DF50851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934835-7EE8-4F4E-8F1C-5AE241EF7C69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24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C522CA6-A46A-4DCD-9A8F-310205771C9C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34D14AD-EA0D-4CA8-A5DF-671D4392D3E9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EBF0A7A-C797-4C29-8071-C50D34BD367B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RTOS gives each job a place to run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A05ACF7-F7C2-4ABE-AE79-10F5569F0526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C5FF186-F9E4-4A45-88DF-E9742DB0FED0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F069ACA-15AE-4131-AD1C-DF0F0D08EB6C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9AE5962-F367-454E-B927-F123BE620FE2}"/>
              </a:ext>
            </a:extLst>
          </p:cNvPr>
          <p:cNvSpPr>
            <a:spLocks noGrp="1"/>
          </p:cNvSpPr>
          <p:nvPr/>
        </p:nvSpPr>
        <p:spPr>
          <a:xfrm>
            <a:off x="11049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BB7A02D-D6EC-4C7B-A4B5-9DDE232F3FC8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 named worker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F1ADEDC-EE9C-431C-9317-CE63863A51CA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DABF5F3-01C1-4ABD-9219-3F5E3A979FAC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6DA4FFE-B4A3-42F3-A817-CD9E6BAE49B1}"/>
              </a:ext>
            </a:extLst>
          </p:cNvPr>
          <p:cNvSpPr>
            <a:spLocks noGrp="1"/>
          </p:cNvSpPr>
          <p:nvPr/>
        </p:nvSpPr>
        <p:spPr>
          <a:xfrm>
            <a:off x="38481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844A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25468CF-D5E2-4EBC-B52A-4AC28B4485B0}"/>
              </a:ext>
            </a:extLst>
          </p:cNvPr>
          <p:cNvSpPr>
            <a:spLocks noGrp="1"/>
          </p:cNvSpPr>
          <p:nvPr/>
        </p:nvSpPr>
        <p:spPr>
          <a:xfrm>
            <a:off x="38481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Chooses who runs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9E2A20E-82BF-4B7E-8DBD-F860B4CB49DA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5BBFCEF-93E8-4F2B-8136-478DFB61BA79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898B27-923B-4D65-B8B9-E3C3F0E28B25}"/>
              </a:ext>
            </a:extLst>
          </p:cNvPr>
          <p:cNvSpPr>
            <a:spLocks noGrp="1"/>
          </p:cNvSpPr>
          <p:nvPr/>
        </p:nvSpPr>
        <p:spPr>
          <a:xfrm>
            <a:off x="65913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Delay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6CB9FA9-45CF-4D8C-BA61-09FE70C38CFB}"/>
              </a:ext>
            </a:extLst>
          </p:cNvPr>
          <p:cNvSpPr>
            <a:spLocks noGrp="1"/>
          </p:cNvSpPr>
          <p:nvPr/>
        </p:nvSpPr>
        <p:spPr>
          <a:xfrm>
            <a:off x="65913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Yields the CPU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53B61C9-A74C-4FE3-8443-B2DD3A5F2509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084B36A-1CC0-494D-952B-6CEEF19831BF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5DA49E4-1AC9-4F1F-AA7E-35015AA6EA20}"/>
              </a:ext>
            </a:extLst>
          </p:cNvPr>
          <p:cNvSpPr>
            <a:spLocks noGrp="1"/>
          </p:cNvSpPr>
          <p:nvPr/>
        </p:nvSpPr>
        <p:spPr>
          <a:xfrm>
            <a:off x="93345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Sync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20D6D0D-E03B-4EDB-B554-F698FEEF7A67}"/>
              </a:ext>
            </a:extLst>
          </p:cNvPr>
          <p:cNvSpPr>
            <a:spLocks noGrp="1"/>
          </p:cNvSpPr>
          <p:nvPr/>
        </p:nvSpPr>
        <p:spPr>
          <a:xfrm>
            <a:off x="93345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Coordinates events</a:t>
            </a:r>
          </a:p>
        </p:txBody>
      </p:sp>
    </p:spTree>
    <p:extLst>
      <p:ext uri="{BB962C8B-B14F-4D97-AF65-F5344CB8AC3E}">
        <p14:creationId xmlns:p14="http://schemas.microsoft.com/office/powerpoint/2010/main" val="2061065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08BCBDFE-9BA0-4303-B106-48B4C814FE6C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7121C5-CCC3-4FF1-94D8-6CDD7B482033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4F77A7-1282-476B-B8AD-D5EE15A297F3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3CDE38-9394-482E-A85D-710EC145214F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784680-658B-4E60-84CB-6D4906C3FEB3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465B44-8879-4033-87E9-5A62892AAFA9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DC665E-34EF-424F-9870-C645F9395539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6B6742-904B-4538-BE82-F3FAFFA477A0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C60536-3B11-4658-823C-AE6A37C8F394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A8FA92-49C3-4C4C-AC81-F75878A4A4A6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1729F6-CF2A-4DDE-B12D-D101CE4CD213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B18BD3-F9FB-4A04-B446-7D66F20D085E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7402-F917-4EF2-96B6-943A150F08CF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309956-1C81-4831-83B2-0D7FD5A997A2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0F44E8-4E8B-4070-AC13-6F2B697C0D43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FE970C-29B2-4B3D-993C-A10EFCAF74C2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A1EBDD-71AC-4511-9DC1-E683EA9C4476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E1F546-164F-4B6E-8DF0-CB3A3820E3E1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D6CEC8-C646-4435-8990-B75A206A1EAC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D4C22-1BCB-4C79-A0F0-C7BE141D1CFA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5ABA57-DBBB-4A7A-97DA-E27DF6497373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48AAE6-D681-4A46-886B-80F1E5670D23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C7C4BC-73E3-41C3-9BBF-462EDB3F0070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092972-A135-4084-B67F-D9572D8CE8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504F78-0993-4445-8E56-DBF6E600B8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7F3F6349-6B3E-4180-ABD4-2ED79FDC7747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B2EF3059-30A9-454C-83C0-8FFF0138F5E4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7AF8320-B1AF-4590-8678-5AD883E2CDBB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022851-02DC-45E1-8587-DA24A9686218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8CC0D8B-BBFB-4953-BB6B-31C1C326B00E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D8400EF-39D3-4440-A4E9-E37F1D7F33F4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C023E50-2399-4CC5-8365-E3C1D511448D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29FE60B-D740-4F53-B498-CE7BA21E802F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0C5094-9CDE-4653-A28B-0E96EF867844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0BA4D7-B72B-44BD-A062-CA43BE0DCEE5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CE5575E-8704-4584-85B2-405003ACBFC5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25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F3C5C54-0477-43F6-96F8-865688E6E5E0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985E2AB-28C7-47BC-AE9A-55DFDE1AEA82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A4FC454-D6A5-4FC9-BCE7-2FA994DF73F3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Concurrent does not always mean parallel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E850FB0-E2C8-4757-87B2-DAE1FC6C0373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F450E78-BEBB-479D-AA9B-252FF5ED23F2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FFF1F2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AAD9D8D-8D30-4A33-B8BB-C23A5E644F8E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ECFDF3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16B4AB5-E336-4302-9254-3BD8C2CFC95E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953000" cy="762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02C84D5-349D-43AA-8FE1-4ABD8268F9F5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4953000" cy="762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B55BED2-7091-4F40-A735-A74BFF5EC2EE}"/>
              </a:ext>
            </a:extLst>
          </p:cNvPr>
          <p:cNvSpPr>
            <a:spLocks noGrp="1"/>
          </p:cNvSpPr>
          <p:nvPr/>
        </p:nvSpPr>
        <p:spPr>
          <a:xfrm>
            <a:off x="1143000" y="24288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Concurrent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A7CE022-246F-4C0B-A935-87870C68E3AB}"/>
              </a:ext>
            </a:extLst>
          </p:cNvPr>
          <p:cNvSpPr>
            <a:spLocks noGrp="1"/>
          </p:cNvSpPr>
          <p:nvPr/>
        </p:nvSpPr>
        <p:spPr>
          <a:xfrm>
            <a:off x="6705600" y="24288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Parallel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1C1032-DFA2-4EC9-A1E3-A2F9DCA56207}"/>
              </a:ext>
            </a:extLst>
          </p:cNvPr>
          <p:cNvSpPr>
            <a:spLocks noGrp="1"/>
          </p:cNvSpPr>
          <p:nvPr/>
        </p:nvSpPr>
        <p:spPr>
          <a:xfrm>
            <a:off x="1190625" y="3000375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Many jobs make progress</a:t>
            </a:r>
          </a:p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Can happen on one core</a:t>
            </a:r>
          </a:p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Scheduler switches between tasks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55A6F5D-CC1A-432D-91DA-B9DF4A7BB7F7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Jobs run at the same instant</a:t>
            </a:r>
          </a:p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Needs multiple cores</a:t>
            </a:r>
          </a:p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Still needs shared-resource rules</a:t>
            </a:r>
          </a:p>
        </p:txBody>
      </p:sp>
    </p:spTree>
    <p:extLst>
      <p:ext uri="{BB962C8B-B14F-4D97-AF65-F5344CB8AC3E}">
        <p14:creationId xmlns:p14="http://schemas.microsoft.com/office/powerpoint/2010/main" val="1199835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829A132B-3B20-491B-8939-F077A004DB9D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58418A-99BB-4602-AA10-A761994FFD39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3148DC-E16E-4A4D-975E-A031D130D397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0FFE1B-5368-4E41-8F27-08BD024BA0B0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430793-3C48-4A1E-BB13-2D8E7DC16216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C7884F-7DF4-43F4-925B-B9D26D25BD30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E54D15-3C11-40E3-8FFD-CF9F0E58E3E9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33A9F7-9F2B-426D-BBFE-12F54EDD3D16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C4286E-9525-45F4-AE61-BA88453812AB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DAEAF-C6BF-425B-AA08-ED78196DB00F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83D27C-9521-4F93-B499-8B457C5FFB7E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F3B5CE-252F-410B-BB5B-BF1A305F89A3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9B1444-1C95-45B9-927D-1C543722DF82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2EB6B-DE80-498A-8FFD-E18FB921329A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C38C34-7FA2-4CFD-87A5-FE2C8FF41842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8EAB79-FEE9-4E3E-91E9-A9FEBFB24BE3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815687-D962-450B-A8CE-7025045E340C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CE0365-EE1B-49A3-A48F-543EDC44DB2D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82AF30-1BEB-49A3-ADF3-6FDC7A22B382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BF02F5-8270-4B6D-9543-6CABD9F778B8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370D19-1DCC-4D21-A6A9-EC59D0EA6031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653735-2876-4927-814D-1BADF7A15D66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CAC3AA-4B64-4425-B347-CEB5CFA86231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6695F5-CAA1-4C9E-BBC2-C31AEDF22F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F64298-01EE-49B9-AABF-32811CDD9B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45FDBBB9-1BC9-49AB-8A21-7D85837171A4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C928EAEC-67E9-4578-A33E-7C154B3BF9B1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068ADB-4077-4A8A-8411-1E93D987854D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97B17D-4D7D-474D-9B7B-E49D202DC7FF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5073E54-3C7C-4682-9143-28B4BFE77F7B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9716113-972A-45F8-8E6F-58BB0E4F51A4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87FC894-A159-4450-AC6D-AF78D9DDBBE6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4B78687-1981-4A16-9E8E-43AE1C455ECE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DB9B5E2-438F-4709-91B3-C56B4BBEF66C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E06373-03A6-4CF4-BBE0-D7433D6C0252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62C2C78-C2CE-469F-A000-B71D16A06B20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26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0FAE1F1-0B60-48F1-92B0-82941D529AD5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DD17655-6FC5-4DD2-92EF-125AA444EAF0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F76395-0C26-41E2-BFB8-01A658700223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Real-time means predictable enough for the job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76690E9-81D9-4061-B20C-23C53A86060A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739EB98-E684-4174-99EE-1EB09BC4772E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9F5823C-637A-4234-81B7-A2135A7DE17B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67007A7-DBB9-45EB-BF34-CFB4266F4D00}"/>
              </a:ext>
            </a:extLst>
          </p:cNvPr>
          <p:cNvSpPr>
            <a:spLocks noGrp="1"/>
          </p:cNvSpPr>
          <p:nvPr/>
        </p:nvSpPr>
        <p:spPr>
          <a:xfrm>
            <a:off x="11049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Deadline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96A321C-2886-44E8-878D-1F06ADD203F8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When output must happen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B96A09B-7589-4368-B0B0-E71FEE65A81C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7BE7109-D816-4113-AF89-0445290051D6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3F83B0D-90B6-4AA9-814B-120B37957064}"/>
              </a:ext>
            </a:extLst>
          </p:cNvPr>
          <p:cNvSpPr>
            <a:spLocks noGrp="1"/>
          </p:cNvSpPr>
          <p:nvPr/>
        </p:nvSpPr>
        <p:spPr>
          <a:xfrm>
            <a:off x="38481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844A"/>
                </a:solidFill>
                <a:latin typeface="Aptos"/>
                <a:ea typeface="Aptos"/>
                <a:cs typeface="Aptos"/>
              </a:rPr>
              <a:t>Jitter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EA0510A-2775-4B2C-8555-F0543C6C7C81}"/>
              </a:ext>
            </a:extLst>
          </p:cNvPr>
          <p:cNvSpPr>
            <a:spLocks noGrp="1"/>
          </p:cNvSpPr>
          <p:nvPr/>
        </p:nvSpPr>
        <p:spPr>
          <a:xfrm>
            <a:off x="38481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Variation in timing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62B6128-4BD0-40F1-A782-60BDA6E2DA49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3FDE354-21AA-4673-8F4F-4F2D222BEC2D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68E4BF7-D1B2-4B3C-972E-4FDB8C4FC58A}"/>
              </a:ext>
            </a:extLst>
          </p:cNvPr>
          <p:cNvSpPr>
            <a:spLocks noGrp="1"/>
          </p:cNvSpPr>
          <p:nvPr/>
        </p:nvSpPr>
        <p:spPr>
          <a:xfrm>
            <a:off x="65913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Priority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A40BA6F-D973-4B53-8DA2-ABA7C432818F}"/>
              </a:ext>
            </a:extLst>
          </p:cNvPr>
          <p:cNvSpPr>
            <a:spLocks noGrp="1"/>
          </p:cNvSpPr>
          <p:nvPr/>
        </p:nvSpPr>
        <p:spPr>
          <a:xfrm>
            <a:off x="65913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Who matters first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89F4966-9637-469A-A02C-FF3B76605629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85490CD-5E7D-4C80-9B37-4B037651F457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91E448B-37D8-4B46-A53F-C33369A55377}"/>
              </a:ext>
            </a:extLst>
          </p:cNvPr>
          <p:cNvSpPr>
            <a:spLocks noGrp="1"/>
          </p:cNvSpPr>
          <p:nvPr/>
        </p:nvSpPr>
        <p:spPr>
          <a:xfrm>
            <a:off x="93345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Determinism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950100-FE3D-4CBB-AAA8-738E056DBBF0}"/>
              </a:ext>
            </a:extLst>
          </p:cNvPr>
          <p:cNvSpPr>
            <a:spLocks noGrp="1"/>
          </p:cNvSpPr>
          <p:nvPr/>
        </p:nvSpPr>
        <p:spPr>
          <a:xfrm>
            <a:off x="93345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Behavior you can reason about</a:t>
            </a:r>
          </a:p>
        </p:txBody>
      </p:sp>
    </p:spTree>
    <p:extLst>
      <p:ext uri="{BB962C8B-B14F-4D97-AF65-F5344CB8AC3E}">
        <p14:creationId xmlns:p14="http://schemas.microsoft.com/office/powerpoint/2010/main" val="369315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C053FE5-A48A-4848-ACE1-C02CBD27B7D2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8F3D21-C2F5-4156-B9E3-DF8EB5C37160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9759BC-833F-4052-A75A-AC142EAA54CD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144ABF-3539-49FD-B522-60F9479F62CD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FCF740-D602-46B5-9C87-5957FA6C48FA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CCB1F3-B899-4B15-87E3-E5F98368C2B7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6240C5-801B-43CA-BC67-F0E70D0853E2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BF2140-2CDC-43A8-BBE1-495705950DEF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D15151-25C7-4E54-82D8-D73E61C0BC8D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00E715-6FA9-4DA1-A9C9-EFC33A9BA195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C75F01-FE32-4881-A2D3-03D63F2D8B70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596210-6FA3-45DD-B89A-9CC137190F1E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14E6E1-37CD-4FE7-A1BE-8D937A0201C9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5AB5D3-6F46-4F8A-A534-3AF21278FA1D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9A2E56-0759-4B2A-B5B7-CDE44E82A64A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9F78D3-DF19-40D8-B68A-F95C75E00D01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1341C4-8D8F-4D3F-82EE-80C0128835CA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D2780E-52D4-41BA-8EBA-636814AC7FDB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46580F-D834-4890-A302-25B4C56F49F3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305700-1518-4B90-9697-990E53FA43D4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7D48DE-08FD-49D4-B7CC-FB39B82F1596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4C4EFD-417A-4F13-858F-E2B0E55E2587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722304-D156-4BB2-93BC-1C99BE8553E2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89F97A-5F2F-4C3F-B1E2-D69DE1FC91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E2026B-B4D2-47BD-8491-7F7EF7854F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3F356C40-6B6A-4F0A-8469-090E61F11F66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291089C8-4A23-4E2B-B54E-1928E3B00459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3E38C8-DFFF-4ABC-B51C-D503229FC11A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26BB03-F228-4BBA-B231-F4D42E000585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3BAA46C-C36E-4ECF-9442-36A085216C16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1F18FA5-34CE-4986-9D48-48EFAB2AC39F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F15D83C-B71B-4B24-942C-63AF1EFE2B2B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B27D48C-1525-426E-849E-80A6091ED8BA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F2F1D5-0C0E-4176-AC23-2A214F3DE1FF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3A1557-253B-4DC8-881A-ED4DDFCB0DC7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A83AAE7-CE4A-4E13-9146-1B1DAF5D7A49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27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31645BC-C159-4E1F-8DDA-7BD64F9AC31C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8C79311-29BE-4FAE-A1D3-E5316D5ABB87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F7901F1-7AFC-4AA2-A9AD-AAA743BB54F9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FreeRTOS is a small set of rules and queues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F98DD1F-E8EF-47A9-ADDE-9AD0A4E4B0F5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4512794-DFC5-46EB-BC26-17D71B82CD3F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BC4415B-8DE4-4730-83D0-28FA46490163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D4F47A5-83E1-4657-8195-04D52534C445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1B2033E-32D4-4293-93C1-2CCF251D8B0F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2BDE610-587A-4EC9-9E56-B2F4E98B1BB5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7AF6907-3F03-4D4C-89F5-0E20FCF29A07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CE7C116-0CB4-4DC7-B39E-C9C8259B021E}"/>
              </a:ext>
            </a:extLst>
          </p:cNvPr>
          <p:cNvSpPr>
            <a:spLocks noGrp="1"/>
          </p:cNvSpPr>
          <p:nvPr/>
        </p:nvSpPr>
        <p:spPr>
          <a:xfrm>
            <a:off x="29908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415C4CE-390E-4E14-A8B5-F725FCCE572E}"/>
              </a:ext>
            </a:extLst>
          </p:cNvPr>
          <p:cNvSpPr>
            <a:spLocks noGrp="1"/>
          </p:cNvSpPr>
          <p:nvPr/>
        </p:nvSpPr>
        <p:spPr>
          <a:xfrm>
            <a:off x="29908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cxnSp>
        <p:nvCxnSpPr>
          <p:cNvPr id="113" name="Straight Arrow Connector 112"/>
          <p:cNvCxnSpPr>
            <a:stCxn id="41" idx="3"/>
            <a:endCxn id="45" idx="1"/>
          </p:cNvCxnSpPr>
          <p:nvPr/>
        </p:nvCxnSpPr>
        <p:spPr>
          <a:xfrm>
            <a:off x="24955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1378E3E-8A46-429B-B832-051C44411543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EEB50B1-214F-418D-ADF2-792293BEC8C1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4CF6BA6-3DF1-4734-98CC-CD19B1D6D8F5}"/>
              </a:ext>
            </a:extLst>
          </p:cNvPr>
          <p:cNvSpPr>
            <a:spLocks noGrp="1"/>
          </p:cNvSpPr>
          <p:nvPr/>
        </p:nvSpPr>
        <p:spPr>
          <a:xfrm>
            <a:off x="49720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EB1FFA-4433-46E0-8354-4ED7E1E223E5}"/>
              </a:ext>
            </a:extLst>
          </p:cNvPr>
          <p:cNvSpPr>
            <a:spLocks noGrp="1"/>
          </p:cNvSpPr>
          <p:nvPr/>
        </p:nvSpPr>
        <p:spPr>
          <a:xfrm>
            <a:off x="49720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Kernel</a:t>
            </a:r>
          </a:p>
        </p:txBody>
      </p:sp>
      <p:cxnSp>
        <p:nvCxnSpPr>
          <p:cNvPr id="118" name="Straight Arrow Connector 117"/>
          <p:cNvCxnSpPr>
            <a:stCxn id="45" idx="3"/>
            <a:endCxn id="50" idx="1"/>
          </p:cNvCxnSpPr>
          <p:nvPr/>
        </p:nvCxnSpPr>
        <p:spPr>
          <a:xfrm>
            <a:off x="44767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2E9CE4C-4C3D-4704-84D1-EDEA955E17DF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B8DEAE3-9EEC-40EB-BBD7-312E3F876CD0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0C93314-D5F9-45F6-9633-C91E31AA4D8E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10C54F5-8E20-4E07-8CB1-0236A295AF59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IPC</a:t>
            </a:r>
          </a:p>
        </p:txBody>
      </p:sp>
      <p:cxnSp>
        <p:nvCxnSpPr>
          <p:cNvPr id="123" name="Straight Arrow Connector 122"/>
          <p:cNvCxnSpPr>
            <a:stCxn id="50" idx="3"/>
            <a:endCxn id="55" idx="1"/>
          </p:cNvCxnSpPr>
          <p:nvPr/>
        </p:nvCxnSpPr>
        <p:spPr>
          <a:xfrm>
            <a:off x="64579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41DFAFA-209C-4218-8528-78751AD45665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4754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C48830D-CE75-4550-9BCF-F197BB52B179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66675"/>
          </a:xfrm>
          <a:prstGeom prst="rect">
            <a:avLst/>
          </a:prstGeom>
          <a:solidFill>
            <a:srgbClr val="475467"/>
          </a:solidFill>
          <a:ln w="0">
            <a:noFill/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8F0000E-D001-4FF8-8317-4B7D4C43409C}"/>
              </a:ext>
            </a:extLst>
          </p:cNvPr>
          <p:cNvSpPr>
            <a:spLocks noGrp="1"/>
          </p:cNvSpPr>
          <p:nvPr/>
        </p:nvSpPr>
        <p:spPr>
          <a:xfrm>
            <a:off x="89344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2A0A7D2-C028-4F19-B9D8-EA8F9023BD6E}"/>
              </a:ext>
            </a:extLst>
          </p:cNvPr>
          <p:cNvSpPr>
            <a:spLocks noGrp="1"/>
          </p:cNvSpPr>
          <p:nvPr/>
        </p:nvSpPr>
        <p:spPr>
          <a:xfrm>
            <a:off x="89344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cxnSp>
        <p:nvCxnSpPr>
          <p:cNvPr id="128" name="Straight Arrow Connector 127"/>
          <p:cNvCxnSpPr>
            <a:stCxn id="55" idx="3"/>
            <a:endCxn id="60" idx="1"/>
          </p:cNvCxnSpPr>
          <p:nvPr/>
        </p:nvCxnSpPr>
        <p:spPr>
          <a:xfrm>
            <a:off x="84391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366118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3F063093-4B5F-4AB8-A94B-D3225D6430F7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F136AA-437B-4859-ADC3-6FA906DD0948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5BCA5C-8524-4232-9E8B-C942D45B87F6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2DC2CE-E352-4011-8049-ADBEB317E871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EA0B19-9795-4D45-978A-BC8F36BF9555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0F97D5-1146-4275-B96D-694947309E4C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202443-9480-4FE4-A848-443903A59A89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3A2AE0-67B8-4C3C-9F9D-E9E4E3CCA5FB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F197CE-6B35-4619-8595-91BF04843BCF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07280A-3BCF-43B3-94BC-16724D3282AF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B284AD-7A53-4E6D-B65F-95E81D7DA4EB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C734EB-E098-42A1-8285-1A7E880B7058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B7D1C2-E662-4A5E-A5EB-BAE399824462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D7D910-C986-4603-9234-B4EA7E778E28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627745-34BB-473B-B8E5-C5A1BCE7B2DD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681D99-ADE6-4EB2-B2A6-686937714F4C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241473-DDB4-44AD-8F5F-829107A77CDB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2AA3D9-6F0A-4748-BE8A-B4E54A5F96C6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0CE3E4-7F91-43B9-87BC-458F027E5B44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E8525A-EE10-4A8A-A15D-6A7C2887F207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A2786A-BC52-47C7-8D4A-1BB949A9F018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D957DA-E82F-4B60-8B5D-B1CA6AA39D49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AD0D64-4567-46AD-AC01-C0789147F10C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B5AEC1-F4DD-4F47-AEBA-EAFABF4A15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A4AE25-3A03-4BEF-BFBE-9261ACE788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89529F4E-FD43-4D81-AAA2-6F5EAB11F60D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2BFE9A69-B101-4EC0-864B-78893511F951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3C77D8-0A91-43B7-B586-F29EFA336552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E8B496-36B0-4681-8398-3E74A4276B1D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151A123-3152-4710-B379-20F7D331F77B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5EE6746-1A46-49B6-8A8A-28BD4AE51AED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1779C9C-3542-4BD3-888A-A5CED5E92600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548E56D-5F8B-4C9C-9783-C678CB446CE9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FD3E865-D7EB-4C9C-9600-41D901BAB116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763B55D-F90D-4B5B-8339-CDE1D927E764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2DCF1B-CE59-405E-941E-019A011D0296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28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FC7AE41-42B9-48DD-B8FD-7FD2E82F013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87CA8FF-F230-4077-A835-EA77CB4292FA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CD981A6-708D-495D-BDE3-1E77EE0C31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FC30657-FEEB-4C09-8597-2C70C49CAA4D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0819CA-A6A2-4ECE-BB8E-BED24350A71E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1C7981-3F6F-40B9-9537-F577C9F9C543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Convert the mental model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698DDF3-2899-4C7D-A303-45FA6222194C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03684EA-1162-4A88-9099-F2B03B85A6B5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D60E877-5D89-4D94-A114-89B4FE8FA251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899601C-3E12-4C86-ACED-94D53B249E2A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80F6767-0BDD-4712-A6C3-2F434AD23C11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CA9BEE3-A76D-4755-93FE-19B2FBF71BB5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Rewrite one superloop behavior as named RTOS jobs.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6272B20-DD87-4D35-8759-C3FDD0F09C42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C315A51-DE19-4DF4-AC72-76AA6FE36DD5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List every repeated job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Name each job as a task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Mark shared hardware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Mark events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55826D2-DF03-4807-8455-8D2CE28E2D20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BDB2F18-DD6D-4ADE-9F39-ACA76C7E3DDF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 task map for the sketch.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F0DDEF3-811B-4039-9966-2C6A89CC346A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6573CA4-AEB7-4132-8B30-38EECFC7CAE7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Which job should never block?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7F0D162-D019-4A4C-B300-889267F5CA20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722AEEA8-0CDD-495D-B5D2-0FFBF96D7DEB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5155F4A-105B-46E9-9213-E68DA3BD130B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Notebook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Marker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Existing sketch</a:t>
            </a:r>
          </a:p>
        </p:txBody>
      </p:sp>
    </p:spTree>
    <p:extLst>
      <p:ext uri="{BB962C8B-B14F-4D97-AF65-F5344CB8AC3E}">
        <p14:creationId xmlns:p14="http://schemas.microsoft.com/office/powerpoint/2010/main" val="113636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94E02DB-2252-485B-A099-9B7A7E65D13D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0FCB9D-F276-4BB5-9146-E7C15C4010DA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25EA79-2668-4AFC-8697-5D60BD109C57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9FC0A7-BFD3-4E89-9E0F-CD642BE43080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5B40B1-1614-4939-91BD-7B1A19548D37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E282AA-88A4-4AAF-B564-B5FD2E33C052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641426-F4B9-43ED-AC8D-10B60298A0C4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39CB3F-4576-45C6-B7FB-16B585FEE308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005A73-A55A-458C-8368-9582659EE92F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5BA9D7-7830-4D3C-A71C-2A6579D669A4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E3B2F4-97A7-4726-863B-B496FD692BA4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A62EE7-E68B-45E7-BB32-C4641B7C76B7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7EB99-6821-4A39-AF84-1E877D0FF1BE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E3C567-C278-42CF-BAF5-4FF46F59253A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B1DD23-F4C7-4123-8C2C-AC2190D7CCA2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58BA0D-ED62-4603-B7F7-03151AFF4FF6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3CFDF7-D98D-41EF-BFB6-C05ECB3E2316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FB05CA-6C1F-4040-8B98-D9CAC37676B3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454A01-5144-4218-A769-8DFAC53B05C9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A8338B-EAA3-459B-A984-B19C1A05C438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20D294-22BF-4534-A605-D1A2F63C5C9D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3C86A9-0048-4FFF-9E98-4E2AA9A9EE5C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758FE1-6314-4A16-96C0-CF6366F41F99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80A933-0572-4F06-9DD4-C25B615AB2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A7661F-25EC-46BF-BD89-0B920BC96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F76BB738-D5DE-4DF1-BA41-A68DBEEEF55B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BB8D9601-E955-4492-A35A-FB310C9A037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F4CE3E-7A7D-40F3-8E7E-39C3176D7AB7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1CD958-C887-4651-BA75-E7F1AE5219A3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C7C8B76-0E4C-4209-BF5E-F2453E5A192E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86DCC58-B48F-4F19-A1E8-833923645D6E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EC9A322-6443-4E85-825D-CE455D726994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B94D6A9-98F9-4F83-9176-9345F4C4B7D4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8EE4E8-5EA4-4A69-8792-38610E6FD12E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88A834-EE17-41B0-9ADB-E459E51E4E98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5A6636-597F-4282-B7CF-6B755F02513B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29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763F8E3-BCCB-4C10-A95A-73F082EF78E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A1B7D55-A436-4299-93E1-27516AE75EBB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D660BF0-0984-429F-BE1F-B839FCFFFE42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0382250" cy="3905250"/>
          </a:xfrm>
          <a:prstGeom prst="roundRect">
            <a:avLst>
              <a:gd name="adj" fmla="val 4390"/>
            </a:avLst>
          </a:prstGeom>
          <a:solidFill>
            <a:srgbClr val="0F1D2E"/>
          </a:solidFill>
          <a:ln w="11430">
            <a:solidFill>
              <a:srgbClr val="0F1D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20A7CE-7DCE-4A31-A956-B0A1C6DEC9AB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52400" cy="390525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72205FF-407B-42CD-939C-D05ED47D60C8}"/>
              </a:ext>
            </a:extLst>
          </p:cNvPr>
          <p:cNvSpPr>
            <a:spLocks noGrp="1"/>
          </p:cNvSpPr>
          <p:nvPr/>
        </p:nvSpPr>
        <p:spPr>
          <a:xfrm>
            <a:off x="1257300" y="1543050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CF6747E-DD91-4075-82DD-98B39474F159}"/>
              </a:ext>
            </a:extLst>
          </p:cNvPr>
          <p:cNvSpPr>
            <a:spLocks noGrp="1"/>
          </p:cNvSpPr>
          <p:nvPr/>
        </p:nvSpPr>
        <p:spPr>
          <a:xfrm>
            <a:off x="1485900" y="1543050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2D083CA-9A1D-4150-9C82-31EFB3592F0F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21F2685-BC36-4B76-A225-BE4F1F608D69}"/>
              </a:ext>
            </a:extLst>
          </p:cNvPr>
          <p:cNvSpPr>
            <a:spLocks noGrp="1"/>
          </p:cNvSpPr>
          <p:nvPr/>
        </p:nvSpPr>
        <p:spPr>
          <a:xfrm>
            <a:off x="1257300" y="20383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rPr>
              <a:t>MODULE 03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D6E6AFB-3554-4D27-9759-C036BAF0E822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809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Tasks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8294C8B-9E38-42CB-AE8A-26366A22E2C2}"/>
              </a:ext>
            </a:extLst>
          </p:cNvPr>
          <p:cNvSpPr>
            <a:spLocks noGrp="1"/>
          </p:cNvSpPr>
          <p:nvPr/>
        </p:nvSpPr>
        <p:spPr>
          <a:xfrm>
            <a:off x="1257300" y="38481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// independent work units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D27D9A3-31B1-4F58-83FD-9F33E2206459}"/>
              </a:ext>
            </a:extLst>
          </p:cNvPr>
          <p:cNvSpPr>
            <a:spLocks noGrp="1"/>
          </p:cNvSpPr>
          <p:nvPr/>
        </p:nvSpPr>
        <p:spPr>
          <a:xfrm>
            <a:off x="8953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NEXT_MODULE</a:t>
            </a:r>
          </a:p>
        </p:txBody>
      </p:sp>
    </p:spTree>
    <p:extLst>
      <p:ext uri="{BB962C8B-B14F-4D97-AF65-F5344CB8AC3E}">
        <p14:creationId xmlns:p14="http://schemas.microsoft.com/office/powerpoint/2010/main" val="18624382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24546797-D324-45AA-A089-AA3FF48F0046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48085A-0AB2-46E5-AA28-245981B561FB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57650C-F3A3-4952-AB7A-C2C3F479BF1B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21C028-4901-4CF6-B25E-BA30D3F2297F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AB3629-46AE-4550-940B-1EEE8ADF90B5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EBAB4B-A045-4E23-9D0B-621DDDC8DFD8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1D0540-BC66-4D6A-AB4C-3223225347E2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20B4C3-A94F-4B72-86BF-E65272796650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F6D168-2899-4FB0-AD3E-9CCF2599D031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4658DC-56E7-4BC7-A8AF-25FC69E62E02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C60A24-54E8-41C0-A988-2E073366A9EE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FC1FEA-67D4-4CF7-A39F-FC66AFDBD32C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8FA9DA-9C33-4F5C-B62B-A1248D45D89D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BFD59A-463A-4EF6-B860-17656406C749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D5FF93-57DD-4435-9BBA-040377ECD149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00713B-F458-43D0-B1DC-7DC850C198FA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1DB70C-955E-464F-B1E1-60EFBDFD155B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52DC86-5678-46AE-A89D-3A2FA816781C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661B03-D3BE-4D78-B44C-07568024167D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E15DC5-DD77-43D2-A599-8ADE65245DB0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49E169-CA4A-41E2-B2A5-2D95770ECD11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B4DAC7-6C91-4787-9529-C7B31BB9698E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2E2518-E05A-45DB-8096-29055594CA66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F9086A-38B6-4C5E-813E-5175A5768B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EA4057-7C48-4860-832E-325A2A5DEC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DCBE1EE8-E3A1-4C43-8090-22EED785591D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81231BF2-FEF5-428C-B057-D8671E3E23A1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EE12D9-194B-41F1-94A3-BC7EF4A5EA10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E62E7C-AD40-4910-BDBE-5A50586BA7F3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BA17D56-94FF-475D-92EA-47EDA4603F0E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AD7F980-D2C3-4102-A7CE-9BC7A43AC0E5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63C8815-93E9-4098-8177-C0F936F6F9C5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4ABF9C1-7CAD-4A87-9D36-C7F7C39ABD35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808FD6F-B4C1-4039-9FD5-2FFE62A9DA3D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B91BD68-E2BB-49F3-AF11-DB4060468032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3D138F-156E-4425-AD0D-A56863AE62C6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30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9B79768-0BDF-4B16-8DC0-38D9334F831E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96C0361-64FC-45E1-8FB8-B1A01FED084B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9CB032B-2FCB-4F50-9BB7-998972394346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 task is just a function that keeps working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630C0E1-982C-489C-A132-0A3EB8393C52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3DC8699-A73B-4B86-AD4A-6BF3DB635E01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6705600" cy="3562350"/>
          </a:xfrm>
          <a:prstGeom prst="roundRect">
            <a:avLst>
              <a:gd name="adj" fmla="val 3209"/>
            </a:avLst>
          </a:prstGeom>
          <a:solidFill>
            <a:srgbClr val="122033"/>
          </a:solidFill>
          <a:ln w="11430">
            <a:solidFill>
              <a:srgbClr val="1220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54BAE3B-DECD-4A2C-9915-1757777721BC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6705600" cy="419100"/>
          </a:xfrm>
          <a:prstGeom prst="rect">
            <a:avLst/>
          </a:prstGeom>
          <a:solidFill>
            <a:srgbClr val="1D2D42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4EAE43A-AB77-4F3E-BEA9-58030560A33A}"/>
              </a:ext>
            </a:extLst>
          </p:cNvPr>
          <p:cNvSpPr>
            <a:spLocks noGrp="1"/>
          </p:cNvSpPr>
          <p:nvPr/>
        </p:nvSpPr>
        <p:spPr>
          <a:xfrm>
            <a:off x="1104900" y="225742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6BB0A74-43FC-42B1-86A5-242FFE15FC93}"/>
              </a:ext>
            </a:extLst>
          </p:cNvPr>
          <p:cNvSpPr>
            <a:spLocks noGrp="1"/>
          </p:cNvSpPr>
          <p:nvPr/>
        </p:nvSpPr>
        <p:spPr>
          <a:xfrm>
            <a:off x="1333500" y="225742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82E6311-64C2-4BF9-AF93-08C7C43D82D0}"/>
              </a:ext>
            </a:extLst>
          </p:cNvPr>
          <p:cNvSpPr>
            <a:spLocks noGrp="1"/>
          </p:cNvSpPr>
          <p:nvPr/>
        </p:nvSpPr>
        <p:spPr>
          <a:xfrm>
            <a:off x="1562100" y="225742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954CAEE-A91A-4022-9401-4F22056B8CFF}"/>
              </a:ext>
            </a:extLst>
          </p:cNvPr>
          <p:cNvSpPr>
            <a:spLocks noGrp="1"/>
          </p:cNvSpPr>
          <p:nvPr/>
        </p:nvSpPr>
        <p:spPr>
          <a:xfrm>
            <a:off x="1924050" y="2257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task_anatomy.cpp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A80368D-0B4F-4626-A415-60E372F38C0B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5905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void ledTask(void *param) {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  while (1) {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    digitalWrite(LED, !digitalRead(LED));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    vTaskDelay(pdMS_TO_TICKS(500));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  }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33B9DEE-6673-4641-BF6A-58810E2D1E6B}"/>
              </a:ext>
            </a:extLst>
          </p:cNvPr>
          <p:cNvSpPr>
            <a:spLocks noGrp="1"/>
          </p:cNvSpPr>
          <p:nvPr/>
        </p:nvSpPr>
        <p:spPr>
          <a:xfrm>
            <a:off x="7953375" y="2114550"/>
            <a:ext cx="3048000" cy="356235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CB63461-5F1F-4211-8ECC-C3AC0F511D66}"/>
              </a:ext>
            </a:extLst>
          </p:cNvPr>
          <p:cNvSpPr>
            <a:spLocks noGrp="1"/>
          </p:cNvSpPr>
          <p:nvPr/>
        </p:nvSpPr>
        <p:spPr>
          <a:xfrm>
            <a:off x="7953375" y="2114550"/>
            <a:ext cx="3048000" cy="762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8C93428-EA44-468A-A5EC-990DE1CB47E5}"/>
              </a:ext>
            </a:extLst>
          </p:cNvPr>
          <p:cNvSpPr>
            <a:spLocks noGrp="1"/>
          </p:cNvSpPr>
          <p:nvPr/>
        </p:nvSpPr>
        <p:spPr>
          <a:xfrm>
            <a:off x="8248650" y="2571750"/>
            <a:ext cx="23812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Function gets a void* parameter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while(1) keeps it alive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vTaskDelay yields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Never return accidentally</a:t>
            </a:r>
          </a:p>
        </p:txBody>
      </p:sp>
    </p:spTree>
    <p:extLst>
      <p:ext uri="{BB962C8B-B14F-4D97-AF65-F5344CB8AC3E}">
        <p14:creationId xmlns:p14="http://schemas.microsoft.com/office/powerpoint/2010/main" val="16103151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86AB4C89-27C2-45B4-9273-35AB652266A8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5D40B5-55B9-4C06-917F-52B0151BE5F0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849AA6-6ABD-4B67-8AE2-841D431B49D8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3942CC-3003-473B-9904-5F6570A288D7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D75AB7-2C26-403B-836D-08085F137DB6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31C032-1889-4790-897C-6E2ABCF88189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2AB91A-174F-46C5-AB18-A7D582E33994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309DF7-3C27-487D-9AD5-0DA532EFD5E8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454CB9-466D-459B-A622-84476E4345CA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FC9F8B-A167-4B57-9CF3-F75C03A71572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6D118E-C933-49BB-906A-98B6DA35947A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CB675C-AC91-4085-ACC1-0239DD993226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F91E4A-6CE3-4823-AEBF-23A1585FDF04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2ECF13-86B2-4E78-BC35-E2A2880B9983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8CAD2F-6DD1-44C3-8433-B9C8679AEC99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0A66F5-47C9-4AF6-A124-D5C2EBBAD576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C186DF-53C0-4CA6-B6A0-D82D820D19F1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BDA7E2-93B0-4751-96CF-B73B78F80EB9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0A1B2A-4576-4195-8A54-8C70E650BE54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7B6398-7A52-42CA-8A05-E8BA19481C46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CEC5AF-8656-40CE-B97E-95CEB350742D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F18AF3-BE20-4E7D-BDED-ED651A30F1B2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DF98F-73D2-419C-B346-B5D707A45A22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D5615F-29CF-4414-BD7E-2973448B42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C430B4-F15B-46C2-9EFA-5BBBBCFA7C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3EB97B5E-63E7-4638-9B01-5E88FBF53AB1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999B75FF-31C9-45DF-A2E3-B2E94F8CFC35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6BF1D6-CB24-4D7D-8F3F-3D8CFCA26610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48DD91-8030-4166-B7D9-E6C32ABD50C2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D896721-45F3-4078-B1FD-D92E433A88E1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4B74A7D-3B70-42F8-AABB-E377C20A191E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9E80ADB-7FAB-444A-AF87-D197E939F1C0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FE4A2B7-8410-4E61-B6CF-ADA859EEDC21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4CC5BC-447D-409C-92CD-E51DE24BD16F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61877A1-2B42-40A4-8DB1-3D55D0F51802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D70C80-A353-4490-9BCE-76DA4A289155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31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D5DFC96-448E-4402-B961-73FC8F94D72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E0E7367-80F0-4479-861E-729929009EDF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3231D0A-36A8-4E68-864A-46B24B18CEA1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xTaskCreate names the worker and its budget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45AA6E-6C80-419C-A6F4-33C3305C556C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A0D4813-8FC9-4154-885D-B3806BBAF722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6705600" cy="3562350"/>
          </a:xfrm>
          <a:prstGeom prst="roundRect">
            <a:avLst>
              <a:gd name="adj" fmla="val 3209"/>
            </a:avLst>
          </a:prstGeom>
          <a:solidFill>
            <a:srgbClr val="122033"/>
          </a:solidFill>
          <a:ln w="11430">
            <a:solidFill>
              <a:srgbClr val="1220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CCB0061-481A-4D67-A0BE-AEEF0C7191B4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6705600" cy="419100"/>
          </a:xfrm>
          <a:prstGeom prst="rect">
            <a:avLst/>
          </a:prstGeom>
          <a:solidFill>
            <a:srgbClr val="1D2D42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7600D65-CA6B-4090-B803-CD1124315E36}"/>
              </a:ext>
            </a:extLst>
          </p:cNvPr>
          <p:cNvSpPr>
            <a:spLocks noGrp="1"/>
          </p:cNvSpPr>
          <p:nvPr/>
        </p:nvSpPr>
        <p:spPr>
          <a:xfrm>
            <a:off x="1104900" y="225742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EAF0DF8-8D45-4266-83C5-334388FDF36C}"/>
              </a:ext>
            </a:extLst>
          </p:cNvPr>
          <p:cNvSpPr>
            <a:spLocks noGrp="1"/>
          </p:cNvSpPr>
          <p:nvPr/>
        </p:nvSpPr>
        <p:spPr>
          <a:xfrm>
            <a:off x="1333500" y="225742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9792DFE-845A-463D-9555-5A5E5C0D17DC}"/>
              </a:ext>
            </a:extLst>
          </p:cNvPr>
          <p:cNvSpPr>
            <a:spLocks noGrp="1"/>
          </p:cNvSpPr>
          <p:nvPr/>
        </p:nvSpPr>
        <p:spPr>
          <a:xfrm>
            <a:off x="1562100" y="225742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17DE6E7-F005-4F3E-AFC7-0CE69FD8D595}"/>
              </a:ext>
            </a:extLst>
          </p:cNvPr>
          <p:cNvSpPr>
            <a:spLocks noGrp="1"/>
          </p:cNvSpPr>
          <p:nvPr/>
        </p:nvSpPr>
        <p:spPr>
          <a:xfrm>
            <a:off x="1924050" y="2257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create_task.cpp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DCAD1A9-A2A1-411C-B390-BB214F898AEA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5905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xTaskCreate(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  ledTask,      // function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  "LED",        // name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  2048,         // stack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  NULL,         // parameter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  1,            // priority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  NULL          // handle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);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CDD170C-8989-45E0-9B04-6DADC769DAAA}"/>
              </a:ext>
            </a:extLst>
          </p:cNvPr>
          <p:cNvSpPr>
            <a:spLocks noGrp="1"/>
          </p:cNvSpPr>
          <p:nvPr/>
        </p:nvSpPr>
        <p:spPr>
          <a:xfrm>
            <a:off x="7953375" y="2114550"/>
            <a:ext cx="3048000" cy="356235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85BE36D-CC4C-49D0-BB2E-A8FB7BF01668}"/>
              </a:ext>
            </a:extLst>
          </p:cNvPr>
          <p:cNvSpPr>
            <a:spLocks noGrp="1"/>
          </p:cNvSpPr>
          <p:nvPr/>
        </p:nvSpPr>
        <p:spPr>
          <a:xfrm>
            <a:off x="7953375" y="2114550"/>
            <a:ext cx="3048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971321B-D65F-48BC-AA06-2A61883F4846}"/>
              </a:ext>
            </a:extLst>
          </p:cNvPr>
          <p:cNvSpPr>
            <a:spLocks noGrp="1"/>
          </p:cNvSpPr>
          <p:nvPr/>
        </p:nvSpPr>
        <p:spPr>
          <a:xfrm>
            <a:off x="8248650" y="2571750"/>
            <a:ext cx="23812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Function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Name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Stack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Priority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Handle</a:t>
            </a:r>
          </a:p>
        </p:txBody>
      </p:sp>
    </p:spTree>
    <p:extLst>
      <p:ext uri="{BB962C8B-B14F-4D97-AF65-F5344CB8AC3E}">
        <p14:creationId xmlns:p14="http://schemas.microsoft.com/office/powerpoint/2010/main" val="962795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3DC7BC95-5684-4788-AF55-BDC9344B5126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3DF109-2845-49CA-8BC5-1DAB287BE984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831FFE-63C6-4B70-AC89-1089E05D6FC1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8BDFE1-2C21-41BC-BA7E-968BA3BDC699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BFF996-BC95-4BB0-81D8-5DCA6B0618CA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2AA764-A8E1-4970-99E2-3F9AC3D6B87F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61E5A5-95B3-4789-A9B4-D882A2E64BDA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B65DA6-4D4F-4F58-AFC6-4CD57079AD9A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8A1730-D5F4-47DF-BBE6-44EA732F4437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2EA510-AA02-46CF-B021-C2D8B8308442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89E03A-ED59-46A8-A45C-40341EC3FE87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5F2616-DAC0-4592-A6C0-692300388F81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80DA37-933A-4521-BD35-9382FEB2DA84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1656A1-0E15-4812-9518-A866DB7718C6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82216E-E712-4BB2-A63F-D50401530A0A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85A2A7-E0E9-4D7C-9D29-FB287F78AC45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82B1C6-40C0-48F0-B469-291F79FCEFED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FB839E-D18E-4674-9554-24A7632F1174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96B119-D120-477B-A30F-CC6BEFFABD22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4609C0-445F-4785-8F01-7D177BDAADEF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D16FF-01CB-43DC-A828-B566BBD91D7A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22DB5C-195D-4795-83B9-EBE33A3A96D0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23213F-7C14-4FAB-8198-D4D7CDFBDE8C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0188D7-770A-4F8D-8508-3058014114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95EEA1-EA96-425D-80C9-48828CF471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D664F9D3-414A-4B65-9627-0054DE28E098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B1AA3006-C8BB-471A-8B05-4CC1B52D08B4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B7DAB0-A07A-4E19-94B6-585D7F6AB98F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9F8B4B-87EE-4484-A08A-795635B6274E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42128A3-1A67-479E-B4B2-59CF77F33241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CE285BC-4EA4-4D6A-98C0-769A0DEF41DD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085931A-2C78-4060-A0DC-058D8F41BF0B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8B735D0-8A9B-4C50-862D-BE88193FA363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99F1C6-B271-47D4-85DD-BFB3CDC25179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04133B0-EE15-4E9A-A3F2-0050FF1F0775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A4C272F-2082-4546-9E52-9312A888C3BA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32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49902EC-491C-443E-9B4D-7100D51DD2B1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271218E-7AEC-4BB1-8DCC-8DF5A45D107E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7F350BB-3A55-4D65-8CCD-A86B8536F2F9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Tasks move through a small lifecycle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DD7564-2281-4683-914C-D037A7F2A0B6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235E09F-80A2-4E03-B811-795C8061466D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C9C1C3B-2BE8-4612-9E31-E97CA4BBED93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93B03A4-C990-44A8-B5A4-A57BE0348754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BC8C0AE-20CD-4D28-B7DF-24D280246821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Created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FCFE07C-8061-479E-858D-E4DA898EF48F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AEC9278-E1D8-473E-B708-1426BB6FA4CF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2D9772A-A8D9-4977-BDA4-51363773DDCC}"/>
              </a:ext>
            </a:extLst>
          </p:cNvPr>
          <p:cNvSpPr>
            <a:spLocks noGrp="1"/>
          </p:cNvSpPr>
          <p:nvPr/>
        </p:nvSpPr>
        <p:spPr>
          <a:xfrm>
            <a:off x="29908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67B761-042F-42D0-8B00-20BE77B6AFCA}"/>
              </a:ext>
            </a:extLst>
          </p:cNvPr>
          <p:cNvSpPr>
            <a:spLocks noGrp="1"/>
          </p:cNvSpPr>
          <p:nvPr/>
        </p:nvSpPr>
        <p:spPr>
          <a:xfrm>
            <a:off x="29908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cxnSp>
        <p:nvCxnSpPr>
          <p:cNvPr id="113" name="Straight Arrow Connector 112"/>
          <p:cNvCxnSpPr>
            <a:stCxn id="41" idx="3"/>
            <a:endCxn id="45" idx="1"/>
          </p:cNvCxnSpPr>
          <p:nvPr/>
        </p:nvCxnSpPr>
        <p:spPr>
          <a:xfrm>
            <a:off x="24955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F9B2210-61E6-408F-9D16-3247DEAE0621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C4DA98-0D71-419C-9FF0-BDFFB7A40EC2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7CD794A-1782-48CC-83EA-25FD2E16732B}"/>
              </a:ext>
            </a:extLst>
          </p:cNvPr>
          <p:cNvSpPr>
            <a:spLocks noGrp="1"/>
          </p:cNvSpPr>
          <p:nvPr/>
        </p:nvSpPr>
        <p:spPr>
          <a:xfrm>
            <a:off x="49720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7EC25C-F746-47CB-BAEE-5A434ED9E25B}"/>
              </a:ext>
            </a:extLst>
          </p:cNvPr>
          <p:cNvSpPr>
            <a:spLocks noGrp="1"/>
          </p:cNvSpPr>
          <p:nvPr/>
        </p:nvSpPr>
        <p:spPr>
          <a:xfrm>
            <a:off x="49720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Running</a:t>
            </a:r>
          </a:p>
        </p:txBody>
      </p:sp>
      <p:cxnSp>
        <p:nvCxnSpPr>
          <p:cNvPr id="118" name="Straight Arrow Connector 117"/>
          <p:cNvCxnSpPr>
            <a:stCxn id="45" idx="3"/>
            <a:endCxn id="50" idx="1"/>
          </p:cNvCxnSpPr>
          <p:nvPr/>
        </p:nvCxnSpPr>
        <p:spPr>
          <a:xfrm>
            <a:off x="44767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8FE79FA8-82F9-4B08-BF05-A6A486F2E804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89D168A-342D-42FB-8133-A18F5F09AAEE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4E0F59-9B68-49D2-AD39-423A2B2F9FFD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ABA1886-916C-48B9-9499-0D4C72C370C1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cxnSp>
        <p:nvCxnSpPr>
          <p:cNvPr id="123" name="Straight Arrow Connector 122"/>
          <p:cNvCxnSpPr>
            <a:stCxn id="50" idx="3"/>
            <a:endCxn id="55" idx="1"/>
          </p:cNvCxnSpPr>
          <p:nvPr/>
        </p:nvCxnSpPr>
        <p:spPr>
          <a:xfrm>
            <a:off x="64579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1547D57-8046-433E-A338-02165BE7CEA8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4754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514DF33-E0AF-4D71-BB5C-A693FA130660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66675"/>
          </a:xfrm>
          <a:prstGeom prst="rect">
            <a:avLst/>
          </a:prstGeom>
          <a:solidFill>
            <a:srgbClr val="475467"/>
          </a:solidFill>
          <a:ln w="0">
            <a:noFill/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83B7BAF-61B6-48B5-9326-CDDC2B20DC8F}"/>
              </a:ext>
            </a:extLst>
          </p:cNvPr>
          <p:cNvSpPr>
            <a:spLocks noGrp="1"/>
          </p:cNvSpPr>
          <p:nvPr/>
        </p:nvSpPr>
        <p:spPr>
          <a:xfrm>
            <a:off x="89344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80CE664-925E-43FC-A0D3-A9B0D168CF28}"/>
              </a:ext>
            </a:extLst>
          </p:cNvPr>
          <p:cNvSpPr>
            <a:spLocks noGrp="1"/>
          </p:cNvSpPr>
          <p:nvPr/>
        </p:nvSpPr>
        <p:spPr>
          <a:xfrm>
            <a:off x="89344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Deleted</a:t>
            </a:r>
          </a:p>
        </p:txBody>
      </p:sp>
      <p:cxnSp>
        <p:nvCxnSpPr>
          <p:cNvPr id="128" name="Straight Arrow Connector 127"/>
          <p:cNvCxnSpPr>
            <a:stCxn id="55" idx="3"/>
            <a:endCxn id="60" idx="1"/>
          </p:cNvCxnSpPr>
          <p:nvPr/>
        </p:nvCxnSpPr>
        <p:spPr>
          <a:xfrm>
            <a:off x="84391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0585425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04AE825-56DC-4D05-BC43-093F3F248EFB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2158CC-5B97-4583-9358-2B2BC78963B4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AC6A0E-E104-481E-9AFF-AD530C48F241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E8C8C3-D318-4BEF-98C0-889EED4360D1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8BB2AB-12DB-4731-83A6-583B8E522B70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13E808-735C-4BFD-BD05-64D999FAE27F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B0F89D-168C-43F8-80B9-A3145F03470A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76C9AE-5897-45D6-A43C-773EEE46F273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39202-0033-44FB-8187-0314CC46A656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DAC83E-2128-4F7E-91D4-6F2DD67DEF24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9A9D55-4BE0-4970-ADF2-BEB3AA7B2E7A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808E54-BAE9-4D42-A7FF-703F0D6E7C48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21CF7E-66BD-42EB-BE6A-B0198BA722D5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9AC96F-83F2-4516-992E-3C481E632AB6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F088B4-9E33-48C3-AB5E-4E3920C08409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DC0A8-9A3C-4E84-9C5C-9CA64B156495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3FE7E5-0116-4410-8D37-90E1DBBD1E37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975DF9-2978-4FE5-ABC6-CC6EB77C6C86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BAD45F-515E-412B-9FFC-B193836D419E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7A67E1-8B63-473C-832B-00C337B7B3A7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35C075-0F8D-4827-80FB-F6815B1E960F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752AE9-0623-45B9-B930-0B03C8117CB8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26DDC7-CA30-4FD0-B465-36D75DBDF0E5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768EE2-AFF4-4D7A-A496-C9AFBC855A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D0D5D4-C6AA-4F1A-9D81-90665C58FD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120910E6-B657-4CC5-AD73-9216ABFBDE75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02FF9405-A594-4432-A84D-D2F78FE8712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3118E8-FF07-4110-87AF-89186F3520B4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6CBA3C-1494-43AA-A8DB-EA9EAEBFE068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1FD07F1-D404-4C86-80AB-8A6EB07720DE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FB99296-8F19-45D2-9D8A-6ED9257F1423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9A63AFF-81DA-488E-A651-FB8CDECA150D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99F191E-B89D-46B9-9942-17580B1C7DF3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8A7BBE-2BE9-4566-95E6-65E014F1A6B3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9E6EFEE-7F4D-43F5-A9F8-7B9570FE3FBC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956BFC-AAFB-41F3-964C-C98BA2EC468C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33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1398FEC-D58A-4C77-B49F-E1AD159EF7D8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1727292-5133-42DF-820F-AC798FE87959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60C962-5407-4F80-ABEE-C608B2C68556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vTaskDelay is a polite pause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7880199-4CFB-4464-883E-6A91C8D63886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B1093A4-1FF9-4E23-8991-1D33677E3035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FFF1F2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792343E-2B39-433B-96DE-0DC6E6D6422E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ECFDF3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31D575-982D-400E-9D57-A86B3D7B63D3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953000" cy="762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6A3E28F-4422-4959-A4E5-14E3B966F0CA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4953000" cy="762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7687C21-EF8F-43B4-8385-5B77578A77EC}"/>
              </a:ext>
            </a:extLst>
          </p:cNvPr>
          <p:cNvSpPr>
            <a:spLocks noGrp="1"/>
          </p:cNvSpPr>
          <p:nvPr/>
        </p:nvSpPr>
        <p:spPr>
          <a:xfrm>
            <a:off x="1143000" y="24288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delay()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17CB15F-B51B-4080-8D3F-149D31B0317C}"/>
              </a:ext>
            </a:extLst>
          </p:cNvPr>
          <p:cNvSpPr>
            <a:spLocks noGrp="1"/>
          </p:cNvSpPr>
          <p:nvPr/>
        </p:nvSpPr>
        <p:spPr>
          <a:xfrm>
            <a:off x="6705600" y="24288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vTaskDelay()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A37F31-F140-4BEC-BB5C-2EF90DCEDBE0}"/>
              </a:ext>
            </a:extLst>
          </p:cNvPr>
          <p:cNvSpPr>
            <a:spLocks noGrp="1"/>
          </p:cNvSpPr>
          <p:nvPr/>
        </p:nvSpPr>
        <p:spPr>
          <a:xfrm>
            <a:off x="1190625" y="3000375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Blocks the Arduino loop</a:t>
            </a:r>
          </a:p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No RTOS awareness</a:t>
            </a:r>
          </a:p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Other loop work waits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D74E88A-C480-49F9-AADB-C77D448156AB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Blocks only this task</a:t>
            </a:r>
          </a:p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Scheduler runs another task</a:t>
            </a:r>
          </a:p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Timing uses ticks</a:t>
            </a:r>
          </a:p>
        </p:txBody>
      </p:sp>
    </p:spTree>
    <p:extLst>
      <p:ext uri="{BB962C8B-B14F-4D97-AF65-F5344CB8AC3E}">
        <p14:creationId xmlns:p14="http://schemas.microsoft.com/office/powerpoint/2010/main" val="13402494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9B3F9039-8BB5-44FA-BD70-2D2C768B002A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6A85D4-6573-4AD9-B0A9-5047C22A5904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7B4DE0-C6CE-42B2-9298-C02CA32B57AE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8DC39B-1840-4308-9BFA-80B8C7AA0408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B1E0E0-0C60-4E01-A9D1-36FABE782590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ED34B-2339-4CF5-A1D8-977166A4776C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327F94-F9F3-4F05-9BC6-54DA62843E7A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FA7791-11F6-4A2D-A06A-D35281DDCCFA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43C831-0606-4414-A97D-88C6D10FD8A8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0BE0FB-E94D-43A2-A40B-BDF612D983DA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BD500B-7036-439D-9C35-DA2860F59A0F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A4A11D-686D-4964-B903-3687FD8BD120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A74983-AADB-4CE1-9553-6CA12FF3F0C4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28C3C2-4E5B-4C16-9702-F16B468A96FA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D0E0EC-04A8-4209-9D24-174BEB838E55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653293-8FA4-44C5-9046-6C2657413C4B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615BED-6472-4902-A53B-1A2EBAEE6234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BCEE3C-924D-4689-907D-7EAEE699129E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B558F0-B560-4645-9357-95D19CCF3FC7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77102E-27AF-400B-A4B1-91B3186B9A6F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F045F-AD66-4019-8510-AABD5B938B98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425737-4562-48F6-8EFC-23C081E5D3E3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442DEC-E72A-41F9-8FC0-9FFE17CCA660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8FA6AD-D2EB-43CF-B93F-5F7EBD2C2C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7B2CEA-2F16-478C-98BE-AB4C0167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F2A5F53C-53F0-4370-BD34-F1CFCCC5BFE0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A045F4D0-861C-47D4-9034-7E6451725882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A44BC6-20EA-4FDE-B6C2-47482CE74490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E18A35-E4D1-4A4E-B4BF-F97879CEE66B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602D073-C4B2-4709-B59E-3C7AD454B61E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7C02ED8-2C5F-48DD-B7C4-0DFEC366F60F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EDA86DA-E875-40C0-9150-59369263FE74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DC35C1A-0965-427E-845D-0AF26AE3A2FA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 w="11430">
            <a:solidFill>
              <a:srgbClr val="E11D4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0A6798-BFE0-4BA9-8ABB-09FBEC41F6D9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B8FF866-9FA4-4E89-8794-AD71D8123425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B8BED60-1D4B-405B-94AB-432E1FAAA8F6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34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07E786A-08EF-48F6-97CE-80A4C23C5ED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4820724-DFC2-41CA-9D13-DF24DC87DE34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CBF047-0F5B-4D21-BF21-2E64F7CA649F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Priority is a promise, not a decoration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40ABADB-8493-4D59-9EF4-6E49AB219DEB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47F9420-6B77-4104-BB9F-0C5B21E5D9A5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C1E72BD-CCB1-4D0A-AD3C-844E96618C3F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406C84F-D8BE-455A-83A8-2F8C13059B5A}"/>
              </a:ext>
            </a:extLst>
          </p:cNvPr>
          <p:cNvSpPr>
            <a:spLocks noGrp="1"/>
          </p:cNvSpPr>
          <p:nvPr/>
        </p:nvSpPr>
        <p:spPr>
          <a:xfrm>
            <a:off x="11049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Higher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195B0E8-17A6-4450-8231-55DB2B4763FC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Runs before lower ready tasks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153093D-5E46-49CC-9FF1-76742B831F9E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3631AD2-DFBE-4628-B6EC-2A8822000CC9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4D1D8BA-C10F-41AE-BB0A-1735BC275AC2}"/>
              </a:ext>
            </a:extLst>
          </p:cNvPr>
          <p:cNvSpPr>
            <a:spLocks noGrp="1"/>
          </p:cNvSpPr>
          <p:nvPr/>
        </p:nvSpPr>
        <p:spPr>
          <a:xfrm>
            <a:off x="38481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844A"/>
                </a:solidFill>
                <a:latin typeface="Aptos"/>
                <a:ea typeface="Aptos"/>
                <a:cs typeface="Aptos"/>
              </a:rPr>
              <a:t>Equal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1193E47-6760-4F77-AAF8-19F591F03FBD}"/>
              </a:ext>
            </a:extLst>
          </p:cNvPr>
          <p:cNvSpPr>
            <a:spLocks noGrp="1"/>
          </p:cNvSpPr>
          <p:nvPr/>
        </p:nvSpPr>
        <p:spPr>
          <a:xfrm>
            <a:off x="38481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Can time-slice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3C4A845-5E03-4CE8-AF1E-F6B41C524EC7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532CDE6-9715-449A-84BB-A0E921057B19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7BF9277-E773-40C1-B26E-EE8A0E57343F}"/>
              </a:ext>
            </a:extLst>
          </p:cNvPr>
          <p:cNvSpPr>
            <a:spLocks noGrp="1"/>
          </p:cNvSpPr>
          <p:nvPr/>
        </p:nvSpPr>
        <p:spPr>
          <a:xfrm>
            <a:off x="65913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1037579-6215-497A-9E76-BEBC0EC0D0F4}"/>
              </a:ext>
            </a:extLst>
          </p:cNvPr>
          <p:cNvSpPr>
            <a:spLocks noGrp="1"/>
          </p:cNvSpPr>
          <p:nvPr/>
        </p:nvSpPr>
        <p:spPr>
          <a:xfrm>
            <a:off x="65913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Cannot run until unblocked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05B7326-1892-4FC4-B973-AD9DF9BB433C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FB4DE4B-242B-4EBD-8E51-2AEA0DEEBC88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B467CC5-B7A9-4517-B992-6FA64CACC281}"/>
              </a:ext>
            </a:extLst>
          </p:cNvPr>
          <p:cNvSpPr>
            <a:spLocks noGrp="1"/>
          </p:cNvSpPr>
          <p:nvPr/>
        </p:nvSpPr>
        <p:spPr>
          <a:xfrm>
            <a:off x="93345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Wrong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957A12B-E35F-4957-9C9C-47DEDA4DCD20}"/>
              </a:ext>
            </a:extLst>
          </p:cNvPr>
          <p:cNvSpPr>
            <a:spLocks noGrp="1"/>
          </p:cNvSpPr>
          <p:nvPr/>
        </p:nvSpPr>
        <p:spPr>
          <a:xfrm>
            <a:off x="93345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Can starve other work</a:t>
            </a:r>
          </a:p>
        </p:txBody>
      </p:sp>
    </p:spTree>
    <p:extLst>
      <p:ext uri="{BB962C8B-B14F-4D97-AF65-F5344CB8AC3E}">
        <p14:creationId xmlns:p14="http://schemas.microsoft.com/office/powerpoint/2010/main" val="4650802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1D6C0787-B18B-48C2-ABE8-11062F37F624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7EC539-9799-44F9-8B29-F51C24AA2859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90B84E-C8F0-4050-912D-3059D53617FF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1BDA96-A2DC-4244-AC93-97FD6CF4707E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7594EF-73A8-40F4-BC77-A4B30F8B71F6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75F96E-10DE-4B75-9898-A448CBD9CA51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248B60-26B9-4044-960C-F5716478C573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B6AABC-F44D-4302-BFC7-046129631E30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C22BB6-7823-4BD5-BCDB-60A7D93FA38C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D15DB1-95ED-47A2-9421-7701EC179BB7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D910DE-BB8B-4D6E-9EFB-D703B3F7AF35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440EE-94DF-43A8-8160-3629CF1792BF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572C7-CB6B-4953-B77C-0F4B6458ACB5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7C59AC-EF8D-4991-A502-8E543B590CAC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307681-C435-436D-A9A0-38698DC534E6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F96F91-1BD2-416A-96A1-FDE507046A8E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1BAF33-32F4-4BE8-B374-E2F565AC600D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248B44-DB52-4A03-B396-E54B2C60FF42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6BA162-3CA6-46E0-AEA4-89813757E962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B91DB9-010D-4A89-BB1B-4F69456D542B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66B313-AA28-4CA6-A978-2AA6F68052DB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EE41B4-83D5-4856-BEBF-8A92A89F0E00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E2D3F7-788A-4C4D-B67F-2C9FACB3D56B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467D1D-2F00-464E-86D8-CA7FB9B254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5D1BF0-5E47-43E2-A0B4-9BA1F93A41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11235A5C-A9CF-4192-8964-9CB0789AB79F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9A5AAF8B-AAB4-4801-AC00-CC823E6BD013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2D88E4-7A80-4B37-BB7A-AB4755C676F9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491D24-62B5-42A5-AA79-0B06B3CD9CEF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5BFA6A-B869-40B4-8245-6121DC8643F2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6A8949A-3C86-4C12-B7B9-1511F4B19497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C2A68C9-0BA0-4E89-AAD4-9CE02467BFED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466B666-F7CE-429F-99FC-E370365421E2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D9F48C-DF2F-435C-9311-8C12E2782ACA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5F6B875-99CB-409A-A084-891B4A369C1A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2FD9E1C-FB98-457F-846D-CB4BCA3B759A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35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48E0F37-A7D2-4F41-9C26-8EB7121A7CA5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A16AB70-00BB-4BF0-BA62-C7B04079BB64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0B0385F-CDF2-49BE-A82B-079F1248B3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86512D9-F68E-4358-8AA2-CF8468F3F96C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602959-5486-4D06-B156-D715F1FD4722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93816CA-C679-4815-B336-AA8FCB9121F0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Blink as a FreeRTOS task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41C9EFC-A44E-4574-8115-DF40A5D5D8BC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D89A6B6-FAC9-443A-A6BA-F0825DD83658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3ED53E4-BA42-466D-AEB2-7D263C1E1146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1CCDF4C-EE8E-4A80-AA30-8AE3A4BFA1B6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0E78949-DC41-4807-8C32-8B12CE6E1EC2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9E85C2D-2EE9-4A22-B8BA-25819E0193A4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Move blink.ino into a task using vTaskDelay.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1123C15-FC12-481C-8E4E-5AD286A47266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F914CDC-9CA0-403D-B2DE-AADFC419D099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ledTask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Call xTaskCreate in setup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Leave loop empty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Print task heartbeat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7D0E250-2B39-43D9-9517-8A84E9000E42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DCA9B20-372D-4B5C-ACBC-E7AA15C4F8F6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LED blinks from a task.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2DD94D2-6299-4F52-B642-11F06BFAFE13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2FCE117-4C99-4C3B-BC67-A72016A3B857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a task handle and suspend it.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1D3FC6E-964F-4307-8CB6-81791DDC3A1D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B4DCFBD7-5A1C-4790-BD5C-471BBDBF4855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92E08A5-9092-4C7C-BBD7-153F673E9F48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LED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Serial Monitor</a:t>
            </a:r>
          </a:p>
        </p:txBody>
      </p:sp>
    </p:spTree>
    <p:extLst>
      <p:ext uri="{BB962C8B-B14F-4D97-AF65-F5344CB8AC3E}">
        <p14:creationId xmlns:p14="http://schemas.microsoft.com/office/powerpoint/2010/main" val="445733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7C449B48-3954-4331-9034-D6E50CF1257F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AAB635-6B98-4D7F-B7F5-A49EF4B09EEB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299F64-1042-46B6-B4C1-94DDA033CC19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06FE2B-9041-4DAC-9FB9-51B0D4539E50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14DAAF-DA6E-4AFC-8321-6B3ED8ED6EFF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1C8E95-14DB-459A-87BE-AC0A42F0F36C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343ECE-D926-47E7-8E60-53F9EFD255A2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E52A1F-7B68-4295-BFC6-727CD52EA0C5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7836C8-6BD3-4828-A655-2C34AB6650C7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B02984-EA84-45E6-8209-64E9DB961AC0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0AE27C-2AB4-4BF5-BE15-B2532922BA85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D73958-C757-4A97-9268-737B1FCE9871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E44DE0-2237-4EAB-AAAA-13D4FCBC1A7E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13F2B6-B578-4609-8BA8-9EF93575151C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968A65-6B3B-4731-898B-53337A3D1C54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E0ACA1-87B6-45DB-BE6C-4EDB2E8E0558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FC5CA4-F589-4C35-B71A-1C6CB5FBF9E4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F32DBD-A274-49B9-8EB0-9B5CFEBE0111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A8C4D6-B9CC-45FA-8F5E-62F1208F46E9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CFDDB2-4A52-48C4-9849-15027EDE9533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DB8D81-4CEC-4512-902A-0BD45FD8ED49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40A516-E143-46DE-9A0D-57D012F32450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1E3FBC-A334-44D5-898D-7197B3790F8E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EB76BD-7644-4142-B7D9-DA67662329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23A464-C625-4888-9830-AE51E859A7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585ADF09-0B83-4B1F-98BA-E27D3A226B65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9D18F759-B4DA-4554-A97E-86AACB925AF5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131036-59FC-43B8-8D32-0D930AAFAF70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DD253A-9E85-421C-83B4-DD0D2B92D168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6D77D42-FCB7-441C-9D7E-B3DC4F0CC76C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B5C13E8-34F7-4346-9689-C46979FF85D4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B53405D-7DED-40C0-8BB1-B657F6644C54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56CC6C3-1469-43B4-83DB-1A2709710F92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7B687F-F37F-4531-8F82-19B49D373245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560EAA9-FF13-4E75-9D90-D8A9816AEDFC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07DD36-017F-4F87-A9FC-EAEBA3343A17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36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9E4417B-4C93-4865-805A-634780461C69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C19DF86-B9C6-4BDC-B18C-35F7230666D1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1AF224-ECBE-468B-86E6-1FEC895D5681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Suspend and resume are explicit control levers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C29ADD8-8B4B-4CE5-9D41-4344CEC82B89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14D9262-4D66-4A1A-BCE2-C9E45DAF59E8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F574C4-1E0B-420A-B830-48EB6E60BBE2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72D55CF-EF3C-481B-B845-6BACCB41B8D6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18FF4C-AFA7-4900-8FBF-9B03A15F0FA8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Running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3AE3328-4204-4336-B6A0-FAB38E4DBFEF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3F24493-A0E4-4F2A-B965-42B8D1540963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960F7A-404F-498D-B0B2-7411C3100927}"/>
              </a:ext>
            </a:extLst>
          </p:cNvPr>
          <p:cNvSpPr>
            <a:spLocks noGrp="1"/>
          </p:cNvSpPr>
          <p:nvPr/>
        </p:nvSpPr>
        <p:spPr>
          <a:xfrm>
            <a:off x="29908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BF8E453-9DED-44FF-AC8F-EA5206B4C964}"/>
              </a:ext>
            </a:extLst>
          </p:cNvPr>
          <p:cNvSpPr>
            <a:spLocks noGrp="1"/>
          </p:cNvSpPr>
          <p:nvPr/>
        </p:nvSpPr>
        <p:spPr>
          <a:xfrm>
            <a:off x="29908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Suspend</a:t>
            </a:r>
          </a:p>
        </p:txBody>
      </p:sp>
      <p:cxnSp>
        <p:nvCxnSpPr>
          <p:cNvPr id="113" name="Straight Arrow Connector 112"/>
          <p:cNvCxnSpPr>
            <a:stCxn id="41" idx="3"/>
            <a:endCxn id="45" idx="1"/>
          </p:cNvCxnSpPr>
          <p:nvPr/>
        </p:nvCxnSpPr>
        <p:spPr>
          <a:xfrm>
            <a:off x="24955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0747A0C-E4D2-43BC-B0CB-53C603F51B04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8D37251-7329-465C-BAC5-0971C4DFAB3C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B6BA661-88A7-4B54-8F05-8EA0A06A8986}"/>
              </a:ext>
            </a:extLst>
          </p:cNvPr>
          <p:cNvSpPr>
            <a:spLocks noGrp="1"/>
          </p:cNvSpPr>
          <p:nvPr/>
        </p:nvSpPr>
        <p:spPr>
          <a:xfrm>
            <a:off x="49720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9CB509C-11AF-4C47-A083-0382C84E665A}"/>
              </a:ext>
            </a:extLst>
          </p:cNvPr>
          <p:cNvSpPr>
            <a:spLocks noGrp="1"/>
          </p:cNvSpPr>
          <p:nvPr/>
        </p:nvSpPr>
        <p:spPr>
          <a:xfrm>
            <a:off x="49720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Paused</a:t>
            </a:r>
          </a:p>
        </p:txBody>
      </p:sp>
      <p:cxnSp>
        <p:nvCxnSpPr>
          <p:cNvPr id="118" name="Straight Arrow Connector 117"/>
          <p:cNvCxnSpPr>
            <a:stCxn id="45" idx="3"/>
            <a:endCxn id="50" idx="1"/>
          </p:cNvCxnSpPr>
          <p:nvPr/>
        </p:nvCxnSpPr>
        <p:spPr>
          <a:xfrm>
            <a:off x="44767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DD54658-9442-4DB9-A5E7-0235A976AD4D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4559798-73C1-46B0-A8F6-874B5A408E06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2DB820E-0231-420C-A9D9-41993CE6139A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B078562-715F-4C5C-B3B8-BC75DCB33051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Resume</a:t>
            </a:r>
          </a:p>
        </p:txBody>
      </p:sp>
      <p:cxnSp>
        <p:nvCxnSpPr>
          <p:cNvPr id="123" name="Straight Arrow Connector 122"/>
          <p:cNvCxnSpPr>
            <a:stCxn id="50" idx="3"/>
            <a:endCxn id="55" idx="1"/>
          </p:cNvCxnSpPr>
          <p:nvPr/>
        </p:nvCxnSpPr>
        <p:spPr>
          <a:xfrm>
            <a:off x="64579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31FEE70E-2CDD-4780-90D7-621129B4C85A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4754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B733BF4-1C4B-41FF-ADAC-F9B3AD3E459B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66675"/>
          </a:xfrm>
          <a:prstGeom prst="rect">
            <a:avLst/>
          </a:prstGeom>
          <a:solidFill>
            <a:srgbClr val="475467"/>
          </a:solidFill>
          <a:ln w="0">
            <a:noFill/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14A5AB1-9E48-45D2-94AB-1A1740640D5B}"/>
              </a:ext>
            </a:extLst>
          </p:cNvPr>
          <p:cNvSpPr>
            <a:spLocks noGrp="1"/>
          </p:cNvSpPr>
          <p:nvPr/>
        </p:nvSpPr>
        <p:spPr>
          <a:xfrm>
            <a:off x="89344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5F4471F-7FCE-42C7-8106-E4DEA3B52F7D}"/>
              </a:ext>
            </a:extLst>
          </p:cNvPr>
          <p:cNvSpPr>
            <a:spLocks noGrp="1"/>
          </p:cNvSpPr>
          <p:nvPr/>
        </p:nvSpPr>
        <p:spPr>
          <a:xfrm>
            <a:off x="89344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cxnSp>
        <p:nvCxnSpPr>
          <p:cNvPr id="128" name="Straight Arrow Connector 127"/>
          <p:cNvCxnSpPr>
            <a:stCxn id="55" idx="3"/>
            <a:endCxn id="60" idx="1"/>
          </p:cNvCxnSpPr>
          <p:nvPr/>
        </p:nvCxnSpPr>
        <p:spPr>
          <a:xfrm>
            <a:off x="84391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20487096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56246882-CCF6-44BD-9572-037004768D1F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6E36CD-81D7-49B5-A471-F91B1038EFC2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370201-0EAA-436A-B80E-BCB588E0B1DD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DE8B11-A95B-4468-9127-EE8008589E77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D4BE4C-CBF2-4B36-9ED6-69C430BF925D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1114D5-7C01-4BDB-9901-168559838CEB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5B764A-D925-402B-BBFB-F1DC6F4A6DE9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1EEC9C-113A-40FB-8010-322061DFC5C1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13BFE5-9AD8-4415-AFC5-7C791DBB37C1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9017EF-DED7-4ED0-96EF-2AD09FF95FAC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1B8B9A-D975-4218-90AC-7B4D8CCCDBAD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9FE449-57DA-42C9-AE6C-14CE68371C3C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711691-A256-43F8-920F-B49B84C1BC8D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9C0771-D6ED-454C-BF95-B4727C2A91EF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9E2FFF-3514-4E3E-AAA8-DB3242BA555F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728D29-46AA-4D8A-9C3A-35853275FE92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049641-9A66-4558-A376-8B3978C4C465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7BA315-A6F3-40EB-AA62-E728EA252C4F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E0697C-2999-47DB-B800-97A6E7EF30FA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68B42-5CD5-46F6-A7D4-D3A3F92D118C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F3EC25-4E8B-42BC-B967-0A5BB2CC02ED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1724F9-3C4A-409B-AE51-A626F53572F8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3FDAD8-C2F0-4AD7-AF4F-F2761C1E60B2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A43E1F-0D13-4186-8A01-D52F05EA47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7D31FB-A8BA-4616-A8EE-71293D64EF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BA71171B-80D8-4933-8D10-CD0C2F33C6AD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2260A7E4-1AD4-4699-BE25-BC3273359BBC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EFEDEA-1D2D-4B5A-98F0-4302E8DDFEF2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3CBF00-B2C6-40CE-B216-26496334F6C7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CC3AC0-6D0E-4ECD-8070-34C2B421DC46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D9CC0E5-93ED-4DE1-B787-17EF319C274C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E29356D-AEF5-4B1D-8D4D-392E05FE5032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2A3B228-46B0-4F1E-BD67-837373FBC827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A1239A8-B5BC-4030-9D55-6F1F1D410D4E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7DE23A9-FE4E-4711-BF25-64B0D83DB51D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A950290-304D-464F-808E-B1BA172A9507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37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EC1E51A-808E-423F-BE08-1A1F2D199235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90469FF-CBC7-4A3C-98A0-78DC725E851C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A06CF88-F2AD-4025-908B-E114F93125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8777F0-8D9C-4777-BEFF-613A26E4B125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EB09539-6A76-4985-B218-E8022DA23410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A717AEF-6492-4BEB-AF78-A043331B5F37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Suspend and resume a task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0E4781C-E36F-4D87-B99C-4B1F57A9346E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5F94C71-EE34-41DF-8C6B-674124F3E432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8EEF509-DDEF-4CE8-B17A-5F9E8B0EBFE6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095C2D9-811A-4979-B88C-CB0C5DBFC313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264A62B-1F8B-46B9-92DE-E2BF822088BD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09579F7-55D6-45AD-82C8-19934B0F1790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a button or Serial command to pause and resume blinking.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504C0E5-019C-483D-9C4B-F82430214AB3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9D8F3BD-4067-4B66-BB89-4E3FA919DEEB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Save the task handle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Call vTaskSuspend(handle)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Call vTaskResume(handle)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Print state changes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9203D70-5483-4193-958D-9E5184071615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3A9787B-76DF-4120-8F6E-A409CF979B2A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Blink pauses and resumes on command.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CC14673-B053-44C2-A2D0-AAA329AEDB87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C8CBDDF-F350-4FCD-8294-FE984D6DC7EB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Can another task still run while LED is suspended?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9D1FE98-3F1B-4346-9D4F-5E3B5FBA1FA8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08E12A4E-3B61-4F8B-8FCC-A303BCF5428B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2079047-8735-4AE3-9F33-ED2C5C0B1738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LED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Button</a:t>
            </a:r>
          </a:p>
        </p:txBody>
      </p:sp>
    </p:spTree>
    <p:extLst>
      <p:ext uri="{BB962C8B-B14F-4D97-AF65-F5344CB8AC3E}">
        <p14:creationId xmlns:p14="http://schemas.microsoft.com/office/powerpoint/2010/main" val="15523434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CE984A5E-6916-4E46-936B-65C214D8964A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B0764B-08AE-48E5-8C93-0783F60B3175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0570F2-836C-4329-9888-115E14D3393C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333C06-9395-421E-A1D6-C09035711D3F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DA7995-C9FF-44C5-AA4D-12D03792A8DC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2705B1-C5EA-4103-916A-78B9B261EE20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2C646-EDA6-457C-8201-E9712B134EFC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8505D5-B1B3-4EC4-A51D-A82C19AE5B46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F2B232-5059-4A93-B340-2CF66EA371D1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ADE9CB-9654-4788-9E64-89B6C850244D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59BD77-BCE0-47A2-99B9-3D4795B31D27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761311-7BE4-40CE-BCF4-C6B9065C5E71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03CF92-CBBF-4AAF-94D6-754C496E0BE5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65023A-ADA7-4E57-919F-461F09352344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DACE9E-11EC-4C68-B3AB-8B32A5B07733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4224D5-FEF1-454D-A041-5F4CC7AB9E59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D7B611-3AA6-4CFA-9D50-849BC5BE38A8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D5559E-3B4F-4D8B-81ED-AEC334D1BF76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5B85B3-6963-4EEE-A5B7-F0099FEDC9B0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B32FF5-CE1E-4B21-83A5-65F51929A46B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FDF30C-EEAA-4680-B7C5-EA0DD8E7CE52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36EAA1-D2BD-422F-92D0-7FF6A191F638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E916E5-1163-4A9C-8327-C4A69BA38753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07F761-084E-46AC-A97F-8F4A26773A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14FFC5-AEAE-4894-8EBD-1B21D6A38B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1122CBF9-F31E-4377-BE95-1D81EBEB09D4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188FB985-9398-4912-8F23-8FC822B69B03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E30C16-AA4D-4064-A3FA-463C5481F35C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6BDAE0-714C-4DF6-A93A-609278B5D64F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60AC929-BC58-40AB-82E6-A3C1896A48DE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62B51E-65B5-45AC-BE7F-97E6A4244DA4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4974AD0-4619-4EEE-B57F-CDF827239323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589CF22-76A2-4CFC-A40A-D5E7281F3F12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406780D-5FFA-4347-88FA-78FC942E6737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7ABE9A5-37BD-4AAE-B349-2666B499661F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B08577-EF2C-4730-AC18-1C9D77AA7DE3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38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B1D4D27-FFBE-43DE-A0EE-4A7DF15AD26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C63473D-EFF7-4875-A350-14E3AC8B5473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FC82648-5262-487E-92FC-B13F9895AA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B88D0D-16C1-4F93-A35D-ED15854D6074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DAF44EA-1247-407F-9B03-BBBE352CFAB4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48289C5-E1B6-43E8-BA72-72902113845A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MultiBlink with tasks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442670E-FD1D-4E8F-A7BD-EC4BE8D3FF5F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874A744-DA31-4757-82DB-78AAE8EF2682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F78631E-8FA8-45F8-859B-5EC39C78911A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DFA509B-9B01-449D-A6DD-8E14D99B7751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3CA1C09-12E1-4444-A6CF-99480F57EC1D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8EC901F-4233-4C02-B221-98590FD78EF5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two independent LED tasks with different delays.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74CEC0A-C1E1-4307-B3D8-70B421F4D2FD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6922CC6-EB4E-4437-8245-A19B90F8F313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ledTaskA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ledTaskB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different intervals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Watch both tasks run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972B671-7735-4E44-911A-32CEFF2888ED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DBA09B2-9524-4E10-B309-AD0CBA9F1BED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Two task-driven blink rates.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C786261-5E6E-434A-8890-5138E80F916F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CAD76C7-124B-4643-91DE-13AC7802386C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Pin one task to each core.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6FA24B3-681D-45F5-8A99-0742E9D9CAC9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8B1395E0-A7AC-4A6C-A9A1-7DDCAFF8BA38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C2DF85B-D60E-4F5D-A568-94A7FCE87844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 LEDs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Resistors</a:t>
            </a:r>
          </a:p>
        </p:txBody>
      </p:sp>
    </p:spTree>
    <p:extLst>
      <p:ext uri="{BB962C8B-B14F-4D97-AF65-F5344CB8AC3E}">
        <p14:creationId xmlns:p14="http://schemas.microsoft.com/office/powerpoint/2010/main" val="16234307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3CAEE56A-0061-4B17-BFAF-DC49AE6D663B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A2093F-46CB-4134-8733-4806D33D6274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95C1A3-097C-4406-B40F-CD4A711749F7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2BB596-5D46-4B78-AE6A-071C1A5F08EC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B5C945-4CF2-4275-BE9B-D07856B878F5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8938A0-6D96-45EA-AED9-8479A52F00E0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EB3D2B-B3F9-4A34-A87F-D7190D714363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3785FA-2B6B-4574-A78D-8710FF765C46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4B304A-9BB9-4C95-B8F0-D998ABD29E50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1F7CE4-6511-45E1-8E51-AA60188D6590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D6C484-5A9E-469E-BC39-A6AC39601574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803EC8-6501-40EE-89BA-88D9C2048BA0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20B7CE-99B5-4ECF-A4B9-B70E610A0E59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F6AC52-DC85-4884-8A80-0698F826DDEF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27602B-882C-4BDF-AFBA-3D34DF20792A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6E4C44-C6B5-4D52-9D8E-F4CBA64CF031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2C394A-D7A8-42A7-ADE0-5C78AA108BF7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FE0CD5-8954-4CE6-9E74-8467B96CC7A7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FCE35D-33BD-41BD-BA1A-F0E6652AB660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F5E984-22F8-4AF8-9531-5F0055773FF1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EAA33D-D9A2-4DB0-A4FA-8EEB19B6AFED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BF0456-1915-432F-89F1-CBB3F343D03F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91D525-B67F-4396-B12C-E8508050D1A1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A5F975-6086-48F5-9ACC-A19DC4AF38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ABB2CB-A4CC-4172-9C38-43E8C203F0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79104D31-CA49-4F18-92B6-1D8567687BBE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59C3B07E-850A-4537-8A99-778D54941E8E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56BEAAB-0076-4DC3-8EDF-8D569A2AC79E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3533AE-198C-49B0-87F5-FDE5739F2BC4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90F6083-58EA-4500-A002-C47363F300C6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9BCA65A-70F4-483E-B90A-B73116E3A678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FE28EA6-1688-4B2D-986D-CBC7504D9F5D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2F0D0EF-1A6D-4D81-8443-B1D78358025C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E56FC9-F3A5-452A-9059-18E349975ABD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BAF5E1-8DDF-4803-A105-B69088A7ABEC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ECCA90-4B33-448E-9A02-DCC32850295C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39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51CE3A7-1E7D-49AC-B39D-302F146BFD29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6F1FB3A-A489-4FEB-AC2D-1E8E84C699B4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162B3BA-4AE4-4F3A-9FA2-47709CF9B3A6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0382250" cy="3905250"/>
          </a:xfrm>
          <a:prstGeom prst="roundRect">
            <a:avLst>
              <a:gd name="adj" fmla="val 4390"/>
            </a:avLst>
          </a:prstGeom>
          <a:solidFill>
            <a:srgbClr val="0F1D2E"/>
          </a:solidFill>
          <a:ln w="11430">
            <a:solidFill>
              <a:srgbClr val="0F1D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9C88F6C-8BF7-4F99-A5D2-DB9AECCCF4F4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52400" cy="39052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ACD380A-C2CA-4151-8743-0391860B7A65}"/>
              </a:ext>
            </a:extLst>
          </p:cNvPr>
          <p:cNvSpPr>
            <a:spLocks noGrp="1"/>
          </p:cNvSpPr>
          <p:nvPr/>
        </p:nvSpPr>
        <p:spPr>
          <a:xfrm>
            <a:off x="1257300" y="1543050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662A664-F4C4-449E-949E-3F886901D5E8}"/>
              </a:ext>
            </a:extLst>
          </p:cNvPr>
          <p:cNvSpPr>
            <a:spLocks noGrp="1"/>
          </p:cNvSpPr>
          <p:nvPr/>
        </p:nvSpPr>
        <p:spPr>
          <a:xfrm>
            <a:off x="1485900" y="1543050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1749D69-6F5E-4BAF-B0E6-B40596D84D7F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A8BE3A-A861-4733-929F-3FB45AE7EC69}"/>
              </a:ext>
            </a:extLst>
          </p:cNvPr>
          <p:cNvSpPr>
            <a:spLocks noGrp="1"/>
          </p:cNvSpPr>
          <p:nvPr/>
        </p:nvSpPr>
        <p:spPr>
          <a:xfrm>
            <a:off x="1257300" y="20383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rPr>
              <a:t>MODULE 04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A52EFA0-18B5-4C08-9A84-65677C0950E8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809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Scheduling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8FC3A67-882C-4D7D-9BFE-821D8E3BA645}"/>
              </a:ext>
            </a:extLst>
          </p:cNvPr>
          <p:cNvSpPr>
            <a:spLocks noGrp="1"/>
          </p:cNvSpPr>
          <p:nvPr/>
        </p:nvSpPr>
        <p:spPr>
          <a:xfrm>
            <a:off x="1257300" y="38481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// who gets the CPU next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CC184A3-91A4-461B-81B0-6F66C6FE5ECE}"/>
              </a:ext>
            </a:extLst>
          </p:cNvPr>
          <p:cNvSpPr>
            <a:spLocks noGrp="1"/>
          </p:cNvSpPr>
          <p:nvPr/>
        </p:nvSpPr>
        <p:spPr>
          <a:xfrm>
            <a:off x="8953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NEXT_MODULE</a:t>
            </a:r>
          </a:p>
        </p:txBody>
      </p:sp>
    </p:spTree>
    <p:extLst>
      <p:ext uri="{BB962C8B-B14F-4D97-AF65-F5344CB8AC3E}">
        <p14:creationId xmlns:p14="http://schemas.microsoft.com/office/powerpoint/2010/main" val="21140944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6356444C-389F-4CE3-9861-D822764EBB8D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E7443E-BB62-45CB-9A65-18B97FCCC359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AB70B4-CCD3-424D-81B1-3C2D08C140D4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32BC8A-9EA1-44BE-ADB1-A2E01CCD4C95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EB9564-8D68-46DC-9302-E24AC7E561BC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644567-F489-4FA5-8071-DFFBBCECF832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48D349-E588-4CFD-A47C-0D1D6C11BA06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0623DB-5F07-4538-BF01-C6B53B12F2F3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660C25-B2FE-434D-BFD8-BB01467FF720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F30214-1026-438B-BB85-6726DB49C3BA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8E2D65-EC2E-4AAB-BE27-76C079313758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44C3CE-622E-4EAD-8641-5500EDE6F55E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5BFB49-9E5C-4C33-A9C8-8F22DD6BA3A4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145707-3CCF-4F13-892C-77016358F161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1A1070-52CC-4DFA-8B27-8C345470AA87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5B3309-B4E3-41C7-A4CF-30704B7613D0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4F5882-7B14-4D49-BD27-50B9818B00FB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B645F3-58A9-4610-979A-5543955284EE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C77F1B-D5AF-4C4F-B99D-D7ED936FF50B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C75E0F-85C6-4C2B-8897-FDFE2586DD54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0AB5F3-D5EE-4316-8A42-F05430803A4F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754BEA-B77D-4C52-902E-8DB3BA700988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3A6157-E86E-47FE-A25F-A567B474E682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A51BE4-7654-4B1B-A082-363AB5AB22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FF8678-ED72-465C-90EC-700434689F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9FF823A-AC43-4005-88F6-61497FC97E08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98C45C77-AFA2-46B5-9E7F-BD02DED77B52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90E787-5CAC-461D-ACF4-FB10547F48E3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E133504-4622-4B6E-8E5B-119316173283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3BB1708-1E27-458F-A278-644827E590B8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595093A-BCED-4ECF-A146-2370D23B9E54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1E1962A-1987-4569-97DE-DE6B06411359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1B9B67D-0D76-4D85-9C87-370225B8C770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AE35DF9-2264-4310-8E33-881989DB9860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EA941C-C92E-4799-867A-1B445DCB38E7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92513E-3743-4268-910B-93FFC8E63741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40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2FD8AE2-EA06-4DB3-9D98-A6E44A6E44F7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2F7E1BA-83D4-448E-9E58-22902E1EB46D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0B985DE-FE11-48EC-B74A-39F441D102B3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scheduler is the traffic controller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28A8229-81DF-4480-8669-CEF315836E66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F1FA0E7-1857-4E60-9872-FC97EA9DCB3C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10191750" cy="1790700"/>
          </a:xfrm>
          <a:prstGeom prst="roundRect">
            <a:avLst>
              <a:gd name="adj" fmla="val 7447"/>
            </a:avLst>
          </a:prstGeom>
          <a:solidFill>
            <a:srgbClr val="FFFFFF">
              <a:alpha val="72000"/>
            </a:srgbClr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6D1A73A2-7957-485E-A83C-B2AF1F873D88}"/>
              </a:ext>
            </a:extLst>
          </p:cNvPr>
          <p:cNvSpPr>
            <a:spLocks noGrp="1"/>
          </p:cNvSpPr>
          <p:nvPr/>
        </p:nvSpPr>
        <p:spPr>
          <a:xfrm>
            <a:off x="1352550" y="3695700"/>
            <a:ext cx="9144000" cy="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ED90B09-542E-4992-B210-3B419145FF76}"/>
              </a:ext>
            </a:extLst>
          </p:cNvPr>
          <p:cNvSpPr>
            <a:spLocks noGrp="1"/>
          </p:cNvSpPr>
          <p:nvPr/>
        </p:nvSpPr>
        <p:spPr>
          <a:xfrm>
            <a:off x="1209675" y="3571875"/>
            <a:ext cx="247650" cy="247650"/>
          </a:xfrm>
          <a:prstGeom prst="ellipse">
            <a:avLst/>
          </a:prstGeom>
          <a:solidFill>
            <a:srgbClr val="2563EB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2280E4-DAF5-4805-961E-DFBDE67DCBB3}"/>
              </a:ext>
            </a:extLst>
          </p:cNvPr>
          <p:cNvSpPr>
            <a:spLocks noGrp="1"/>
          </p:cNvSpPr>
          <p:nvPr/>
        </p:nvSpPr>
        <p:spPr>
          <a:xfrm>
            <a:off x="57150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Task 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769CE63-5191-4119-B24D-4E0AB74380F7}"/>
              </a:ext>
            </a:extLst>
          </p:cNvPr>
          <p:cNvSpPr>
            <a:spLocks noGrp="1"/>
          </p:cNvSpPr>
          <p:nvPr/>
        </p:nvSpPr>
        <p:spPr>
          <a:xfrm>
            <a:off x="57150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runs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DE7F5BE-F5F1-47C3-8213-F3E005EC31F6}"/>
              </a:ext>
            </a:extLst>
          </p:cNvPr>
          <p:cNvSpPr>
            <a:spLocks noGrp="1"/>
          </p:cNvSpPr>
          <p:nvPr/>
        </p:nvSpPr>
        <p:spPr>
          <a:xfrm>
            <a:off x="3448050" y="3571875"/>
            <a:ext cx="247650" cy="247650"/>
          </a:xfrm>
          <a:prstGeom prst="ellipse">
            <a:avLst/>
          </a:prstGeom>
          <a:solidFill>
            <a:srgbClr val="07844A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714C390-9D2E-4CC2-8C3A-D5F979744DAF}"/>
              </a:ext>
            </a:extLst>
          </p:cNvPr>
          <p:cNvSpPr>
            <a:spLocks noGrp="1"/>
          </p:cNvSpPr>
          <p:nvPr/>
        </p:nvSpPr>
        <p:spPr>
          <a:xfrm>
            <a:off x="2809875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Task 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BA13A19-E893-4970-A0D1-3D2B64BE7576}"/>
              </a:ext>
            </a:extLst>
          </p:cNvPr>
          <p:cNvSpPr>
            <a:spLocks noGrp="1"/>
          </p:cNvSpPr>
          <p:nvPr/>
        </p:nvSpPr>
        <p:spPr>
          <a:xfrm>
            <a:off x="2809875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778432B-0390-4EDB-8CF2-6723192122C5}"/>
              </a:ext>
            </a:extLst>
          </p:cNvPr>
          <p:cNvSpPr>
            <a:spLocks noGrp="1"/>
          </p:cNvSpPr>
          <p:nvPr/>
        </p:nvSpPr>
        <p:spPr>
          <a:xfrm>
            <a:off x="5686425" y="3571875"/>
            <a:ext cx="247650" cy="247650"/>
          </a:xfrm>
          <a:prstGeom prst="ellipse">
            <a:avLst/>
          </a:prstGeom>
          <a:solidFill>
            <a:srgbClr val="F97316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93E8CD1-F46A-4084-8658-E5D961BC5340}"/>
              </a:ext>
            </a:extLst>
          </p:cNvPr>
          <p:cNvSpPr>
            <a:spLocks noGrp="1"/>
          </p:cNvSpPr>
          <p:nvPr/>
        </p:nvSpPr>
        <p:spPr>
          <a:xfrm>
            <a:off x="504825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Task 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F24FFF3-7796-4B99-A1C7-A7CC75B07FE1}"/>
              </a:ext>
            </a:extLst>
          </p:cNvPr>
          <p:cNvSpPr>
            <a:spLocks noGrp="1"/>
          </p:cNvSpPr>
          <p:nvPr/>
        </p:nvSpPr>
        <p:spPr>
          <a:xfrm>
            <a:off x="504825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delays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093A4B8-1313-4584-A6AB-712DC00154E2}"/>
              </a:ext>
            </a:extLst>
          </p:cNvPr>
          <p:cNvSpPr>
            <a:spLocks noGrp="1"/>
          </p:cNvSpPr>
          <p:nvPr/>
        </p:nvSpPr>
        <p:spPr>
          <a:xfrm>
            <a:off x="7924800" y="3571875"/>
            <a:ext cx="247650" cy="247650"/>
          </a:xfrm>
          <a:prstGeom prst="ellipse">
            <a:avLst/>
          </a:prstGeom>
          <a:solidFill>
            <a:srgbClr val="07844A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B440E20-AA15-4ACB-8C1B-24D3AB664814}"/>
              </a:ext>
            </a:extLst>
          </p:cNvPr>
          <p:cNvSpPr>
            <a:spLocks noGrp="1"/>
          </p:cNvSpPr>
          <p:nvPr/>
        </p:nvSpPr>
        <p:spPr>
          <a:xfrm>
            <a:off x="7286625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Task B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BF97F46-F06C-472A-A5A5-280D895AEDA8}"/>
              </a:ext>
            </a:extLst>
          </p:cNvPr>
          <p:cNvSpPr>
            <a:spLocks noGrp="1"/>
          </p:cNvSpPr>
          <p:nvPr/>
        </p:nvSpPr>
        <p:spPr>
          <a:xfrm>
            <a:off x="7286625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runs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2001CE9-C04B-46DC-9B5D-405302889E7F}"/>
              </a:ext>
            </a:extLst>
          </p:cNvPr>
          <p:cNvSpPr>
            <a:spLocks noGrp="1"/>
          </p:cNvSpPr>
          <p:nvPr/>
        </p:nvSpPr>
        <p:spPr>
          <a:xfrm>
            <a:off x="10163175" y="3571875"/>
            <a:ext cx="247650" cy="247650"/>
          </a:xfrm>
          <a:prstGeom prst="ellipse">
            <a:avLst/>
          </a:prstGeom>
          <a:solidFill>
            <a:srgbClr val="475467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3A17203-FCD2-4671-A5CC-E551A7D6718E}"/>
              </a:ext>
            </a:extLst>
          </p:cNvPr>
          <p:cNvSpPr>
            <a:spLocks noGrp="1"/>
          </p:cNvSpPr>
          <p:nvPr/>
        </p:nvSpPr>
        <p:spPr>
          <a:xfrm>
            <a:off x="952500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Idle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AA6B43F-8A51-4D74-BFDA-1E26FFF72DB6}"/>
              </a:ext>
            </a:extLst>
          </p:cNvPr>
          <p:cNvSpPr>
            <a:spLocks noGrp="1"/>
          </p:cNvSpPr>
          <p:nvPr/>
        </p:nvSpPr>
        <p:spPr>
          <a:xfrm>
            <a:off x="952500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fills gaps</a:t>
            </a:r>
          </a:p>
        </p:txBody>
      </p:sp>
    </p:spTree>
    <p:extLst>
      <p:ext uri="{BB962C8B-B14F-4D97-AF65-F5344CB8AC3E}">
        <p14:creationId xmlns:p14="http://schemas.microsoft.com/office/powerpoint/2010/main" val="3101926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4FA38427-A1B8-4E49-A613-7F87E8E43768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3A6FFD-8790-40BC-BF62-DE1E93A59627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FB244D-BD94-4040-925A-2D4290C19662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00BC70-953C-403E-ADAD-2B0F28A164A1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16AE58-EA09-4E41-A082-5DB7A749C88A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EF5135-2036-4CAF-89C2-AE89CDFECAE1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BDE537-AFBD-46E2-99FB-17802D4D7813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1620D3-1BB3-46DC-95EA-429C07570308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C0D502-C0F9-4DCE-BD09-0D766F3C823D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E23676-93F6-47E4-AB3A-D5EB0316DC71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5AE0FE-6470-4761-880B-226AF4569548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117C55-9851-46FA-A155-9B7DDA9C81E6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464035-C187-47D4-AFBA-DC61AF70DCE4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FBE492-A47D-432D-80E2-32EB5ACF6346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E12519-7368-4094-B386-AA3A0AF9E3C5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01C7BA-18DD-4E84-B9D1-85DBAB7769D5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0CC0CC-6662-485E-9DBC-18AD7B314BD2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17C279-1579-426C-BA74-0F18565F625E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082D5D-5989-4F23-9804-831565035E25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2AF885-AFD0-4430-A16C-2DC5554F4322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CCB19F-EF51-4AE2-B586-10CD36F1577E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4AF811-2BAB-4A85-86A1-E76B5372B707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6B7694-C86F-4514-A920-3370026DED7A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E8DFE7-D97E-48CE-B196-2A062328C4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5478D5-B281-402C-8DC8-FA382355A4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36E2DE32-AD4A-4A1B-A1A0-521E0ADB752F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57B3578A-9F63-4A6E-A93E-768915EFF876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DEE835-1EE0-48CF-ACEA-86A2E6F10B92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47E1AF-3E6E-4208-B00B-BBDA2F7DF2D5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5FBB3E7-D715-4E1C-A9B9-9D840BFA5E9B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134E589-6166-48EF-9949-A5332E431104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B7F36D0-D180-4ACA-A37B-6ED7AA00ECD2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EFBBBD5-20B9-4AA1-B75D-A155D4D05460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94F706-CE67-456E-A7DE-BB3244AB8070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F445872-3C7B-41F0-BADC-709147DB4959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E76EEF6-923C-4119-A761-CD87ACDC934B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41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E1AB167-7D81-41C6-94B8-BFB983E6313A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D21A7B4-1BCA-4084-A86E-FE78CD0C7585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B0E3515-333F-495B-9689-571B7F858DDF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Ready, running, blocked explains most timing bugs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8CC3D56-54EA-48EF-AE9C-2E0687472791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C5E95D3-BFE2-440A-9538-5CEEF50F860D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9050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3401AE4-E176-4065-AF29-55F5CB560D07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90500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2B1330-7B84-498D-8656-31EDBACDA44E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2829153-A5A5-4C6C-9914-FB19E1B493B7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E9D8913-2E81-486E-8D7A-DFEDCE63E99D}"/>
              </a:ext>
            </a:extLst>
          </p:cNvPr>
          <p:cNvSpPr>
            <a:spLocks noGrp="1"/>
          </p:cNvSpPr>
          <p:nvPr/>
        </p:nvSpPr>
        <p:spPr>
          <a:xfrm>
            <a:off x="3105150" y="3143250"/>
            <a:ext cx="19050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10BE23B-A3A0-46C4-8EF2-C8D88BD0DD24}"/>
              </a:ext>
            </a:extLst>
          </p:cNvPr>
          <p:cNvSpPr>
            <a:spLocks noGrp="1"/>
          </p:cNvSpPr>
          <p:nvPr/>
        </p:nvSpPr>
        <p:spPr>
          <a:xfrm>
            <a:off x="3105150" y="3143250"/>
            <a:ext cx="190500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59BE2F6-51B8-4EE0-BC91-98478093C9FC}"/>
              </a:ext>
            </a:extLst>
          </p:cNvPr>
          <p:cNvSpPr>
            <a:spLocks noGrp="1"/>
          </p:cNvSpPr>
          <p:nvPr/>
        </p:nvSpPr>
        <p:spPr>
          <a:xfrm>
            <a:off x="32575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16BE598-D128-4371-83CC-567CEEDC699D}"/>
              </a:ext>
            </a:extLst>
          </p:cNvPr>
          <p:cNvSpPr>
            <a:spLocks noGrp="1"/>
          </p:cNvSpPr>
          <p:nvPr/>
        </p:nvSpPr>
        <p:spPr>
          <a:xfrm>
            <a:off x="3257550" y="36195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Running</a:t>
            </a:r>
          </a:p>
        </p:txBody>
      </p:sp>
      <p:cxnSp>
        <p:nvCxnSpPr>
          <p:cNvPr id="108" name="Straight Arrow Connector 107"/>
          <p:cNvCxnSpPr>
            <a:stCxn id="41" idx="3"/>
            <a:endCxn id="45" idx="1"/>
          </p:cNvCxnSpPr>
          <p:nvPr/>
        </p:nvCxnSpPr>
        <p:spPr>
          <a:xfrm>
            <a:off x="27622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3D2DC8A-984A-4CF5-A860-690008802352}"/>
              </a:ext>
            </a:extLst>
          </p:cNvPr>
          <p:cNvSpPr>
            <a:spLocks noGrp="1"/>
          </p:cNvSpPr>
          <p:nvPr/>
        </p:nvSpPr>
        <p:spPr>
          <a:xfrm>
            <a:off x="5353050" y="3143250"/>
            <a:ext cx="19050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EA07B90-003D-468C-94F9-035A6E7E90E7}"/>
              </a:ext>
            </a:extLst>
          </p:cNvPr>
          <p:cNvSpPr>
            <a:spLocks noGrp="1"/>
          </p:cNvSpPr>
          <p:nvPr/>
        </p:nvSpPr>
        <p:spPr>
          <a:xfrm>
            <a:off x="5353050" y="3143250"/>
            <a:ext cx="190500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AC5F6F0-4DC5-462A-927E-8309D218349A}"/>
              </a:ext>
            </a:extLst>
          </p:cNvPr>
          <p:cNvSpPr>
            <a:spLocks noGrp="1"/>
          </p:cNvSpPr>
          <p:nvPr/>
        </p:nvSpPr>
        <p:spPr>
          <a:xfrm>
            <a:off x="55054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212EF67-7671-4725-A066-A9EC195F70DA}"/>
              </a:ext>
            </a:extLst>
          </p:cNvPr>
          <p:cNvSpPr>
            <a:spLocks noGrp="1"/>
          </p:cNvSpPr>
          <p:nvPr/>
        </p:nvSpPr>
        <p:spPr>
          <a:xfrm>
            <a:off x="5505450" y="36195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cxnSp>
        <p:nvCxnSpPr>
          <p:cNvPr id="113" name="Straight Arrow Connector 112"/>
          <p:cNvCxnSpPr>
            <a:stCxn id="45" idx="3"/>
            <a:endCxn id="50" idx="1"/>
          </p:cNvCxnSpPr>
          <p:nvPr/>
        </p:nvCxnSpPr>
        <p:spPr>
          <a:xfrm>
            <a:off x="50101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D5C5F5F-F636-4BAD-8E5F-25E54C564C38}"/>
              </a:ext>
            </a:extLst>
          </p:cNvPr>
          <p:cNvSpPr>
            <a:spLocks noGrp="1"/>
          </p:cNvSpPr>
          <p:nvPr/>
        </p:nvSpPr>
        <p:spPr>
          <a:xfrm>
            <a:off x="7600950" y="3143250"/>
            <a:ext cx="19050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DB46D22-A1B2-4EE5-8B07-0322492038A1}"/>
              </a:ext>
            </a:extLst>
          </p:cNvPr>
          <p:cNvSpPr>
            <a:spLocks noGrp="1"/>
          </p:cNvSpPr>
          <p:nvPr/>
        </p:nvSpPr>
        <p:spPr>
          <a:xfrm>
            <a:off x="7600950" y="3143250"/>
            <a:ext cx="190500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8D0B055-8E3F-47B5-BE4B-CBCCCF259251}"/>
              </a:ext>
            </a:extLst>
          </p:cNvPr>
          <p:cNvSpPr>
            <a:spLocks noGrp="1"/>
          </p:cNvSpPr>
          <p:nvPr/>
        </p:nvSpPr>
        <p:spPr>
          <a:xfrm>
            <a:off x="77533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2C29F31-5F59-4208-A806-87FD550EEF12}"/>
              </a:ext>
            </a:extLst>
          </p:cNvPr>
          <p:cNvSpPr>
            <a:spLocks noGrp="1"/>
          </p:cNvSpPr>
          <p:nvPr/>
        </p:nvSpPr>
        <p:spPr>
          <a:xfrm>
            <a:off x="7753350" y="36195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cxnSp>
        <p:nvCxnSpPr>
          <p:cNvPr id="118" name="Straight Arrow Connector 117"/>
          <p:cNvCxnSpPr>
            <a:stCxn id="50" idx="3"/>
            <a:endCxn id="55" idx="1"/>
          </p:cNvCxnSpPr>
          <p:nvPr/>
        </p:nvCxnSpPr>
        <p:spPr>
          <a:xfrm>
            <a:off x="72580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4814779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B1E390FF-3C10-4BA0-BF5F-0D4E60649274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6507BD-330E-4417-A5AE-6D18E1E05FEE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119982-01DE-47B4-B207-A9AF03344BF3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4AE04B-A405-44C6-84C4-EAA9464FA2EC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B01675-CFFF-47C8-BF08-85B5AC36ACEA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9D2FB-15B1-4F3B-96D8-71BF48245753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BFB1F1-DD01-4BD3-9EC5-07329F247C80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8803D6-B87A-44F3-BAEC-C7E8B4E11F76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BA18A9-9E82-41DD-89B0-1F20A44A1408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82690-7956-4C68-B1B7-31D4DABD0465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ED0E94-B1E5-4507-A1B8-71F0A5222F72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2730A7-AE84-40A9-92DC-88BE230D55F2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6A4681-ED03-4F91-B640-097ADA501039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6F2A2A-E47B-4285-8486-3CD34D1A186D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F8158D-51D0-4989-B9A9-FD18E2A4E74C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895B22-F601-46F7-AF1E-B60FDB866253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E396EA-F34D-41BB-AD97-048DAC09E976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6C2D6D-DC87-4AA4-A4B0-C1424E32517F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4C4C82-E830-4E14-BFC1-631C4DA3DFED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DEC56A-7714-4865-B2CA-33AAB57B771F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A36A6E-61A5-47A0-97A8-4D8F9F0C9D95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A39916-52AB-4269-B5F0-0B99B71419E4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55A804-E2ED-43AA-BDBA-C3025D130E23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489AA5-AB50-4EA5-90F4-8388A3A736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7D2316-866D-4A76-8E77-8EDF37C566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67BD3F4A-5866-4B0B-B68D-CE21AA598078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485D9F4B-36D3-4E06-BCC5-E2D1E31D4A7C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5E27E8-361D-4C12-A185-8A6BFFBB1F38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625FB3-5B42-4FF7-BFAA-5AD4CDAB83B1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353BEDE-108F-43A2-82DE-E51D3C91E720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6885713-BF50-4222-AD9B-6098600F98C7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6A5663A-A8D6-4B67-AD4B-16281717EE86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DCB4467-35EA-411B-9C42-B4A9496EFD8E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68C1FC-02FF-461C-8C22-C5FBB42070CE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BAF051-40A1-473D-8A41-B573C80BFD62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D7332B0-A12F-400C-B1FC-03409F426138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42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225A5CF-327E-4F25-BE9D-DE756E9BC68A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B3D5CF6-8D0F-449F-BE27-5D45C34696DF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91E6B8-8EAF-48D9-9E2B-B28E0D9F968B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Priority decides first; time slicing decides ties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4C164D4-7C43-4746-A253-A1AA38F279F6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F8E986A-AC29-4026-8A08-802F616B44A3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0287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ACA0DFC-9741-4111-A0F0-1BA524969A55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66675" cy="6667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18C499C-E5D0-4DF6-8FDE-D6BCEDEB8CBB}"/>
              </a:ext>
            </a:extLst>
          </p:cNvPr>
          <p:cNvSpPr>
            <a:spLocks noGrp="1"/>
          </p:cNvSpPr>
          <p:nvPr/>
        </p:nvSpPr>
        <p:spPr>
          <a:xfrm>
            <a:off x="1238250" y="23622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Priority 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BF93215-9C5E-4EC8-B3A2-6F9D7951944D}"/>
              </a:ext>
            </a:extLst>
          </p:cNvPr>
          <p:cNvSpPr>
            <a:spLocks noGrp="1"/>
          </p:cNvSpPr>
          <p:nvPr/>
        </p:nvSpPr>
        <p:spPr>
          <a:xfrm>
            <a:off x="3905250" y="23622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Runs first when ready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5D00974-3703-42A3-90A7-F61F2A167C7A}"/>
              </a:ext>
            </a:extLst>
          </p:cNvPr>
          <p:cNvSpPr>
            <a:spLocks noGrp="1"/>
          </p:cNvSpPr>
          <p:nvPr/>
        </p:nvSpPr>
        <p:spPr>
          <a:xfrm>
            <a:off x="952500" y="3086100"/>
            <a:ext cx="10287000" cy="66675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C3B2E6E-1AB3-4927-945D-7C19DFC937AA}"/>
              </a:ext>
            </a:extLst>
          </p:cNvPr>
          <p:cNvSpPr>
            <a:spLocks noGrp="1"/>
          </p:cNvSpPr>
          <p:nvPr/>
        </p:nvSpPr>
        <p:spPr>
          <a:xfrm>
            <a:off x="952500" y="3086100"/>
            <a:ext cx="66675" cy="6667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926A43E-1C97-4526-892C-BEA59D087767}"/>
              </a:ext>
            </a:extLst>
          </p:cNvPr>
          <p:cNvSpPr>
            <a:spLocks noGrp="1"/>
          </p:cNvSpPr>
          <p:nvPr/>
        </p:nvSpPr>
        <p:spPr>
          <a:xfrm>
            <a:off x="1238250" y="3257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Priority 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02087DB-8C56-48DA-86AE-F5528B53EE81}"/>
              </a:ext>
            </a:extLst>
          </p:cNvPr>
          <p:cNvSpPr>
            <a:spLocks noGrp="1"/>
          </p:cNvSpPr>
          <p:nvPr/>
        </p:nvSpPr>
        <p:spPr>
          <a:xfrm>
            <a:off x="3905250" y="32575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Runs when higher priority work blocks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34D4175-CA42-4AC4-BDDA-296E70FA3A99}"/>
              </a:ext>
            </a:extLst>
          </p:cNvPr>
          <p:cNvSpPr>
            <a:spLocks noGrp="1"/>
          </p:cNvSpPr>
          <p:nvPr/>
        </p:nvSpPr>
        <p:spPr>
          <a:xfrm>
            <a:off x="952500" y="3981450"/>
            <a:ext cx="10287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E9BD1B-FB90-42D8-B9E3-EFB0C0E3A1EB}"/>
              </a:ext>
            </a:extLst>
          </p:cNvPr>
          <p:cNvSpPr>
            <a:spLocks noGrp="1"/>
          </p:cNvSpPr>
          <p:nvPr/>
        </p:nvSpPr>
        <p:spPr>
          <a:xfrm>
            <a:off x="952500" y="3981450"/>
            <a:ext cx="66675" cy="6667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8C7D42-7FC2-4C1A-898E-A313F41AF056}"/>
              </a:ext>
            </a:extLst>
          </p:cNvPr>
          <p:cNvSpPr>
            <a:spLocks noGrp="1"/>
          </p:cNvSpPr>
          <p:nvPr/>
        </p:nvSpPr>
        <p:spPr>
          <a:xfrm>
            <a:off x="1238250" y="41529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Priority 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0D98283-B19A-4D89-B178-33BCD28DBDBF}"/>
              </a:ext>
            </a:extLst>
          </p:cNvPr>
          <p:cNvSpPr>
            <a:spLocks noGrp="1"/>
          </p:cNvSpPr>
          <p:nvPr/>
        </p:nvSpPr>
        <p:spPr>
          <a:xfrm>
            <a:off x="3905250" y="415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Background or slow work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730C241-77E8-480F-9250-7576E80C6DE1}"/>
              </a:ext>
            </a:extLst>
          </p:cNvPr>
          <p:cNvSpPr>
            <a:spLocks noGrp="1"/>
          </p:cNvSpPr>
          <p:nvPr/>
        </p:nvSpPr>
        <p:spPr>
          <a:xfrm>
            <a:off x="952500" y="4876800"/>
            <a:ext cx="10287000" cy="66675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9E74ED1-232C-4894-AD97-F30AB673456D}"/>
              </a:ext>
            </a:extLst>
          </p:cNvPr>
          <p:cNvSpPr>
            <a:spLocks noGrp="1"/>
          </p:cNvSpPr>
          <p:nvPr/>
        </p:nvSpPr>
        <p:spPr>
          <a:xfrm>
            <a:off x="952500" y="4876800"/>
            <a:ext cx="66675" cy="6667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2D2BE4D-3753-4645-A1BF-8EA202B4DB6D}"/>
              </a:ext>
            </a:extLst>
          </p:cNvPr>
          <p:cNvSpPr>
            <a:spLocks noGrp="1"/>
          </p:cNvSpPr>
          <p:nvPr/>
        </p:nvSpPr>
        <p:spPr>
          <a:xfrm>
            <a:off x="1238250" y="50482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Same priority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F963011-B6E6-4C89-B979-6DAE342786DE}"/>
              </a:ext>
            </a:extLst>
          </p:cNvPr>
          <p:cNvSpPr>
            <a:spLocks noGrp="1"/>
          </p:cNvSpPr>
          <p:nvPr/>
        </p:nvSpPr>
        <p:spPr>
          <a:xfrm>
            <a:off x="3905250" y="50482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Can share time slices</a:t>
            </a:r>
          </a:p>
        </p:txBody>
      </p:sp>
    </p:spTree>
    <p:extLst>
      <p:ext uri="{BB962C8B-B14F-4D97-AF65-F5344CB8AC3E}">
        <p14:creationId xmlns:p14="http://schemas.microsoft.com/office/powerpoint/2010/main" val="9851245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32412876-DD65-434A-B5B4-0627CF331D63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95290B-5E6E-4E6F-8FC6-88A508D51855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3B8725-1833-45D5-A7D4-E1242566FB71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97722-CEED-42E4-ABC4-A7C220C57E47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5C336C-107B-4DEC-8DA7-30FB0C888B65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56B1BC-1977-44F2-8EE2-41F9251DE366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CAD6B9-2E4E-47DF-9640-F4ABD62EA5B3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5A7F47-3DED-4660-B5E9-A97E7577F13F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639FE4-0ABD-422A-8377-FF4175C8F090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B44BC0-997B-48C6-96F8-6E3DB84E37F1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A71823-B8EE-459B-84AB-4B7E25136C51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85697B-6F05-48D4-A7D3-28E6BE8C9D5D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04C978-0515-456F-9A3C-63090BCA2405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B1279F-DBE7-4C44-936B-27CF49727247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197F45-3595-46BB-9498-94358BEF47FA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09BF5F-C6E6-4E5C-A67E-02E167D854BE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C48CD7-66FD-433D-B4A5-6A5EBDE6E9E6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021705-5CA1-42F1-A338-1755FEBFF4F8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9C4425-C3CE-4C51-9AA1-6285E440975B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06CE08-B29E-4207-8DC7-72D27A9213EB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B7FF05-B1E3-4EC0-8157-F442CF13B5AF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BFAD4C-077B-4357-8487-4B9D35E32CD1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633110-AAC4-42FB-BDC0-8EA6DD010D7D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D36572-CAF4-4918-BCF9-61E57BBD97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F2CFB7-F7F5-4775-A370-38EE351E2A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08C7C11E-C204-4BB9-B756-DB32391E9576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2B619D20-51BB-4D58-9397-A69DFB224996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0BA79D-3D7A-47DD-8D26-D74A51EDE269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605C68-3D4E-4386-A150-58DB9BAAA0F5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2F5D67B-DAE9-4CFD-B07C-385342778CA9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32A5D03-28DD-4E7F-8E3A-5ED0945C4EED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FD33503-0BA7-47F9-8FA6-265BBE1242E3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B87FCCE-E225-405B-90B5-A8B90FB4E696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24D3A6-5963-4398-96DA-6EA3A871575F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2E58C0-5C11-4D69-97DF-823220B0FBBD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11B129-1605-421E-B5E1-70DD7F34C332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43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EDF2F5B-4532-4283-9964-132011E58AFE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58E5C4F-7775-4B62-90AE-5C4BA355E087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CF02FC6-2812-47D6-8929-17815D10672B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Core affinity is useful after the task model is clear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6FD2915-C549-43DA-BDCE-9FE5033B8959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1CA3902-AD3E-494D-8C68-F3C854E6629F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21F34F9-95E6-477F-910B-65DA99E84498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7E330E2-4B94-47BD-B9D8-1B77BF796E38}"/>
              </a:ext>
            </a:extLst>
          </p:cNvPr>
          <p:cNvSpPr>
            <a:spLocks noGrp="1"/>
          </p:cNvSpPr>
          <p:nvPr/>
        </p:nvSpPr>
        <p:spPr>
          <a:xfrm>
            <a:off x="11049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Pinned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C73C9F0-9FC8-4388-B60A-A2005608BAA8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Task stays on a chosen core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6876E65-340F-4ECD-B9E1-EEACF8C35924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3B9B650-289E-49BB-94B1-F47C858DC27F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D9402C1-7919-49FE-8CC3-26621EBD177F}"/>
              </a:ext>
            </a:extLst>
          </p:cNvPr>
          <p:cNvSpPr>
            <a:spLocks noGrp="1"/>
          </p:cNvSpPr>
          <p:nvPr/>
        </p:nvSpPr>
        <p:spPr>
          <a:xfrm>
            <a:off x="38481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844A"/>
                </a:solidFill>
                <a:latin typeface="Aptos"/>
                <a:ea typeface="Aptos"/>
                <a:cs typeface="Aptos"/>
              </a:rPr>
              <a:t>Unpinned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BFD41D2-D4DC-4D76-9363-98F632FB085F}"/>
              </a:ext>
            </a:extLst>
          </p:cNvPr>
          <p:cNvSpPr>
            <a:spLocks noGrp="1"/>
          </p:cNvSpPr>
          <p:nvPr/>
        </p:nvSpPr>
        <p:spPr>
          <a:xfrm>
            <a:off x="38481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RTOS may choose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EDF15AB-B015-4823-9812-6EBB7B3F7225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21C909A-D606-43B8-A788-F295195DE6D8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0BBE2E-4C96-4391-BC5F-3CF2D3726B79}"/>
              </a:ext>
            </a:extLst>
          </p:cNvPr>
          <p:cNvSpPr>
            <a:spLocks noGrp="1"/>
          </p:cNvSpPr>
          <p:nvPr/>
        </p:nvSpPr>
        <p:spPr>
          <a:xfrm>
            <a:off x="65913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Shared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7BE5C3C-D8F9-4545-91D3-8552F40F1871}"/>
              </a:ext>
            </a:extLst>
          </p:cNvPr>
          <p:cNvSpPr>
            <a:spLocks noGrp="1"/>
          </p:cNvSpPr>
          <p:nvPr/>
        </p:nvSpPr>
        <p:spPr>
          <a:xfrm>
            <a:off x="65913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Resources still need protection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15C982F-C3AB-4990-91F5-208677BA342E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C3445E9-0F86-4053-B77F-1A52705D0CED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0112CB1-1F7B-4918-B31D-BC473CBDF638}"/>
              </a:ext>
            </a:extLst>
          </p:cNvPr>
          <p:cNvSpPr>
            <a:spLocks noGrp="1"/>
          </p:cNvSpPr>
          <p:nvPr/>
        </p:nvSpPr>
        <p:spPr>
          <a:xfrm>
            <a:off x="93345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Debug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1D79BA7-CC3F-49DB-A7DC-0C12E950A29F}"/>
              </a:ext>
            </a:extLst>
          </p:cNvPr>
          <p:cNvSpPr>
            <a:spLocks noGrp="1"/>
          </p:cNvSpPr>
          <p:nvPr/>
        </p:nvSpPr>
        <p:spPr>
          <a:xfrm>
            <a:off x="93345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Print core ID carefully</a:t>
            </a:r>
          </a:p>
        </p:txBody>
      </p:sp>
    </p:spTree>
    <p:extLst>
      <p:ext uri="{BB962C8B-B14F-4D97-AF65-F5344CB8AC3E}">
        <p14:creationId xmlns:p14="http://schemas.microsoft.com/office/powerpoint/2010/main" val="1039441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FB0BA7BD-EE62-4E0B-AE04-91822ED44C31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200B70-842A-4407-B941-FF9728DAC0A4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4DA9CB-2BBD-4970-A6B3-CF8248712437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3DE4DD-E55A-48F4-B30F-1CBADE3358FD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5C001F-77B5-493F-8F11-799C2F4B9C65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043028-18D0-447F-9BD9-BE16A9DA3BCF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057E3C-DD75-4000-B7D2-0C55371CA55D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67EE30-2C2B-47BA-B191-79A12B4261FB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5D5FB1-4F90-4BED-9BB2-B15DB85364AC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812C31-6A4A-4C23-9D05-A34245C248C9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B20A3F-675B-4659-A7AB-0B42A8B479BC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E79D17-01DA-40FC-B099-0BD6FD94FE9F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94DF4D-6EC5-4CA7-B8A9-1CE4281CCED4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24CA46-E75D-4C7C-8328-519E1B3D65BF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FB3391-3ED5-4888-B8AE-7CC06584439E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9AED7F-3BA4-43C0-8D32-5564D4E1F658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063EBD-7714-4218-81E1-8AD622369D54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C65EC2-367B-4B88-8F84-A3381011EA3D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8614A3-5E95-4CCA-B5B0-DF08C8E1BF6D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AE02D1-93A4-4414-9121-0EEE507D01DD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65D301-DC04-4E5E-8F48-A7A36110743C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EB09C8-F13C-4A1C-AFAA-3BAF73BC1398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9EEC7D-33B9-461E-A493-63F1855EA9F8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3814C0-3129-43C3-8FFE-A949461966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A1AC14-7F60-40A5-9E9B-871B213546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90684249-9759-4860-9D7C-A6FA2C862FC6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1FCD58D3-AC67-43C4-93E2-97A7A83C6AFB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3E22AD-77C5-4559-BDC1-745A68715547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972C4C-D5C5-4D08-82F9-3D0114BB12C4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49A3309-E489-4302-A619-2BB1AF543559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C4FFC2C-2E4F-48DB-A539-18613AD854D8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4347FD2-0C80-4F24-A342-93F54F04F529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DE6073C-CCE1-444A-9F89-58F002475E82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B98DC2-9FD9-4C52-B40C-22948B4DA3F8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6720E5F-A61D-4875-BA88-6725DFF82066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5288109-94C9-42FD-9E8D-2811FF74D7C3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44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FEA1FA9-68BB-43EE-88D0-92F8FC72C27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0B9F22D-798C-4E82-8D4E-D31A4C6C9622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5FF9F96-44BF-41EA-8467-F1A255ED73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BAF1F83-6A70-48CE-803C-EA10D6C9E103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797E9E6-98C5-485B-B3CB-AB70B10DDB7E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6B30897-D7D3-4355-B21A-21E75D352210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Observe scheduling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9D9489B-3126-467D-AE1F-D1556A18A878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A08FB04-AF19-45B6-BFE1-FCC3A03B8528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2F357B0-EC7B-46B2-A141-343197C56764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5F7F89F-5D34-419F-95C2-9AC540BB983D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6AC5080-ADAA-413C-8724-F155AF8FC227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BB55136-FF41-4D2E-B917-B0A96798822C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Print task names, priorities, delays, and core IDs.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DF88AE9-D648-471A-B4D6-E7A5111367FD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BFC778D-F366-4788-B01E-6EDA4451BE9D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three tasks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different priorities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Add vTaskDelay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Log core ID and tick count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806B68-E3FF-4BF5-935D-FA284A40D4CF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BF288FA-FA87-4EC7-AC05-A3C11ED4BDDC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Serial shows interleaved execution.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E653EB1-701F-40E5-B39B-9C798F926680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C11B75A-C0C4-47D2-AF92-8D685FBEB846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Make a low-priority task starve, then fix it.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8417020-EC20-4055-992F-E9BD1F270191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58AC44E2-E847-4D36-96F4-EFA6718D213C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BA6FFBF-801D-41EA-AD13-0C0411D0A2FC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Serial Monitor</a:t>
            </a:r>
          </a:p>
        </p:txBody>
      </p:sp>
    </p:spTree>
    <p:extLst>
      <p:ext uri="{BB962C8B-B14F-4D97-AF65-F5344CB8AC3E}">
        <p14:creationId xmlns:p14="http://schemas.microsoft.com/office/powerpoint/2010/main" val="15581813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2F353A2C-660D-4B27-B38A-F82F0D9DDA30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5734E9-A47F-40B5-9A8E-B98C68E8614D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7CC4F-57E9-4B07-8503-DD487EE4C3E8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FB685-7D2B-4626-AC66-D998F9976C20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D82D82-9157-4353-B4E0-C3E3667FD8AF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79FF81-B789-4756-94BB-CF3504C1C4B2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BC92B4-CFC6-4114-9C2A-EA8A52D986BD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0ABD2E-054D-46A1-8D56-25833B04A5B7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07BB90-3A33-4F65-B147-A8355A3E1784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BFDDEE-E228-400E-964C-F47C3E9D75A6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1074B3-8DE8-4D99-AE3D-45111D2EE28F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219890-C46E-44EE-B059-66ECB7F56542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67C5A3-2EE9-4CD8-B03F-E19EFF744B44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C05379-0138-4A1C-8452-1DA8FA68EB8C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9DBC23-4639-407F-A13D-DFA809A94CF6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0CB881-36D2-44B1-97FD-A02D773878EA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8E8B5B-9F83-4AD7-B133-45E1FD3F24F6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EDF5A9-0079-41DD-ABA4-76366C3DF8CC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0D11B7-93BF-4B25-ABB2-B1DD4EABE1AC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8DF1FD-C41E-48F9-93E8-0DB087B8C4F7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613D7A-51A2-47AE-88C2-337E5ABECEFC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272D05-1DEE-42DB-A4C9-CE8762109BA2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151179-6CD4-4719-BCFB-DEA6A7F5E3EE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181B89-5E65-4784-A96B-DD3A131556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17AAC9-ED68-49E1-8239-ABD83AEB91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B5BCEFC0-E183-4465-9977-9BF69A136EC8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C80C7FF3-0DBD-48B3-9567-4AFF693DCC4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9D4076-0622-4EBD-A87E-22D1E679A466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48CD2E-AA94-4773-987D-6BF232DCCD43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E7A1804-DAEE-4C30-9C8A-4C7072AC1842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CA15C3D-BCB5-4F18-A96C-ADA7C133189D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F96B4C3-0C27-4E8D-AED7-0D9E45EF98E4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C8F4D85-36BE-42B0-B9FC-0C526174B9ED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D95BEE-2C3D-4AD9-B699-AD72FEE7B76A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794279-A088-45A0-B60A-E46670891DF7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1673FDD-D44A-439C-92F7-06AF3EE4C164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45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0740844-F876-4DA5-A060-3469D3E9C3C7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29B2D72-2804-4BC4-BC30-1402D6B98D68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8A54B60-FC56-4EF4-B545-E437A309EDB7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0382250" cy="3905250"/>
          </a:xfrm>
          <a:prstGeom prst="roundRect">
            <a:avLst>
              <a:gd name="adj" fmla="val 4390"/>
            </a:avLst>
          </a:prstGeom>
          <a:solidFill>
            <a:srgbClr val="0F1D2E"/>
          </a:solidFill>
          <a:ln w="11430">
            <a:solidFill>
              <a:srgbClr val="0F1D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9475BBB-6756-4558-A9BD-A9E8A00AEC04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52400" cy="390525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53194EF-F916-4424-AC6E-19D579713E99}"/>
              </a:ext>
            </a:extLst>
          </p:cNvPr>
          <p:cNvSpPr>
            <a:spLocks noGrp="1"/>
          </p:cNvSpPr>
          <p:nvPr/>
        </p:nvSpPr>
        <p:spPr>
          <a:xfrm>
            <a:off x="1257300" y="1543050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F94428C-41C3-4ACB-9467-3775665A439D}"/>
              </a:ext>
            </a:extLst>
          </p:cNvPr>
          <p:cNvSpPr>
            <a:spLocks noGrp="1"/>
          </p:cNvSpPr>
          <p:nvPr/>
        </p:nvSpPr>
        <p:spPr>
          <a:xfrm>
            <a:off x="1485900" y="1543050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907ECD3-EA03-4075-A9BD-780E5E696C27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15D1A82-ADE3-4F36-BBF8-A59B60903D1E}"/>
              </a:ext>
            </a:extLst>
          </p:cNvPr>
          <p:cNvSpPr>
            <a:spLocks noGrp="1"/>
          </p:cNvSpPr>
          <p:nvPr/>
        </p:nvSpPr>
        <p:spPr>
          <a:xfrm>
            <a:off x="1257300" y="20383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rPr>
              <a:t>MODULE 05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1962A3-E33B-44E2-8CCA-FFF35137FB42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809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Queues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82D9B9D-5819-428E-9F51-CF220404EBC6}"/>
              </a:ext>
            </a:extLst>
          </p:cNvPr>
          <p:cNvSpPr>
            <a:spLocks noGrp="1"/>
          </p:cNvSpPr>
          <p:nvPr/>
        </p:nvSpPr>
        <p:spPr>
          <a:xfrm>
            <a:off x="1257300" y="38481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// data moves without global chaos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3930A3D-F2FE-4A57-9ECE-19B3A11F5243}"/>
              </a:ext>
            </a:extLst>
          </p:cNvPr>
          <p:cNvSpPr>
            <a:spLocks noGrp="1"/>
          </p:cNvSpPr>
          <p:nvPr/>
        </p:nvSpPr>
        <p:spPr>
          <a:xfrm>
            <a:off x="8953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NEXT_MODULE</a:t>
            </a:r>
          </a:p>
        </p:txBody>
      </p:sp>
    </p:spTree>
    <p:extLst>
      <p:ext uri="{BB962C8B-B14F-4D97-AF65-F5344CB8AC3E}">
        <p14:creationId xmlns:p14="http://schemas.microsoft.com/office/powerpoint/2010/main" val="16372056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9860F1E-96C6-40E4-9398-AFBD434008D2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A1F91D-8558-4B4E-BFBF-587E649E9CDB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F84027-D124-46C9-AC07-C856685CFCD5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82A8E3-CFEC-43CE-9CA4-EC3666BA806F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3863F5-FDAE-4C95-9F20-38762CC6CE6E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C20D1F-879E-4F24-B87A-4C15379DC9BB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D37623-9DD4-49E5-A389-38368D85125C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A9A8FE-1325-49D4-8B84-F0C250FA8FDB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F07CFB-FFD4-4A36-9625-85A33FCB5FBF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05E244-6BB0-4F21-8F04-61995E287F90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D3FE62-D981-44E8-92E2-2461A7174F80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CE85CB-2527-43C2-BB13-4735A4586FC1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D2D480-60E2-4497-AA9F-9A7979832BF6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5C367-8CB7-4046-ADF7-12CE34266B12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EC007E-ED07-4865-89AA-93D2869D56C2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74F370-87C7-4932-BD50-EE79F55DD4EE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EC7C9C-2A16-431A-B7EC-6A46DC0011E7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491BE6-6F66-40FA-88DB-CD95013A67A4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0709D0-7D0A-46A7-A8EC-7FD4E29C1236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E33683-CDCF-46ED-9174-FEC5F9AF2C3D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AA83A3-1A49-463D-A94F-3FB74A2252CA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37D0B0-80C6-41FF-A6A6-E10803631B55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5EE416-6631-4C84-840D-97F52C79167F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45BF4E-9E85-41BE-AE6F-85F543CB5F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F76273-6A65-49DD-A093-7412622095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72A96BE4-9D3A-4BCF-A812-2808C562C977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EDDFDA8-1289-42DF-911C-8C737E560D4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71DA41-676B-4721-BFD9-D1609E97E6FC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460BD7-BCAA-4980-861B-AE4B9D2B3622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AE3F47F-CB84-4A1E-B28F-B3165E2DE39A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7F51969-CB39-4C87-AC9E-2E9F460DC2EE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8D5A91B-E1FD-4410-9EC1-1EA4A6946DDC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9B81D4A-1289-48E8-9DEE-20E461CED502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4244C6-954F-4BDC-AF39-4091CE5CDFB6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6079C6B-D3A7-443A-8E8F-6EFD9DF9F5A3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3AEF58-5EA6-420D-9524-37C25C70CD12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46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4F4203F-1DED-4CA8-82FB-BC2916EB63A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2C83D2D-801C-4570-9135-8A0D7150B70C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A442C17-C5CB-4CDA-8CB8-D55E909542E9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 queue lets tasks hand off data safely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EF881C4-E4E6-41AF-8B59-4BD2D7A83C07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D4B43BE-DEC8-402A-9379-AB67A1515038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9050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7B85940-4DF9-4D6D-AFE7-1F25F2FC058D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90500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2D2438B-17D4-482E-985A-DAC3D2FBEB69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6C76EA4-796D-4F19-9733-0933FAB2FBFC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Producer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17A652D-B4DE-4CA7-B58C-23A55DC62DFC}"/>
              </a:ext>
            </a:extLst>
          </p:cNvPr>
          <p:cNvSpPr>
            <a:spLocks noGrp="1"/>
          </p:cNvSpPr>
          <p:nvPr/>
        </p:nvSpPr>
        <p:spPr>
          <a:xfrm>
            <a:off x="3105150" y="3143250"/>
            <a:ext cx="19050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7C448-41F9-49F3-9E8D-D7FEA043843B}"/>
              </a:ext>
            </a:extLst>
          </p:cNvPr>
          <p:cNvSpPr>
            <a:spLocks noGrp="1"/>
          </p:cNvSpPr>
          <p:nvPr/>
        </p:nvSpPr>
        <p:spPr>
          <a:xfrm>
            <a:off x="3105150" y="3143250"/>
            <a:ext cx="190500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5E6454D-A25E-4983-BA3C-FFEEF9601716}"/>
              </a:ext>
            </a:extLst>
          </p:cNvPr>
          <p:cNvSpPr>
            <a:spLocks noGrp="1"/>
          </p:cNvSpPr>
          <p:nvPr/>
        </p:nvSpPr>
        <p:spPr>
          <a:xfrm>
            <a:off x="32575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F9D2FD1-0C9C-42F4-BF35-23E38316EB03}"/>
              </a:ext>
            </a:extLst>
          </p:cNvPr>
          <p:cNvSpPr>
            <a:spLocks noGrp="1"/>
          </p:cNvSpPr>
          <p:nvPr/>
        </p:nvSpPr>
        <p:spPr>
          <a:xfrm>
            <a:off x="3257550" y="36195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Queue</a:t>
            </a:r>
          </a:p>
        </p:txBody>
      </p:sp>
      <p:cxnSp>
        <p:nvCxnSpPr>
          <p:cNvPr id="108" name="Straight Arrow Connector 107"/>
          <p:cNvCxnSpPr>
            <a:stCxn id="41" idx="3"/>
            <a:endCxn id="45" idx="1"/>
          </p:cNvCxnSpPr>
          <p:nvPr/>
        </p:nvCxnSpPr>
        <p:spPr>
          <a:xfrm>
            <a:off x="27622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7CD1208-EB68-4F46-A98C-21EF5A62E9BB}"/>
              </a:ext>
            </a:extLst>
          </p:cNvPr>
          <p:cNvSpPr>
            <a:spLocks noGrp="1"/>
          </p:cNvSpPr>
          <p:nvPr/>
        </p:nvSpPr>
        <p:spPr>
          <a:xfrm>
            <a:off x="5353050" y="3143250"/>
            <a:ext cx="19050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0732DC3-BB34-42D5-91C4-C533CD0118C2}"/>
              </a:ext>
            </a:extLst>
          </p:cNvPr>
          <p:cNvSpPr>
            <a:spLocks noGrp="1"/>
          </p:cNvSpPr>
          <p:nvPr/>
        </p:nvSpPr>
        <p:spPr>
          <a:xfrm>
            <a:off x="5353050" y="3143250"/>
            <a:ext cx="190500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5D65245-9C7C-4A03-8900-E89FE7DC00BE}"/>
              </a:ext>
            </a:extLst>
          </p:cNvPr>
          <p:cNvSpPr>
            <a:spLocks noGrp="1"/>
          </p:cNvSpPr>
          <p:nvPr/>
        </p:nvSpPr>
        <p:spPr>
          <a:xfrm>
            <a:off x="55054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202B576-FD67-46CD-B6F9-66619DD7739D}"/>
              </a:ext>
            </a:extLst>
          </p:cNvPr>
          <p:cNvSpPr>
            <a:spLocks noGrp="1"/>
          </p:cNvSpPr>
          <p:nvPr/>
        </p:nvSpPr>
        <p:spPr>
          <a:xfrm>
            <a:off x="5505450" y="36195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Consumer</a:t>
            </a:r>
          </a:p>
        </p:txBody>
      </p:sp>
      <p:cxnSp>
        <p:nvCxnSpPr>
          <p:cNvPr id="113" name="Straight Arrow Connector 112"/>
          <p:cNvCxnSpPr>
            <a:stCxn id="45" idx="3"/>
            <a:endCxn id="50" idx="1"/>
          </p:cNvCxnSpPr>
          <p:nvPr/>
        </p:nvCxnSpPr>
        <p:spPr>
          <a:xfrm>
            <a:off x="50101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1187574-1F29-42BE-BA9F-3690D4A21721}"/>
              </a:ext>
            </a:extLst>
          </p:cNvPr>
          <p:cNvSpPr>
            <a:spLocks noGrp="1"/>
          </p:cNvSpPr>
          <p:nvPr/>
        </p:nvSpPr>
        <p:spPr>
          <a:xfrm>
            <a:off x="7600950" y="3143250"/>
            <a:ext cx="19050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661BBF-E61B-4E99-BEF0-A361B95135CB}"/>
              </a:ext>
            </a:extLst>
          </p:cNvPr>
          <p:cNvSpPr>
            <a:spLocks noGrp="1"/>
          </p:cNvSpPr>
          <p:nvPr/>
        </p:nvSpPr>
        <p:spPr>
          <a:xfrm>
            <a:off x="7600950" y="3143250"/>
            <a:ext cx="190500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74DC184-5D10-41E7-9DC7-B408333A14E7}"/>
              </a:ext>
            </a:extLst>
          </p:cNvPr>
          <p:cNvSpPr>
            <a:spLocks noGrp="1"/>
          </p:cNvSpPr>
          <p:nvPr/>
        </p:nvSpPr>
        <p:spPr>
          <a:xfrm>
            <a:off x="77533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B4F8A49-07C0-4270-8003-BB602577DB61}"/>
              </a:ext>
            </a:extLst>
          </p:cNvPr>
          <p:cNvSpPr>
            <a:spLocks noGrp="1"/>
          </p:cNvSpPr>
          <p:nvPr/>
        </p:nvSpPr>
        <p:spPr>
          <a:xfrm>
            <a:off x="7753350" y="36195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cxnSp>
        <p:nvCxnSpPr>
          <p:cNvPr id="118" name="Straight Arrow Connector 117"/>
          <p:cNvCxnSpPr>
            <a:stCxn id="50" idx="3"/>
            <a:endCxn id="55" idx="1"/>
          </p:cNvCxnSpPr>
          <p:nvPr/>
        </p:nvCxnSpPr>
        <p:spPr>
          <a:xfrm>
            <a:off x="72580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6765697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90F8F84D-7E3E-4947-8207-1CDD1792AEE7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62137F-0653-4091-BD59-4494D16DFFEA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3318A-7661-40F8-A622-C204E602D337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FDD4E2-2019-4298-8878-03FD4C09C691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BDBEFC-EFBF-46E2-B35C-FA6239DFD7FD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41989D-0E83-4B23-B100-D1C1B76D16B3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666ABA-6CFA-4F10-845B-E97B8D897C63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FEE0A2-5248-4CF2-BCF8-739BCB5220A8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EDDDEC-7071-447D-BBC2-42DB65718722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BCFB98-91FA-42FD-B10E-DB1951A8B5D5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A7552A-9166-4235-BFF1-D5EE30039A8A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1E0B45-A620-4910-BD5F-D40F0A2ADCEA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3D962B-5E2B-43ED-B8B1-3F10923DDA56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6501CA-B045-4840-9376-838112FC687D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9B51C0-8818-49CF-9CF8-4E92D29ADDE9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A9F155-5C52-4EE2-9055-F7FD6EB879B8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7E7AA8-E02A-4B68-A94A-455973FFCECA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62B3A8-C4C0-4849-B092-E6D38E55A74A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2C2D70-0D55-4776-9D7E-D2412E17FC01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BFF874-0FE5-4090-B5E4-B793FDFD2735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A3B3E5-CE97-4CC8-8CE5-B02B56DA252D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234FEF-6497-4CB1-8A3E-745F4D1D2E67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BC97D7-14CB-47B7-9248-4FD78F49EB6B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612207-AB83-4BD9-B478-60B46BB6C2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9A11B7-1F96-4919-9E91-12398766A7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AEF6D81B-1591-4609-AECE-C569B0B6BE58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27B548B-DCCE-4BA3-8671-EFE8B536DF68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5A7413-D8AE-47BF-841C-63A40133A9BD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7B0BD8-A97B-41B0-A504-A870ACAD5698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4B1A8D8-D8DD-4B5E-8821-CF578FEFA62A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5082DD0-6E22-496D-A800-0ADAE550DBC8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762AE73-4104-4922-84D6-6EE556B80075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3DC5E5A-0064-405E-A418-ADA78825B5F9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332517-69FE-4542-83B9-6892C9041A55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FA3516-4F0C-4F3E-A1F0-C35F2340479A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8B0FE6-6B4E-4D85-BE1A-37143ED9C6E3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47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4F6DFCE-5F99-4C6B-A031-F26985D5C1EB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656179A-652B-4DE0-8C8E-F964F35CFFA2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A620DC-B9EE-46B4-B2EA-CCADC4C685C1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Queue APIs are about ownership and waiting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A08E5FF-7CBC-4E3A-A1CF-845FED6B3B8E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F961C67-0DCB-40E3-8529-0591BC8CE7C3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6705600" cy="3562350"/>
          </a:xfrm>
          <a:prstGeom prst="roundRect">
            <a:avLst>
              <a:gd name="adj" fmla="val 3209"/>
            </a:avLst>
          </a:prstGeom>
          <a:solidFill>
            <a:srgbClr val="122033"/>
          </a:solidFill>
          <a:ln w="11430">
            <a:solidFill>
              <a:srgbClr val="1220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92C21C9-7AA3-4002-ADED-22DA9314A06F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6705600" cy="419100"/>
          </a:xfrm>
          <a:prstGeom prst="rect">
            <a:avLst/>
          </a:prstGeom>
          <a:solidFill>
            <a:srgbClr val="1D2D42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C84E50D-A7BC-4439-8019-AA3488469C10}"/>
              </a:ext>
            </a:extLst>
          </p:cNvPr>
          <p:cNvSpPr>
            <a:spLocks noGrp="1"/>
          </p:cNvSpPr>
          <p:nvPr/>
        </p:nvSpPr>
        <p:spPr>
          <a:xfrm>
            <a:off x="1104900" y="225742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41A5FC7-9A08-44D0-B7E1-39076E5CA74F}"/>
              </a:ext>
            </a:extLst>
          </p:cNvPr>
          <p:cNvSpPr>
            <a:spLocks noGrp="1"/>
          </p:cNvSpPr>
          <p:nvPr/>
        </p:nvSpPr>
        <p:spPr>
          <a:xfrm>
            <a:off x="1333500" y="225742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F52DBAA-8DA9-4144-A084-36B27B1BB816}"/>
              </a:ext>
            </a:extLst>
          </p:cNvPr>
          <p:cNvSpPr>
            <a:spLocks noGrp="1"/>
          </p:cNvSpPr>
          <p:nvPr/>
        </p:nvSpPr>
        <p:spPr>
          <a:xfrm>
            <a:off x="1562100" y="225742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218957A-F5D5-4910-862B-F40E993CE740}"/>
              </a:ext>
            </a:extLst>
          </p:cNvPr>
          <p:cNvSpPr>
            <a:spLocks noGrp="1"/>
          </p:cNvSpPr>
          <p:nvPr/>
        </p:nvSpPr>
        <p:spPr>
          <a:xfrm>
            <a:off x="1924050" y="2257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queue_core.cpp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42A756A-E6C3-4D1A-BAAB-A7E2E54A2491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5905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QueueHandle_t q;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q = xQueueCreate(5, sizeof(int));</a:t>
            </a:r>
          </a:p>
          <a:p>
            <a:endParaRPr sz="1725" b="0">
              <a:solidFill>
                <a:srgbClr val="D1FAE5"/>
              </a:solidFill>
              <a:latin typeface="Cascadia Mono"/>
              <a:ea typeface="Cascadia Mono"/>
              <a:cs typeface="Cascadia Mono"/>
            </a:endParaRP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xQueueSend(q, &amp;value, 0);</a:t>
            </a:r>
          </a:p>
          <a:p>
            <a:endParaRPr sz="1725" b="0">
              <a:solidFill>
                <a:srgbClr val="D1FAE5"/>
              </a:solidFill>
              <a:latin typeface="Cascadia Mono"/>
              <a:ea typeface="Cascadia Mono"/>
              <a:cs typeface="Cascadia Mono"/>
            </a:endParaRP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if (xQueueReceive(q, &amp;value, portMAX_DELAY)) {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  updateDisplay(value);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BCFF885-615B-4A60-8FC0-DE1365189BB5}"/>
              </a:ext>
            </a:extLst>
          </p:cNvPr>
          <p:cNvSpPr>
            <a:spLocks noGrp="1"/>
          </p:cNvSpPr>
          <p:nvPr/>
        </p:nvSpPr>
        <p:spPr>
          <a:xfrm>
            <a:off x="7953375" y="2114550"/>
            <a:ext cx="3048000" cy="356235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662508F-3CBC-44E3-8214-A608AB6B69E5}"/>
              </a:ext>
            </a:extLst>
          </p:cNvPr>
          <p:cNvSpPr>
            <a:spLocks noGrp="1"/>
          </p:cNvSpPr>
          <p:nvPr/>
        </p:nvSpPr>
        <p:spPr>
          <a:xfrm>
            <a:off x="7953375" y="2114550"/>
            <a:ext cx="3048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D383611-9CD5-4C24-9B20-5D5DD2BD1234}"/>
              </a:ext>
            </a:extLst>
          </p:cNvPr>
          <p:cNvSpPr>
            <a:spLocks noGrp="1"/>
          </p:cNvSpPr>
          <p:nvPr/>
        </p:nvSpPr>
        <p:spPr>
          <a:xfrm>
            <a:off x="8248650" y="2571750"/>
            <a:ext cx="23812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storage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Send a copy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Receive into a variable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Choose timeout intentionally</a:t>
            </a:r>
          </a:p>
        </p:txBody>
      </p:sp>
    </p:spTree>
    <p:extLst>
      <p:ext uri="{BB962C8B-B14F-4D97-AF65-F5344CB8AC3E}">
        <p14:creationId xmlns:p14="http://schemas.microsoft.com/office/powerpoint/2010/main" val="9399207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5945F60A-3E36-4A04-B92D-32409114CF76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E44199-A879-4805-A6B8-CE7729EEFBA0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0B2F2A-D528-4946-8E2B-1771257470DB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7C0266-CE56-452D-B442-B1FB1CE62477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5EAB5-0670-4673-BAC8-CA6DFFE36810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2DD1C-AAB1-419F-AA96-69827AF85FD2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D44CC5-C04A-4568-818A-4181509D52DD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F6C7E2-8ED1-4DFD-8AB3-E2B2DAE50C94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4CB57A-7E5B-4BC7-99D1-2312E622EB62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55F745-C7C1-4F07-A3B5-6D1EEB9DF18A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E0992B-C6C0-41E6-A973-918938A4A952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55A94E-EA96-490D-AADF-25C128D7A454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B00578-CBDA-47BE-8DC8-6857D9AB9AC7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920B81-A0B2-424B-8CC3-26EBBD531E01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B8E75B-385E-45D8-A591-4A3A2C682284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F7AFD-860F-4F70-A8DC-C6F74499A35F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6ED4F3-D358-4812-8959-569AB8F30D4E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3B3267-2DD5-4E8D-85C8-C4B4E4645118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A9A51C-661A-4559-A10C-5F2C21A42ECF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D85550-1A1B-4549-B2F1-A89F16B4C2A7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B710C5-A3F6-4307-9387-F73963A2CDF5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837F34-D221-4FF0-AA60-902B9907AE55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E304EE-B8DD-4A67-AFB6-09E508C574AF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394C23-085B-4DE0-AE51-FBA6E7B239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D45D30-31F7-4656-8A1C-A8204F63A5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2337D99E-F00C-4B11-AF1E-82419332E357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5AC2B617-5FFF-4804-9E75-2F1D60F38696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753F84-F411-4276-8B4A-5B4813C6EDC6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99DCB7-F9B8-4CBF-9513-FEFD2C2CCFBC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AE9C3F0-70CA-40EC-8D7A-BF5800E398F0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8EF1758-41E4-4275-8F13-878AE816CD6C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10E1D9A-378A-41EA-9905-C86B4F48816A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E8750E3-6533-4E89-9076-1A4DD79DA330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716714-312D-476D-8025-4C0CEE69A8F6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B3779D-EC75-4E43-8859-0F986A6CBBD4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9CEF71-21BC-4E92-8C38-5536122B03F4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48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17B03A5-3BF7-4432-A35A-3406450F84BA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86C5A5F-FC34-429A-A4A5-F195815DB574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811F583-26AB-4C50-A6D7-AF3B89F463A7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Three tasks can behave like one clean product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EFF11C3-01E7-46C2-8F05-67E6FE383D01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1376E41-E661-4048-8CC9-B93880DEF5B5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009F9A5-6C2F-42A1-886E-65254E3E36EC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50A07D8-C5C0-47E0-996F-C8FB9736E370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55325EE-3042-465C-A11D-F35D0C19F3F2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Read knob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DB1C643-CF59-4C37-AAB3-547C38C14314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6342505-FDDC-478E-B5BF-95FF5DEBE121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223674C-B6FF-4F7C-A0D3-CB83AA2FFA25}"/>
              </a:ext>
            </a:extLst>
          </p:cNvPr>
          <p:cNvSpPr>
            <a:spLocks noGrp="1"/>
          </p:cNvSpPr>
          <p:nvPr/>
        </p:nvSpPr>
        <p:spPr>
          <a:xfrm>
            <a:off x="29908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D5F8964-8DAB-4028-B8F7-1C87D8143BD3}"/>
              </a:ext>
            </a:extLst>
          </p:cNvPr>
          <p:cNvSpPr>
            <a:spLocks noGrp="1"/>
          </p:cNvSpPr>
          <p:nvPr/>
        </p:nvSpPr>
        <p:spPr>
          <a:xfrm>
            <a:off x="29908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Send value</a:t>
            </a:r>
          </a:p>
        </p:txBody>
      </p:sp>
      <p:cxnSp>
        <p:nvCxnSpPr>
          <p:cNvPr id="113" name="Straight Arrow Connector 112"/>
          <p:cNvCxnSpPr>
            <a:stCxn id="41" idx="3"/>
            <a:endCxn id="45" idx="1"/>
          </p:cNvCxnSpPr>
          <p:nvPr/>
        </p:nvCxnSpPr>
        <p:spPr>
          <a:xfrm>
            <a:off x="24955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20DA788-17D2-4E99-A251-063A02CB2310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E173D07-98D8-4835-AEC4-9EDF412D7AE4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2AF2083-BEBF-44EC-9D55-6408AA23CEE0}"/>
              </a:ext>
            </a:extLst>
          </p:cNvPr>
          <p:cNvSpPr>
            <a:spLocks noGrp="1"/>
          </p:cNvSpPr>
          <p:nvPr/>
        </p:nvSpPr>
        <p:spPr>
          <a:xfrm>
            <a:off x="49720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B78B6B6-A822-4322-8A37-B7D48330FB0C}"/>
              </a:ext>
            </a:extLst>
          </p:cNvPr>
          <p:cNvSpPr>
            <a:spLocks noGrp="1"/>
          </p:cNvSpPr>
          <p:nvPr/>
        </p:nvSpPr>
        <p:spPr>
          <a:xfrm>
            <a:off x="49720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Control task</a:t>
            </a:r>
          </a:p>
        </p:txBody>
      </p:sp>
      <p:cxnSp>
        <p:nvCxnSpPr>
          <p:cNvPr id="118" name="Straight Arrow Connector 117"/>
          <p:cNvCxnSpPr>
            <a:stCxn id="45" idx="3"/>
            <a:endCxn id="50" idx="1"/>
          </p:cNvCxnSpPr>
          <p:nvPr/>
        </p:nvCxnSpPr>
        <p:spPr>
          <a:xfrm>
            <a:off x="44767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6DF841EA-794B-4574-A2B4-FD6D42F15E2C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D5FFA39-0821-46B6-9989-49D8AC14DF03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1FD1140-F743-4DB0-8480-5FDE89B83535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B095497-C17D-4E79-93CD-9ADDE3819C06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LCD task</a:t>
            </a:r>
          </a:p>
        </p:txBody>
      </p:sp>
      <p:cxnSp>
        <p:nvCxnSpPr>
          <p:cNvPr id="123" name="Straight Arrow Connector 122"/>
          <p:cNvCxnSpPr>
            <a:stCxn id="50" idx="3"/>
            <a:endCxn id="55" idx="1"/>
          </p:cNvCxnSpPr>
          <p:nvPr/>
        </p:nvCxnSpPr>
        <p:spPr>
          <a:xfrm>
            <a:off x="64579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1A7848A1-F0D8-42E0-9FA2-F66388DDBB22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4754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FA1C754-F253-4F99-B7AA-DAB714D0C1DF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66675"/>
          </a:xfrm>
          <a:prstGeom prst="rect">
            <a:avLst/>
          </a:prstGeom>
          <a:solidFill>
            <a:srgbClr val="475467"/>
          </a:solidFill>
          <a:ln w="0">
            <a:noFill/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0A44ADE-A111-4B72-9A68-F8F130DE4398}"/>
              </a:ext>
            </a:extLst>
          </p:cNvPr>
          <p:cNvSpPr>
            <a:spLocks noGrp="1"/>
          </p:cNvSpPr>
          <p:nvPr/>
        </p:nvSpPr>
        <p:spPr>
          <a:xfrm>
            <a:off x="89344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22C6EF4-624E-483D-9917-CA6C3C219B3F}"/>
              </a:ext>
            </a:extLst>
          </p:cNvPr>
          <p:cNvSpPr>
            <a:spLocks noGrp="1"/>
          </p:cNvSpPr>
          <p:nvPr/>
        </p:nvSpPr>
        <p:spPr>
          <a:xfrm>
            <a:off x="89344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Alert task</a:t>
            </a:r>
          </a:p>
        </p:txBody>
      </p:sp>
      <p:cxnSp>
        <p:nvCxnSpPr>
          <p:cNvPr id="128" name="Straight Arrow Connector 127"/>
          <p:cNvCxnSpPr>
            <a:stCxn id="55" idx="3"/>
            <a:endCxn id="60" idx="1"/>
          </p:cNvCxnSpPr>
          <p:nvPr/>
        </p:nvCxnSpPr>
        <p:spPr>
          <a:xfrm>
            <a:off x="84391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9114245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58452BC3-F65C-47AF-8751-AFA45E20B2DD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4A1A7A-ADE2-4716-823E-6C04BEDD5AEC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D12F4F-4B50-4BEA-B15C-171D06D29FA8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D3C554-4786-4332-ABC8-50EC48956027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E5C6F0-696E-4C53-B16C-F84F5D27349C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623624-41F2-40A2-84AE-382413B808FE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F526BB-028A-43D2-B2AF-99BE591D635F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0151A9-2E7C-4570-9CAC-99183ACB92C7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A4584E-920E-42FC-9155-32C457C3C0F3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286FDF-F85D-49FD-9C24-7DC7D11F63CB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8F4318-66CF-4FA2-AA5B-EAC8FEC7D03C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064C32-B5B0-4CCE-B6F8-F197B8317E49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0D3596-A52B-4C4F-9201-564A25456724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294DBC-C4FE-4C99-AE52-845B47CF5F9F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2258AF-3262-4EAE-939A-474938EC2CED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ABC220-C7AD-4E91-B634-536653F1657E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286C17-49DB-420B-BC01-A6A5081F8487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9D485E-0994-42E5-B7EF-A1E7437D7431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2D94A8-151D-4607-8CE0-E9CCED112210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8D7708-CCCE-4852-9044-199EFD725336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E288D1-CDC7-4383-8109-2750E8A338BF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F55590-F115-46B3-B974-092B02B76200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91720C-974D-4D96-9594-A8D8CC020832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7338EF-FA54-4312-AE38-2B557DBBCA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147367-4CED-43D5-BE50-D5A459F449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17889626-B62D-4743-82AD-B635DA3DB9B6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0357FE20-9255-41FD-9CCA-5E9AB03D4F66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4E79F3-1D47-4A09-B2CC-E2182CCC0FB2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2DF0B7-526E-4808-B869-CF8C4AAF161F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92B292B-8D70-459E-B11A-9EC971504C1E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C9EDD47-E379-47ED-84B9-2FCB23EE4CDB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0FB8F09-9FAE-46A9-BE6D-1A845A21724B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773FB20-4A9F-471B-8620-2EEB941404C7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 w="11430">
            <a:solidFill>
              <a:srgbClr val="E11D4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C7B790-7440-4741-B818-62331C53EC38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2B1205-0CAA-4D5D-B8B3-97B24466678E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9B2582C-CABE-48BE-AEF6-436B8D6C0CA8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49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4AB3451-6BD1-4F92-B646-83D8EE8BDCEF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4D90002-C26A-4F68-8B7F-D4D1E52FC4D9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EFBE43-ABE7-4AF7-B726-11416960D131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Queue mistakes usually look like timing bugs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D6A0A20-EFB3-4B3E-9F15-EEED7B201121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CDB3CDA-AD38-42F3-A5FB-3106BDEB63AE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08750C-DF60-4FB2-8178-FB4A6A813A28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E24F700-E5BF-4CD3-9566-B1D1A46D8FEE}"/>
              </a:ext>
            </a:extLst>
          </p:cNvPr>
          <p:cNvSpPr>
            <a:spLocks noGrp="1"/>
          </p:cNvSpPr>
          <p:nvPr/>
        </p:nvSpPr>
        <p:spPr>
          <a:xfrm>
            <a:off x="11049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Wrong size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2C4B3D1-C54D-4967-B1BA-3E5DE7BD16B7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Data corrupts or truncates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DB4EE5A-BF07-46EB-BAF7-CEBFC73C8789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A3862AB-2CA8-404B-AD9F-9E0406A08CF5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37FCB6-B34C-4F86-BD47-14545692FD8D}"/>
              </a:ext>
            </a:extLst>
          </p:cNvPr>
          <p:cNvSpPr>
            <a:spLocks noGrp="1"/>
          </p:cNvSpPr>
          <p:nvPr/>
        </p:nvSpPr>
        <p:spPr>
          <a:xfrm>
            <a:off x="38481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844A"/>
                </a:solidFill>
                <a:latin typeface="Aptos"/>
                <a:ea typeface="Aptos"/>
                <a:cs typeface="Aptos"/>
              </a:rPr>
              <a:t>No timeout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1DC48A4-688B-4219-9734-645E4FA1BA8B}"/>
              </a:ext>
            </a:extLst>
          </p:cNvPr>
          <p:cNvSpPr>
            <a:spLocks noGrp="1"/>
          </p:cNvSpPr>
          <p:nvPr/>
        </p:nvSpPr>
        <p:spPr>
          <a:xfrm>
            <a:off x="38481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Task waits forever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FC6B7EE-566E-44C2-B496-057913D07AE8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D99A83B-0A9C-4263-B616-664DC3647A4F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9E0AB2E-AE61-4E47-A98B-2FA78A7B1762}"/>
              </a:ext>
            </a:extLst>
          </p:cNvPr>
          <p:cNvSpPr>
            <a:spLocks noGrp="1"/>
          </p:cNvSpPr>
          <p:nvPr/>
        </p:nvSpPr>
        <p:spPr>
          <a:xfrm>
            <a:off x="65913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Full queue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CA76FB6-8F5C-4EA4-AAAF-4A842FB3FF84}"/>
              </a:ext>
            </a:extLst>
          </p:cNvPr>
          <p:cNvSpPr>
            <a:spLocks noGrp="1"/>
          </p:cNvSpPr>
          <p:nvPr/>
        </p:nvSpPr>
        <p:spPr>
          <a:xfrm>
            <a:off x="65913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New data is dropped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A9DE7C2-111D-4A72-B8E2-86FF2B2145E7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4C6BE16-1818-4856-B8C1-A182CD1C5EC2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40404E8-4F10-4D82-AC82-19202DF9DD3D}"/>
              </a:ext>
            </a:extLst>
          </p:cNvPr>
          <p:cNvSpPr>
            <a:spLocks noGrp="1"/>
          </p:cNvSpPr>
          <p:nvPr/>
        </p:nvSpPr>
        <p:spPr>
          <a:xfrm>
            <a:off x="93345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Too much data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96CF98F-220F-42FC-BE66-1F630E56B209}"/>
              </a:ext>
            </a:extLst>
          </p:cNvPr>
          <p:cNvSpPr>
            <a:spLocks noGrp="1"/>
          </p:cNvSpPr>
          <p:nvPr/>
        </p:nvSpPr>
        <p:spPr>
          <a:xfrm>
            <a:off x="93345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pointers carefully</a:t>
            </a:r>
          </a:p>
        </p:txBody>
      </p:sp>
    </p:spTree>
    <p:extLst>
      <p:ext uri="{BB962C8B-B14F-4D97-AF65-F5344CB8AC3E}">
        <p14:creationId xmlns:p14="http://schemas.microsoft.com/office/powerpoint/2010/main" val="6275773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13A18910-2C14-458C-B2D5-BEF1007E167E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522D75-8054-472F-BB72-F193B5342E66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A401F-2D56-47B4-8A34-5F0F1BDD508D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952E32-2D7E-41F2-AF4A-9FE3242E2857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B428BA-9821-4F8D-913D-35B0C7260273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BF7A55-6B32-40EE-8891-B30E47D43B73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B03F75-B5AC-4669-8CDB-44D2FDB7AC3E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AF5E28-8B2D-4574-9E5E-6BA7EF967DEF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BF2B8B-6C0B-4C2A-9056-3EB24B7A304D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4ADBD-6FB2-462F-A939-F02CEBAAC0EC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1DE3DF-908A-4EE3-9219-C2CAAC5FED93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98EE69-7FFF-43BC-BAE2-F877DED9442E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34D140-835C-4FB5-8FC4-90152590EE63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F0AEF9-03C7-4765-99FE-89F4D0C39851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A029A0-03DE-42C3-952F-BB3F95F7CE1A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766EED-1FA3-48E1-ABDC-D9684EEC863B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02AE47-D468-4461-8A23-384AE71740E1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DD9035-C25A-4113-8C10-D182E83D439C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398950-6633-4BF3-B7B6-74F0DFE2E183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343FB5-040C-45FD-8156-48D571D8A25C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C1EECC-4E5D-44EF-B992-8BE39A256696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522C19-2667-4EE9-9CD6-C52459C25284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27E0A7-A322-4229-9C96-0221E2A76E26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89F277-0274-47E7-AB37-2418BF935C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E02282-345E-4512-B542-790ABC748F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B057257F-37FE-4403-9A17-3EAD148BD2EA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48C7274-1744-4E6E-9580-546CF209D17A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67743D-FF1B-4442-80CA-07735DFD5C31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4A7E8F-AD99-4E36-9E61-C611481A353B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8640C28-4571-4131-86AA-F0517C45F724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1321B3-87FF-4C8D-A72B-12AF17CCF4F6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D6896B8-F9B3-4835-9F5C-776B4BC289BD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CF32DDD-A876-454B-8F6B-B3ABDD9FFBB0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911132-3189-4317-9071-5495FB4C8C2F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2C6F06F-7AF8-4197-BC2D-3AB13344193F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74FCACD-CF1D-44AD-B40D-692A6A4E2FAD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50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9CEECFE-B538-4D7A-8416-1C835028DF8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E671F25-2779-4D9D-A0CC-A229DA3A543F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9A1C830-A5B9-4788-8FBC-274F5505D3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468FA27-1D58-47FF-BDFC-6B0E9A540DCA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278572C-DD67-4D83-81FE-CB2EBC338B5C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EA6AC2-B10D-4B3F-A6D2-A280ABB79201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Queue run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EEA38DF-5AC7-4B6F-BE30-5A8130E681DA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3E0411C-8E63-4EDF-9067-3285AB44C5B8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C03888-E41E-4F64-BBFF-733D8FD98622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B35B9E4-562E-4237-B991-06EE175D9A6E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D36E1E1-03B1-4955-930E-951496722D77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814B5A7-79CB-4034-972D-A78E7696AC71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Send button or potentiometer values from one task to another.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6022DD9-C23A-4ADC-9707-D7E872284D58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2D40587-D5D7-488A-A539-09AE4458876C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a queue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Producer reads ADC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Consumer receives value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Print filtered result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3D405A4-0F75-49AF-AF7D-F72F64BB31A5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3AA04A8-1789-4EF7-8EDE-6DE1D07CCA35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Values move through the queue.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9DB86C6-AC3B-4F04-A304-54212EDB928C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1FBB7A7-6D62-44D1-99FA-82F0A1FA543F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Change queue length and observe lag.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058C42A-FFF8-4EC1-9DE5-83DF54318E29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815D76D1-65A0-49CE-BB6B-EFA46683B44A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8FD5875-68E9-4349-9BCE-F93A3A106940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Potentiometer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Serial Monitor</a:t>
            </a:r>
          </a:p>
        </p:txBody>
      </p:sp>
    </p:spTree>
    <p:extLst>
      <p:ext uri="{BB962C8B-B14F-4D97-AF65-F5344CB8AC3E}">
        <p14:creationId xmlns:p14="http://schemas.microsoft.com/office/powerpoint/2010/main" val="20249544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5B533F65-DEC3-4217-9C55-292D2620EAEC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5C3546-45B5-46F9-8AF0-5B58469A801D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AE13B0-38A1-49A8-B159-A25FB225E954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2AAE39-2556-449F-ACC9-360C3DDA19BC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8E43B3-765A-4E5C-B5F9-E9AF72872050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C208E4-F9B2-4412-AB58-E14ED4AD97CA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CEF523-8560-4901-B164-68B04609363E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5699E4-61A1-4C5E-B107-BE65D8B2A982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60D203-2A74-4912-AA5B-866F00EEFF13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8DE10C-9229-48A3-AA4A-BF64215CC333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88814B-7A2C-4B72-906E-7B1A36C9A05F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5ED303-FCDB-4906-B2B3-59614FBF2A6E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3EEC93-B17B-4DBC-8CD1-537D0DAED6C8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11E214-8869-40ED-8A7A-42568FC67810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663CFB-0EBE-4BB2-942D-4275502C40D8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91BEBE-D70B-4CDE-A1E7-843E35BF28E2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F50B88-4652-44F6-AE7D-347B099D4E43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718AED-DFA6-441C-9F74-CCAC2F1EDD05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C47F47-2192-4ED9-B1A1-D5C64BAA4263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187316-E7EB-4FB3-AB85-C89B0516291F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A9FDD9-D83E-4E70-9124-277301B9A28C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2BEA28-D2A2-4B54-8B52-FB62E0967F3E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F7E208-D3F8-4206-B885-37DD8E4B35B1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F36279-D987-4D46-8F8A-F5A639A016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6CD34A-8497-47E7-B3AE-09DB1943B0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AF2B6FC5-3E36-473C-AF22-9E92F3DC3DA4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DA776175-800D-4693-BBAB-CA25D7BFFA6E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E92BF18-D202-4164-976F-F090C09BCDF5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61A238-AB80-4B5D-9FE7-70C7F961213D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CE6FFE8-0F16-44DD-AFDC-833FAB5E7B00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682EB8E-4CA4-43DF-A7A2-F515F56813BC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7629F30-6C72-47CE-BB9F-B508358BFDBE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1ABBCA7-117E-41A0-A676-4A9831D54B94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ADB6E2-B98E-4AB5-8D34-F3E66DC07B83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F25CE3-96D4-4559-95A4-9FC4AB781796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73FE6FD-F7BF-48DC-8589-BA7C7EE8893F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51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492B6C3-10EE-4B88-A664-69BB2229DEE5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4A16F59-A8BC-4351-916E-36F480E9AC3A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BA7C4DB-C617-4BAC-B497-8D6A8DBA40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0974A29-5478-4FB3-BB6F-65381F2F8639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267AF9B-514B-44A4-9281-66D0EFD1A9C6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F842318-5050-418D-9487-72C1790ECDC6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Three-task queue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9F0888E-FE23-43EB-BDC6-B3C51205D222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04DC74D-2DA3-4F4A-B5F5-FBA453CFEC9C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B1BA1D1-C276-4A62-87DC-36FDF153414D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1128D8C-42E6-4FB9-B6E6-6CCA1ACC83C3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3F10BC4-AD2E-4B4D-BA87-454624628382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B3F943A-38AF-48CA-A9AC-D6B40324A52F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Build producer, processor, and display tasks connected by a queue.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339D48A-D16E-4288-850F-1B953602E02C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C8F65DE-6F9B-46BF-9D08-1E972D715EEC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Producer reads input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Processor maps value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Display task owns LCD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Queue carries messages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61758DB-C55A-4981-98D6-0B73FBC35895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A99D05-9C5D-42D7-BAB8-D403DDDCEAE9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LCD updates from queued data.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76D38EF-B36D-469D-9E14-A04FA88D9065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E2E6810-51C8-4DD3-B780-52BDB2BB7959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Add a warning threshold.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38EA7FA-C87A-47EB-8CF7-950E9CA6C5A9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2B72F51B-13D8-4FAB-A25D-50CB67C4045E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79A0B3D-38D7-4097-B1BF-F44662245E54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Potentiometer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LCD</a:t>
            </a:r>
          </a:p>
        </p:txBody>
      </p:sp>
    </p:spTree>
    <p:extLst>
      <p:ext uri="{BB962C8B-B14F-4D97-AF65-F5344CB8AC3E}">
        <p14:creationId xmlns:p14="http://schemas.microsoft.com/office/powerpoint/2010/main" val="12232732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11A0F60-91C3-41AF-9410-F6EF9B6721A5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2CFC64-46C8-4F36-B27A-4AD7B350E382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5E7A0D-D8FF-4B92-8CA1-2D4480B5E8D9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045FC9-7657-43E5-BCF7-36CADB0BB7DA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CDBF12-28DA-432E-9D9D-4713E5B24536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72F88F-F154-4A84-9521-263195D482F4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5D1EE6-9415-4ECD-B76D-032D4195685E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E7F2EF-A384-4D7F-8C0B-D394F65960DE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80460C-F23C-488C-8BFD-5A4453A9CD3D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1913C9-444C-44C4-AEC2-6897708F3BAF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FF6AD3-CB6C-4D7F-A751-246274FBFBF9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C20ECF-DBC3-4B9F-B74D-368B087889CA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3C8738-8E30-4D70-9DC5-86905102CD9B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1D7F7B-AB58-436F-ADFE-080BB071A9B1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AC14FC-2FCA-42B4-8E1A-768A07C231B0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2D16A9-8F41-40E5-A508-6363A2955A1D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21CD55-D141-4687-8117-68FFB2F01140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A607C4-3EAB-45F6-9A10-3EA2741AC1EE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3F570F-D0DC-43E7-9D35-36176ECD6D11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0F6E02-383C-403E-A6B9-3372349FFFCB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C02E75-78F5-4792-B4AC-2BE146305109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C2216F-B4D0-4610-8423-394DE6CC0C24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944337-3D18-40FB-98D1-BDE306852C1F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EC653F-393A-4EB9-A345-6BA026AB46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8574B9-C7D1-4391-B5DB-F20235A54E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C6F864D3-28EA-4841-A7A7-626007587BAC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5FD38FB5-F4C0-4B3A-A049-9AE8C138CC19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9FD8AC-B0E2-42B7-93DD-6C02ECBF653A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654BA1-6FFB-4EF4-B7A4-87F547929509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795A7F-C6B3-4B46-A2CD-588606506951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E30B810-3628-4D32-ACB3-8252E602A21C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36ECA25-3193-474F-AD8D-C5BE732F46B6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E0234B5-5C29-483E-A9F7-A3B4F85C0EC7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DD8D0B-842B-474C-AA8C-77FD3D5B7CC0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D87B50-8E2E-4CF1-B461-2C7C23C8DFB9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26F653-5E2E-4B08-B0B8-F4EA521F0084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52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E6B0E8B-DE59-4F27-BDDE-98DC98E3D5BF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1EFB523-7AEE-4422-96BE-2E3EE2F40049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BA999A3-4DDA-4CD9-9527-01D5DEF0C254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0382250" cy="3905250"/>
          </a:xfrm>
          <a:prstGeom prst="roundRect">
            <a:avLst>
              <a:gd name="adj" fmla="val 4390"/>
            </a:avLst>
          </a:prstGeom>
          <a:solidFill>
            <a:srgbClr val="0F1D2E"/>
          </a:solidFill>
          <a:ln w="11430">
            <a:solidFill>
              <a:srgbClr val="0F1D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34ABFA-4000-4BFA-99E8-CEAE1F918928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52400" cy="390525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FC4A629-A97B-40B4-B3C5-4DEF5F459460}"/>
              </a:ext>
            </a:extLst>
          </p:cNvPr>
          <p:cNvSpPr>
            <a:spLocks noGrp="1"/>
          </p:cNvSpPr>
          <p:nvPr/>
        </p:nvSpPr>
        <p:spPr>
          <a:xfrm>
            <a:off x="1257300" y="1543050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879AC62-B0A3-49A2-832B-908FED63F8DD}"/>
              </a:ext>
            </a:extLst>
          </p:cNvPr>
          <p:cNvSpPr>
            <a:spLocks noGrp="1"/>
          </p:cNvSpPr>
          <p:nvPr/>
        </p:nvSpPr>
        <p:spPr>
          <a:xfrm>
            <a:off x="1485900" y="1543050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82ECE89-7ABE-4196-83B3-67F8C7671CAC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3CB6C89-C9AD-4958-9D6C-A309E2A89FEA}"/>
              </a:ext>
            </a:extLst>
          </p:cNvPr>
          <p:cNvSpPr>
            <a:spLocks noGrp="1"/>
          </p:cNvSpPr>
          <p:nvPr/>
        </p:nvSpPr>
        <p:spPr>
          <a:xfrm>
            <a:off x="1257300" y="20383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rPr>
              <a:t>MODULE 06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CFFD68A-AC80-4279-BB48-264920CB7C98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809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Semaphores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76C63DC-DE4E-4638-BCE5-375F5EFAFBB6}"/>
              </a:ext>
            </a:extLst>
          </p:cNvPr>
          <p:cNvSpPr>
            <a:spLocks noGrp="1"/>
          </p:cNvSpPr>
          <p:nvPr/>
        </p:nvSpPr>
        <p:spPr>
          <a:xfrm>
            <a:off x="1257300" y="38481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// event signals between tasks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90875BF-5BDA-4AC3-B846-7D92F53AFDBF}"/>
              </a:ext>
            </a:extLst>
          </p:cNvPr>
          <p:cNvSpPr>
            <a:spLocks noGrp="1"/>
          </p:cNvSpPr>
          <p:nvPr/>
        </p:nvSpPr>
        <p:spPr>
          <a:xfrm>
            <a:off x="8953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NEXT_MODULE</a:t>
            </a:r>
          </a:p>
        </p:txBody>
      </p:sp>
    </p:spTree>
    <p:extLst>
      <p:ext uri="{BB962C8B-B14F-4D97-AF65-F5344CB8AC3E}">
        <p14:creationId xmlns:p14="http://schemas.microsoft.com/office/powerpoint/2010/main" val="21426520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D1C454F9-B415-48EB-98C6-C922C9C14A92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E9FF4-57ED-44B6-A724-50DED94F2A13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250358-48EB-43C0-9145-24D958DFA581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3506A7-B028-43E5-AB03-95E5D65670BE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491AF2-D3ED-46DB-8ADB-81B0730B3406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0C1814-2099-4CB1-9274-813642EF5942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47324C-FE10-4F49-BBB1-58D6B4C88D3E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EB2797-AB08-4A62-A2BE-34E766643530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E77BA9-C36F-442C-87CF-087EB7BDA387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040CF2-2DE0-42C1-A067-17D4A2AEB8FB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80C05-3A2D-474A-94A1-CDAC8F7188DB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1D09AB-8735-4666-B0B7-A844FB80568C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10EF6F-801E-4A3F-A4F5-866F7998392E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D4C013-7BC6-4F95-8171-AF2CBFA1655C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02FECD-C15C-433C-AD70-66DAADA88D86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F38C6-243B-4799-A438-9471AC38E627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A48EE9-06ED-4661-AF78-A19BC9E261F7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59B208-2AF6-4000-B9BE-8CAAD6934B64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B78160-80F3-432C-89D0-866FBFF352A1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F85E8D-5CFA-4167-A055-B82F6AB534C7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273AAB-1B99-4F84-8366-5AE1454830DC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4BB3DC-9BEB-4477-8967-00800E8B7075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C8FA9A-4AC9-4C87-A898-79F10FA80683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FEC54B-B4E6-4A26-BBAD-0D1BB1FB98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1EE636-C657-46F4-879D-93D7D0DDC4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A3385A62-5C06-436B-9E83-E90D05E802A7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33F93143-857E-49AD-8D9A-40EEAF654C5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BA41B9-D543-4351-B094-6C8688AA3416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2BA7BB1-7BC4-4C4F-A0FA-5130C1CB343C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E9B2EB5-D8D9-4BE1-9297-BFA75440A064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097FD32-A72E-4FFE-8922-638DD6D53EB9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9813015-C1E6-461B-8623-BF614D51C536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B4B827A-E5E1-46E0-B1B3-B252CAB78E42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8D2C84-A32A-4A77-8CD6-6BB2B9C0ED7B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1C1A905-6082-403A-ABE6-B7752693BAF2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961E68-468A-4F3E-B696-51D592D2289F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53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6568C44-E68B-4358-AB27-435CA361C3CF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B167FF6-58F5-44F6-9093-6864193D4E10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0F938E-15A9-4554-9E8F-04AA78BA522A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 semaphore is a signal, not a data packet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356BBD3-DED4-4A35-8035-8E872F2CE01E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B2A59C3-034D-4416-ACDB-1A864C539AE5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FFF1F2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0321C90-034F-47FB-A2AF-354ABF15C543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ECFDF3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BF682C-1556-4F8C-9E21-8F2CC1136552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953000" cy="762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8815435-16B1-4433-9224-965B50D562B4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4953000" cy="762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59BAFCA-0F58-4379-B73B-8CA0E8E5AB9D}"/>
              </a:ext>
            </a:extLst>
          </p:cNvPr>
          <p:cNvSpPr>
            <a:spLocks noGrp="1"/>
          </p:cNvSpPr>
          <p:nvPr/>
        </p:nvSpPr>
        <p:spPr>
          <a:xfrm>
            <a:off x="1143000" y="24288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Queue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9458871-07F0-41DE-AE93-0F7158D1A5DE}"/>
              </a:ext>
            </a:extLst>
          </p:cNvPr>
          <p:cNvSpPr>
            <a:spLocks noGrp="1"/>
          </p:cNvSpPr>
          <p:nvPr/>
        </p:nvSpPr>
        <p:spPr>
          <a:xfrm>
            <a:off x="6705600" y="24288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Semaphore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23B2725-72AB-413D-899B-609190C601A1}"/>
              </a:ext>
            </a:extLst>
          </p:cNvPr>
          <p:cNvSpPr>
            <a:spLocks noGrp="1"/>
          </p:cNvSpPr>
          <p:nvPr/>
        </p:nvSpPr>
        <p:spPr>
          <a:xfrm>
            <a:off x="1190625" y="3000375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Carries data</a:t>
            </a:r>
          </a:p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Can store many messages</a:t>
            </a:r>
          </a:p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Consumer reads values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6B1D0C6-6289-4157-862E-3D1C9A3385F1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Carries permission or event</a:t>
            </a:r>
          </a:p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Often just yes/no</a:t>
            </a:r>
          </a:p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Consumer wakes up</a:t>
            </a:r>
          </a:p>
        </p:txBody>
      </p:sp>
    </p:spTree>
    <p:extLst>
      <p:ext uri="{BB962C8B-B14F-4D97-AF65-F5344CB8AC3E}">
        <p14:creationId xmlns:p14="http://schemas.microsoft.com/office/powerpoint/2010/main" val="7419080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1005ED7-6E39-4A39-ADBA-DB0C90795AB9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725F7E-BC69-4233-8DEA-40EB3B82F85B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CFCD27-1579-45C7-BD86-4ECC9F6C7FC4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F5C9CB-BDB1-432F-9AB7-ED05356B6813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D4E298-3EEF-41B1-B57B-B8C676FC3205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514CCB-64D7-4570-B80C-FA6EBC031775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B8F0ED-5B7B-4005-8331-4EA3C0BFD6B7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628D7B-9F83-4618-8FFD-1D944A76B2C7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AA7B24-9A27-48F9-BBBC-055553D6A35D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4CCB89-74D5-4AB9-B762-19A6A30410EC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22E5AB-388E-4B52-847B-52E80380F58E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CDAE9F-3B11-496E-B243-DFB519351E34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733BBF-25F4-4175-AB30-286F5F46E93B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A344D5-755E-44F0-AC6A-40F139FCF6F3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89F3C1-9940-4976-8074-32E99D6DABB2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122A44-CA74-40A3-B3CF-510F4825E3C4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63E6E2-BB4B-4A4F-9754-5CEA285A7F10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AA2187-9EB5-46FE-8550-9C7DA21A405C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A9D390-606F-4C7F-93E9-418A4C73306A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B03DEA-515A-4922-9949-C219472BD1C9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495255-9A17-4CA5-82F2-232A8EBAF33D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303B6F-9E8D-4B4E-806A-25C6B316F66E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8EE6C7-02DB-4A60-B0E6-38E3B884125C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2D79AB-C231-4F82-B1CB-67CEC86FF9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4C1F67-D7A7-465E-9BFC-1AC0903F48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CE0E3D85-AB69-4A99-AAFA-A755093A1B56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9433619B-4B7D-4B9C-A59A-3DBF4988321F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0B7DD0-11C2-4314-B019-758A95F55BCE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18D39-B749-4106-A497-BFDFE2354FC6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9A4D10F-6160-4188-ABD2-96F5759DD8A6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BBFA735-80FF-4CDE-BDA6-C6B629966FAA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A354F1B-D4A5-4F89-B462-D2447184C440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8CFBF01-5CAB-42D8-BC6F-BF37D1AC61EC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C957F7-6A9B-4890-B973-22AAE3EFD5CC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8F53D45-159E-4001-AD33-009642698B07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99A61F1-0806-4C82-A9F7-CCF51D462AB2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54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2CBFD00-3F88-408A-A2DC-8D9141CCFF2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AC93967-7B45-4F4B-9BBA-693A30F79574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C99A6EF-874D-44C2-97D0-6FC44AF7CC2A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Button events can wake exactly the right task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B59115A-9E24-4301-95ED-DEBC7E8AFF2E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CE70677-2F14-4432-96EF-904346F8820D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10E8077-65BC-487E-8F63-59127C723A4E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181F019-051F-403A-A325-A3A34E732FE7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C58CA4B-B505-43AD-B3A2-2CAF9E8030CC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Button task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B54DBF7-C46D-4822-948B-68EE8B7746A0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62FB813-C9EC-4547-9C32-ED07AF548C62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DCCEA37-03FB-4444-9F82-1B085C714B78}"/>
              </a:ext>
            </a:extLst>
          </p:cNvPr>
          <p:cNvSpPr>
            <a:spLocks noGrp="1"/>
          </p:cNvSpPr>
          <p:nvPr/>
        </p:nvSpPr>
        <p:spPr>
          <a:xfrm>
            <a:off x="29908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846E8A2-CC86-4122-B7BD-D1BE9A0ACA9F}"/>
              </a:ext>
            </a:extLst>
          </p:cNvPr>
          <p:cNvSpPr>
            <a:spLocks noGrp="1"/>
          </p:cNvSpPr>
          <p:nvPr/>
        </p:nvSpPr>
        <p:spPr>
          <a:xfrm>
            <a:off x="29908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Give</a:t>
            </a:r>
          </a:p>
        </p:txBody>
      </p:sp>
      <p:cxnSp>
        <p:nvCxnSpPr>
          <p:cNvPr id="113" name="Straight Arrow Connector 112"/>
          <p:cNvCxnSpPr>
            <a:stCxn id="41" idx="3"/>
            <a:endCxn id="45" idx="1"/>
          </p:cNvCxnSpPr>
          <p:nvPr/>
        </p:nvCxnSpPr>
        <p:spPr>
          <a:xfrm>
            <a:off x="24955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AFC6240-7F7F-4669-8A2F-CB75740E5B86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966665D-9806-40CD-A8A2-37728996B6BF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C6818B1-8476-4E2F-9007-F6D74EF8C566}"/>
              </a:ext>
            </a:extLst>
          </p:cNvPr>
          <p:cNvSpPr>
            <a:spLocks noGrp="1"/>
          </p:cNvSpPr>
          <p:nvPr/>
        </p:nvSpPr>
        <p:spPr>
          <a:xfrm>
            <a:off x="49720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D9DFF70-84C0-4A0E-A00F-E5D1FFB8694E}"/>
              </a:ext>
            </a:extLst>
          </p:cNvPr>
          <p:cNvSpPr>
            <a:spLocks noGrp="1"/>
          </p:cNvSpPr>
          <p:nvPr/>
        </p:nvSpPr>
        <p:spPr>
          <a:xfrm>
            <a:off x="49720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Semaphore</a:t>
            </a:r>
          </a:p>
        </p:txBody>
      </p:sp>
      <p:cxnSp>
        <p:nvCxnSpPr>
          <p:cNvPr id="118" name="Straight Arrow Connector 117"/>
          <p:cNvCxnSpPr>
            <a:stCxn id="45" idx="3"/>
            <a:endCxn id="50" idx="1"/>
          </p:cNvCxnSpPr>
          <p:nvPr/>
        </p:nvCxnSpPr>
        <p:spPr>
          <a:xfrm>
            <a:off x="44767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C87FFEF-CBF5-4420-BA75-34453911E248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D151993-87A0-42A5-A1CE-48410DC415F6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D4F950C-2D5E-4D74-8730-3A60A0EDA66D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E649A5C-3921-461B-900E-B9FE19E3878C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Take</a:t>
            </a:r>
          </a:p>
        </p:txBody>
      </p:sp>
      <p:cxnSp>
        <p:nvCxnSpPr>
          <p:cNvPr id="123" name="Straight Arrow Connector 122"/>
          <p:cNvCxnSpPr>
            <a:stCxn id="50" idx="3"/>
            <a:endCxn id="55" idx="1"/>
          </p:cNvCxnSpPr>
          <p:nvPr/>
        </p:nvCxnSpPr>
        <p:spPr>
          <a:xfrm>
            <a:off x="64579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628C710D-3F11-4F47-9E11-DC520A853967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4754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92018BA-91FF-4CEE-88B2-CEA19E4CC1EF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66675"/>
          </a:xfrm>
          <a:prstGeom prst="rect">
            <a:avLst/>
          </a:prstGeom>
          <a:solidFill>
            <a:srgbClr val="475467"/>
          </a:solidFill>
          <a:ln w="0">
            <a:noFill/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F402411-7758-4C1C-A873-ABC1C9146CFC}"/>
              </a:ext>
            </a:extLst>
          </p:cNvPr>
          <p:cNvSpPr>
            <a:spLocks noGrp="1"/>
          </p:cNvSpPr>
          <p:nvPr/>
        </p:nvSpPr>
        <p:spPr>
          <a:xfrm>
            <a:off x="89344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89B897B-19B5-46BB-B35F-19E4D459737E}"/>
              </a:ext>
            </a:extLst>
          </p:cNvPr>
          <p:cNvSpPr>
            <a:spLocks noGrp="1"/>
          </p:cNvSpPr>
          <p:nvPr/>
        </p:nvSpPr>
        <p:spPr>
          <a:xfrm>
            <a:off x="89344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Alert task</a:t>
            </a:r>
          </a:p>
        </p:txBody>
      </p:sp>
      <p:cxnSp>
        <p:nvCxnSpPr>
          <p:cNvPr id="128" name="Straight Arrow Connector 127"/>
          <p:cNvCxnSpPr>
            <a:stCxn id="55" idx="3"/>
            <a:endCxn id="60" idx="1"/>
          </p:cNvCxnSpPr>
          <p:nvPr/>
        </p:nvCxnSpPr>
        <p:spPr>
          <a:xfrm>
            <a:off x="84391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5864944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4944529B-9124-4683-8C02-D7A9FACFEBC2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035F91-C9EF-4AEC-8E97-02E28877103A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947CF0-C33E-4897-B527-5ADD5668D2BA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3E6D13-81E8-434F-80DC-400C1BF3D8A0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92C594-488B-40AE-8A85-1608550A58B5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42C14-5315-4946-A6BD-C0E5C68BD914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243A74-9641-42FA-A4B1-CA1815081C49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40ADEB-38A1-4A36-8424-C06AB4B3AC38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48F05C-67DE-4532-815A-25E3AADD1291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51D1FF-6808-4807-9DAB-D76F29DFD496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962B38-E2A7-47A1-8E94-94FA96EF55BF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2F45F-0B09-4778-B133-EA91C87E8369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656CFF-A02E-4136-B9F4-53399D715BC6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FAA059-817F-4DA2-87D4-B7A49442415F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F8B2FB-2FB1-4DD6-B922-4463D44D6FF7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17C046-3F56-4808-8333-326AB4C917D3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5DF226-7867-40BF-A0E2-8715D164D1DC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ACF7AA-91F6-4756-B3CE-3A26B7022C5A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CAB345-21CE-4538-81EA-F82444ABA540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CA0F7E-A17F-4FA1-9845-8EC25BCD33EB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985D3F-1B5B-4304-A1A6-FC41E443221C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9200D1-32AA-43A5-B5DE-6F049922ADAA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BC403E-AECB-42B3-89D7-9F4D32380752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CEE7CB-14DF-4BBC-9B7A-376BA12FAB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101D8D-4001-4892-A3F1-D4D5C57DA5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1EF90991-0E53-4C5E-98E6-D304795BCBD4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BA2902CC-283B-4C5E-B8DE-0F08DAA8EA33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B2F1B1-F220-4BB6-A260-EC175A9289C1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DF56D2-956A-4CAC-8F15-1EB2CB58002C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0B36118-26C8-495D-AFB5-74C63820F1F9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D1BF6EF-0403-401B-B98A-2940DED055A1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D36382E-A1CC-404D-829C-FDC12B1276D9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789C9EE-58FC-47CC-B6FF-7F810C431782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8E66EC-06A3-48AD-94C9-A131DD4E48B7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284717A-DA64-4915-9CCA-24FD634928A4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61D0A4-F1DA-4C16-BAF3-D78C9BA1BA23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55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42F1B36-EE4D-4CE6-8027-788D6F3DCF10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DB66DE7-99EC-46A6-AD56-36577D912467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B822A95-5B46-49C0-879D-86BFCDC17735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Binary and counting semaphores answer different questions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F370DA4-AB4C-4399-994A-A06BAE2F9461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0A0209E-BE92-4109-9D64-CF3FC7AA35F5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FFF1F2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90F0B86-422A-4DA5-A007-857CF6784259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ECFDF3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4AFEE4-7D77-48E9-8AAB-E0A4B9241970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953000" cy="762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FE3ACE4-1988-47CC-B568-46DF6C29BFF5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4953000" cy="762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92488FA-C98C-4A2E-BD76-6087268C3F51}"/>
              </a:ext>
            </a:extLst>
          </p:cNvPr>
          <p:cNvSpPr>
            <a:spLocks noGrp="1"/>
          </p:cNvSpPr>
          <p:nvPr/>
        </p:nvSpPr>
        <p:spPr>
          <a:xfrm>
            <a:off x="1143000" y="24288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Binary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CA6EBB1-055B-449F-BBB0-C2526FAE74B3}"/>
              </a:ext>
            </a:extLst>
          </p:cNvPr>
          <p:cNvSpPr>
            <a:spLocks noGrp="1"/>
          </p:cNvSpPr>
          <p:nvPr/>
        </p:nvSpPr>
        <p:spPr>
          <a:xfrm>
            <a:off x="6705600" y="24288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Counting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9D1FA9-5F92-4F8D-A4C5-C42E070E9F9B}"/>
              </a:ext>
            </a:extLst>
          </p:cNvPr>
          <p:cNvSpPr>
            <a:spLocks noGrp="1"/>
          </p:cNvSpPr>
          <p:nvPr/>
        </p:nvSpPr>
        <p:spPr>
          <a:xfrm>
            <a:off x="1190625" y="3000375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Did an event happen?</a:t>
            </a:r>
          </a:p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0 or 1 token</a:t>
            </a:r>
          </a:p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Button press signal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61BCE3-945C-4C79-B1BD-331D21D8016A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How many events/resources?</a:t>
            </a:r>
          </a:p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0 to N tokens</a:t>
            </a:r>
          </a:p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Buffered events or slots</a:t>
            </a:r>
          </a:p>
        </p:txBody>
      </p:sp>
    </p:spTree>
    <p:extLst>
      <p:ext uri="{BB962C8B-B14F-4D97-AF65-F5344CB8AC3E}">
        <p14:creationId xmlns:p14="http://schemas.microsoft.com/office/powerpoint/2010/main" val="10257924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6B94C7D9-2C1F-489C-B568-8BCFEE48FBFE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C14D7C-AEC9-45B6-9F8F-8C9509346734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10683B-3B48-4CBF-B034-C5AAFEEF9E25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F3CFB8-AFD0-4CB8-941C-8926617B47D4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BF5F1C-FDED-4DE3-9728-714BB7640B0F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8D3955-F9E2-403E-9EB3-805DE1B2A93D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504AB9-2D0A-400E-BA5E-7B87FB635948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B70B5E-CF2C-48AA-8298-CE797425282A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9C459B-9410-4D3E-ABFC-B12FCC305A7F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8870A1-9B25-4F99-8278-98D37324F85A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8ABC39-55F6-41F6-8EA5-5DD0C49EA4D6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007A38-F9C1-4D25-9206-8E26C96D8474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9DBB18-2738-4DCD-8901-6C5103A68F83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C56579-3C1C-4652-A500-5A30686083CC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DCBCA3-45BE-4381-BB32-4E2F365E555F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50EEB9-C471-4052-A760-25D91315471F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AFFE5D-EB1A-41D9-9D10-D23A349AEA34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C51F95-7BA7-40D3-9B40-5886D084A4C4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A7B6A2-C27B-477A-BE07-B528E82E45D5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EE9478-2477-49B0-9680-A09404C3C7C8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1B952F-E19C-4180-A876-DAD716F56FCD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4C078D-636B-4D38-BCD0-159A5FB4EDC8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802731-BF08-4427-B324-F50B5513D933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F5F008-681A-4BE1-86A1-3B506F68F5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CB9334-3615-426F-A29B-ACD9AEA1A6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D722672F-0983-4143-800A-291201385DEC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BCE1C7A0-AF51-4AA6-97E7-F8D3B85C8CA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600600-0661-4089-AD8E-6C7EE96CE730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5D4F01-43F3-42EF-8FB9-5C8D89EB07C9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80F6396-EE72-46A1-AD23-94A44740CEE7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01D7F70-70C0-43B1-8F7D-36692144DB92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E3762E2-3CDB-4FCF-9B16-48D352D46ED2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81A7C2D-6448-4E50-98D4-03E34803A1B2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137A8E-9821-4BA5-A647-20DEF29453E1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7497C51-11B2-433A-ADAB-64DFBA38F732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D5C1843-6464-4727-B726-65438D0707D2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56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6502379-BBEA-4F3E-A9C0-A31224700282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A78E40E-3917-4CD0-B530-D54AF1ED6447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5E641C0-B912-4C76-8FF7-9CE8D3FBA9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229626B-78F8-4DF3-A145-0A73FA680A94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CF7824B-B498-4ACD-88D0-1EC082778D56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F05FDAA-010D-42B4-8B7D-E1310382492C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Semaphore toggle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D9FF478-F973-42CE-A3EC-7B594AF9BCAC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5D5D2B8-38BD-47FF-BCE8-3689AA08DC12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ECAED8E-2B8C-45CB-8992-422D7C82EC8D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B940956-5AD4-4B8E-B885-E89DF4BA0878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56897CB-CD3F-47CC-931B-B8AA36EB6200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21DCDEA-DDF4-45B5-B882-522AAC43A35A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Signal an LED or buzzer task from a button task.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6B463BC-30D6-4F8F-8F01-478EC89D3B02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8E9185-4459-4E33-818C-C954C0F3C2CE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binary semaphore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Button task gives it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Alert task takes it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Toggle output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25F4767-BA05-4CD1-B4C3-9031BDF9064D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9D99200-2D58-46BB-822F-A59719B120DE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Output changes only after the signal.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9D30DB7-03C3-4FDC-9630-2C424824292C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90A0105-EDC3-4CED-B153-AFDD6893EF00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Debounce the button without blocking.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345AA00-E773-47C1-9797-93EE92E73F3A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17CD86C8-F951-43F6-9FF0-39B01FF56400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E6B8AE7-607D-4E34-B233-8052D1922EF3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Button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LED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Buzzer</a:t>
            </a:r>
          </a:p>
        </p:txBody>
      </p:sp>
    </p:spTree>
    <p:extLst>
      <p:ext uri="{BB962C8B-B14F-4D97-AF65-F5344CB8AC3E}">
        <p14:creationId xmlns:p14="http://schemas.microsoft.com/office/powerpoint/2010/main" val="16302999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10E30E3D-ABE1-40D4-96D4-0CBCF7A63616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A3D61D-E4C7-4161-A827-9AE74C76BF4A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4B83C1-E4C9-4F5E-A59A-12D853D32ED7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05095A-DB83-4838-BA04-6C08BBF98427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D11671-A74C-4FFB-9F43-41D37EA090BB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546950-05B3-4A9B-9B08-C2B995AFEAD8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D70CBB-FF6D-4669-91CB-0EB254F244FD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636A6E-AC1F-47E2-A6DE-80D5F52EC2B7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B88DD7-D5F8-4582-A49F-AE67BBD1A9F0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EA8507-0526-4A17-A074-6C9F3068E9C1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B762ED-DD09-42CA-9AB9-7721818472F4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1668F5-CDA6-46E4-8290-716AAD6CABB5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36C095-4A31-4150-B76E-5F20E987B21C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34CAC8-5C68-4824-A506-0EF1D2E1E3DD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0253E7-9847-43BB-9225-CAE430125250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B470CD-C3E5-4E9E-97D6-482D53E8E861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80F3DC-C7F5-480D-BB70-C26153083FF1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74BF4-C906-4240-937C-B34A4B596A8C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5C7152-3C7C-4168-B00F-3AF7B2C8F2A2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019659-2754-44D7-A3A7-141FBF41DE53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9929CD-16A6-489E-910E-236616A56F70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41F6A1-7263-49B2-8891-0FA70D956114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BDDCEA-34C0-46D1-9F76-7D938E5395CA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B90826-A7EC-4EE5-B646-B2C5538B50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904847-4EAE-4185-8DFC-346B63B72E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AA390B7A-A589-42AE-89AB-BCEC4CFB00AF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F16B9660-66FD-4BC1-9AE7-F74A4D829915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4B1ECB-32E8-4C84-82AC-1C466ADE90DE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432F03-63F4-4EF1-B60C-C2EC28E722CC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6DC13FD-9423-4E74-BCCD-806F910CA8DC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CD337BB-B2DE-414C-B689-3B12BB9425E1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978A895-FF90-483D-A18E-698C1DDAB043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B8E923C-3C34-48F0-912E-1D82807B65B0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3A7C4A-0087-49F6-BB2D-6946EE86F0CA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DAY 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9A2C43-1322-4AE3-A92F-34E0C211DB8A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AEEF30-FDEB-46E7-864C-F660664E2772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57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C4D641B-E83D-4844-8944-D690A7E3151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D82A9E6-FF67-48EA-AEF2-6F75290BEF07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784C105-46A9-4B3F-8716-B370CFF8758D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Day 1 mini-project ties the first tools together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FFFC81A-45E9-46D0-88AB-605E9B7A2DBF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838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Mode switching with tasks, queues, semaphores, display, LED, and buzzer.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028A81D-1302-40EF-9282-94567E36F801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6E7B0C0-A7D4-4FA4-B0B2-5D7339E89802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86FA37A-9DF7-48D3-9AB2-119EEF68C5AC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EC5E7CD-EE70-4173-B246-4B1FF4061EED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37FDC9B-906D-4F61-919C-E776EF5828AA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915A1CB-46C8-41A1-BA3A-39BE60B78BC5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2378433-F480-4874-9925-972C8F3974D7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E938120-C459-411E-A802-4FAA424CBD9C}"/>
              </a:ext>
            </a:extLst>
          </p:cNvPr>
          <p:cNvSpPr>
            <a:spLocks noGrp="1"/>
          </p:cNvSpPr>
          <p:nvPr/>
        </p:nvSpPr>
        <p:spPr>
          <a:xfrm>
            <a:off x="29908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BB46DB4-9AB7-4A86-BC96-D8FF4DEFC22D}"/>
              </a:ext>
            </a:extLst>
          </p:cNvPr>
          <p:cNvSpPr>
            <a:spLocks noGrp="1"/>
          </p:cNvSpPr>
          <p:nvPr/>
        </p:nvSpPr>
        <p:spPr>
          <a:xfrm>
            <a:off x="29908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Mode queue</a:t>
            </a:r>
          </a:p>
        </p:txBody>
      </p:sp>
      <p:cxnSp>
        <p:nvCxnSpPr>
          <p:cNvPr id="115" name="Straight Arrow Connector 114"/>
          <p:cNvCxnSpPr>
            <a:stCxn id="42" idx="3"/>
            <a:endCxn id="46" idx="1"/>
          </p:cNvCxnSpPr>
          <p:nvPr/>
        </p:nvCxnSpPr>
        <p:spPr>
          <a:xfrm>
            <a:off x="24955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C03CAF1-694B-48E9-9E00-E42231A48E2D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DDB3073-B286-4774-A3D4-DBD82F9B0FC1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0398F22-0F35-4810-87F6-600B65441375}"/>
              </a:ext>
            </a:extLst>
          </p:cNvPr>
          <p:cNvSpPr>
            <a:spLocks noGrp="1"/>
          </p:cNvSpPr>
          <p:nvPr/>
        </p:nvSpPr>
        <p:spPr>
          <a:xfrm>
            <a:off x="49720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0B9E444-5D38-497D-978E-6BF9EDBD26E8}"/>
              </a:ext>
            </a:extLst>
          </p:cNvPr>
          <p:cNvSpPr>
            <a:spLocks noGrp="1"/>
          </p:cNvSpPr>
          <p:nvPr/>
        </p:nvSpPr>
        <p:spPr>
          <a:xfrm>
            <a:off x="49720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Controller</a:t>
            </a:r>
          </a:p>
        </p:txBody>
      </p:sp>
      <p:cxnSp>
        <p:nvCxnSpPr>
          <p:cNvPr id="120" name="Straight Arrow Connector 119"/>
          <p:cNvCxnSpPr>
            <a:stCxn id="46" idx="3"/>
            <a:endCxn id="51" idx="1"/>
          </p:cNvCxnSpPr>
          <p:nvPr/>
        </p:nvCxnSpPr>
        <p:spPr>
          <a:xfrm>
            <a:off x="44767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4DCA593-49E9-4C4E-AB81-11B915F7FDAD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595EA86-73F3-49E1-A38F-59E30678D336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DAD21-7505-4CD3-8F7C-02C7A3E67809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7A2D802-C0F3-4DCB-B1E6-1F0FC364BB25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LCD</a:t>
            </a:r>
          </a:p>
        </p:txBody>
      </p:sp>
      <p:cxnSp>
        <p:nvCxnSpPr>
          <p:cNvPr id="125" name="Straight Arrow Connector 124"/>
          <p:cNvCxnSpPr>
            <a:stCxn id="51" idx="3"/>
            <a:endCxn id="56" idx="1"/>
          </p:cNvCxnSpPr>
          <p:nvPr/>
        </p:nvCxnSpPr>
        <p:spPr>
          <a:xfrm>
            <a:off x="64579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A9033E2-9F8E-4B31-8696-71FDEF47B881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4754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6073BC6-41CA-4BCB-9023-A9F42EFDD8D7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66675"/>
          </a:xfrm>
          <a:prstGeom prst="rect">
            <a:avLst/>
          </a:prstGeom>
          <a:solidFill>
            <a:srgbClr val="475467"/>
          </a:solidFill>
          <a:ln w="0">
            <a:noFill/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D6DCFEF-CE2A-4CE3-944B-3553F4056A76}"/>
              </a:ext>
            </a:extLst>
          </p:cNvPr>
          <p:cNvSpPr>
            <a:spLocks noGrp="1"/>
          </p:cNvSpPr>
          <p:nvPr/>
        </p:nvSpPr>
        <p:spPr>
          <a:xfrm>
            <a:off x="89344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DACCF01-48EB-4ABA-AB1C-573DC3F057B6}"/>
              </a:ext>
            </a:extLst>
          </p:cNvPr>
          <p:cNvSpPr>
            <a:spLocks noGrp="1"/>
          </p:cNvSpPr>
          <p:nvPr/>
        </p:nvSpPr>
        <p:spPr>
          <a:xfrm>
            <a:off x="89344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cxnSp>
        <p:nvCxnSpPr>
          <p:cNvPr id="130" name="Straight Arrow Connector 129"/>
          <p:cNvCxnSpPr>
            <a:stCxn id="56" idx="3"/>
            <a:endCxn id="61" idx="1"/>
          </p:cNvCxnSpPr>
          <p:nvPr/>
        </p:nvCxnSpPr>
        <p:spPr>
          <a:xfrm>
            <a:off x="84391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8893159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FC55142A-EC1B-4E3B-B1D7-47EF0AD5353F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263881-C94B-4A75-9597-E94D1BCD683A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AE05DF-979C-48EC-B063-CE5E24C5753D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A2B5F6-144F-497D-B3E8-322DC5B5901B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71C190-D7AD-4029-9297-B1A6D6290F0F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AB004B-8E15-488C-95C3-86179CF15659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E98B0E-47C2-4172-B85E-E30EB7700AA9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63C3BB-9E97-463A-B9FC-E3EF1A61405A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77B7B5-F216-4345-859D-87F8BC46F4FA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586A64-818D-4D78-B7CD-47B378A15E3A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E88F38-B1AA-4283-A393-775C9702B4A2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461FBF-C09A-45E9-A0EB-F314B7B844DB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8BBB5D-5801-4801-AA04-4F6E844D3C3C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5BAA65-6A4E-4829-AA94-221B88840465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971831-53A5-4EF7-9762-39B52755CF60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37B271-9E52-48A5-A0F1-B1504EEB3291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DBC642-6C6C-4591-A0BB-C72BA973F974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D3F26E-E9F4-4264-956A-91B500137100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842EE4-8AB7-491B-B6BB-0E6D681B487C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5A7A35-2810-469E-8CBD-DB8958AE7407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B38B5F-C156-47C1-9E65-148CB1D7F20B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FC78FF-B4DC-4349-A2EE-17FD9B2019A3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23EA96-E10F-4872-AA7C-EF6B15ADA2AC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528E3F-DB92-4705-B5AD-C333609D35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468402-65C9-4C06-9D37-CC49A062D9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988087B7-B62E-414A-876E-1D79C0F0F11F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5C4CD061-B5D6-4B99-A965-1C97CCDECEA9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010B07-5E10-46A2-8A08-A6360AF6DB97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4D3E99-3984-4A78-8461-F62FC0CA6CE8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A94626C-F214-435C-B969-C84AC2C14362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31A8E66-D981-4DC1-877A-D4892EB1D514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1201D44-01D4-420D-B906-CDC39523EF29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15D0784-1C67-498D-92E7-D26C29D2CB84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83023B-25DB-4D65-8471-86A7ED579A27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0723A79-6F98-4576-A22B-7524145AA1F9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D62BCF-BAED-4E7E-A131-E33C644CD935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58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E7DD84E-82E4-4DBE-B4FE-D9701AC6358B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F8AA31C-90ED-4CB1-8B20-7C25BC04D3F3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0D6F91-D230-432B-B7AC-B28D9F84A0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111493D-7008-4D51-95F3-EB451B2945CF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A9D477F-185E-490F-93AE-8D14789C8FA5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B68BD16-D65D-46FB-B969-C8F258144CC6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Day 1 mini-project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B696C22-7842-4953-B34A-258A6BF19B8F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A771A07-7F61-4B49-B98F-93DECDE8116F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1E8C2EC-5070-4C34-9D0F-3CCFE5DBF7FC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B3F069D-D876-4790-A124-488F415338A9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ABD9377-04D2-405D-8CBD-9556BCC30E94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81B0C62-410F-4F6E-B822-15CEBBB2B44A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Build a multi-mode embedded system with visible feedback.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E6D4C57-8379-460F-8400-B915B5BD5F7C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8B8907D-0B3C-439A-8CF8-C6FB154BE195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Input task detects mode change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Queue sends selected mode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Display task updates LCD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Semaphore triggers alert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C6B2D8C-5F69-4821-A0AF-E83D0BE34677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9B1971F-E6A3-4911-B802-CBED62E07A2E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Standby, monitor, and alert modes work.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E8B0694-21F9-4077-A49F-78A72F96DE6A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82456E0-9BBC-4785-AF40-53A16FF14509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Add a fourth mode without rewriting every task.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16AAE02-6BFF-48F0-AE44-D9F5F4D23905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5EDC8886-55CE-4A91-B500-82CF532236B0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083E0FF-2B0A-4EF6-A867-822CC7900D94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LCD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Buttons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LEDs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Buzzer</a:t>
            </a:r>
          </a:p>
        </p:txBody>
      </p:sp>
    </p:spTree>
    <p:extLst>
      <p:ext uri="{BB962C8B-B14F-4D97-AF65-F5344CB8AC3E}">
        <p14:creationId xmlns:p14="http://schemas.microsoft.com/office/powerpoint/2010/main" val="14581103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AC368CF5-AC61-4B94-A22C-B032F5C5BACB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B8CDDB-88B9-4F71-9EC7-1342CD5E850F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523D96-A3E4-4D27-8940-B7212F624F57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AAC86B-5F9F-414A-A001-A75123A0CCB6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F05824-E709-4442-B9BB-4CE89B449955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012358-FC38-426D-B5C7-96FB5E134459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3FD707-F79D-45E8-AB2A-E421019DA38B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CAB81B-3DA9-42D8-9654-48E7AE8B6F79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18CE2F-ECD7-419B-95C3-9F33559C9EC4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836E89-E200-4200-BDA9-688D9F53F3DE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C9D4C1-EF7A-4D6A-9F34-368A5A1FDB3A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9B906B-E856-4940-9D12-3DAA398E41FD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9FB5B8-2B0C-477E-B095-B90800F9BBF9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EBEEC-52F6-463A-AA7C-7530131D3983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D3DA5-5884-443E-9BFC-7B7E40E26EC3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5A478D-2D3D-4B52-A56C-9AC920A5EE27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54A8C7-8F77-4892-8F02-CB9EF7A7E53F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E023D9-3AF9-42EE-A276-B2664A1A3A20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F75C6D-AFE9-4ACC-8E62-13B625A11C36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035F97-1BB7-41BB-838F-A74796675858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EE8F58-26DD-4ABD-9E5D-3B7705876A0F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8626B9-B8A9-4713-B7D3-5D3CA8932C25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24C5BF-1280-492C-8DDD-F9901935B1BC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1FAA4C-A580-417B-91EB-1A8F6A2C3F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94B808-F690-4E37-A65E-838A39854F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475467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574E38E1-DED9-4429-8341-8072DCCA99BC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343E517B-0864-46A2-BC50-CB7A3E5F2977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A59A52-28DC-4B96-8098-FE1138B717B0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BF057D-3D97-4B7B-8D1E-65D65BA31DCC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9BAA30D-C66E-4434-9D73-D2B85B5B32F2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CBB0478-6D4D-4F28-B0A2-B85D316E3B23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762904E-9162-4BEC-8817-7F2462CE767A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85539CF-D927-438C-8DED-74732A168150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475467"/>
          </a:solidFill>
          <a:ln w="11430">
            <a:solidFill>
              <a:srgbClr val="475467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00AA8E0-ECE4-497C-A995-8BFB75B117A2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DAY 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90C9F7B-4670-4FD2-ABAB-BB7DCD33D5E0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BDA667F-5925-43B2-8C3F-82A712B90A77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59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8E3945A-5AD7-403C-B0D7-127DA7198709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4754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D0FEB5C-745B-4A2F-92E4-38999D7B8643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4754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7D741E3-FCDB-4F58-A8F6-C59EAF8F7F5C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By the end of Day 1, the loop has become a team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1F5A16A-C1CC-4618-B166-40706E9579AF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475467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DE0097C-0609-42FA-B20F-9E4E25A8DD9A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D94165E-7BDC-42CF-92F9-C7C6AC348471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C587F7-E8E6-49D5-9D84-17016DA14EDE}"/>
              </a:ext>
            </a:extLst>
          </p:cNvPr>
          <p:cNvSpPr>
            <a:spLocks noGrp="1"/>
          </p:cNvSpPr>
          <p:nvPr/>
        </p:nvSpPr>
        <p:spPr>
          <a:xfrm>
            <a:off x="11049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1E8F128-7803-46D0-98DE-3AAF07DC6EE3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Jobs are named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577099D-56D7-4823-B311-770C82395F90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BD2D708-2EF7-4428-ADF7-0EB53D20FA91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4870188-F55C-4366-B961-283EA773C4BB}"/>
              </a:ext>
            </a:extLst>
          </p:cNvPr>
          <p:cNvSpPr>
            <a:spLocks noGrp="1"/>
          </p:cNvSpPr>
          <p:nvPr/>
        </p:nvSpPr>
        <p:spPr>
          <a:xfrm>
            <a:off x="38481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844A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1AE817D-AC33-4C2C-BBFD-4DC0B3341CED}"/>
              </a:ext>
            </a:extLst>
          </p:cNvPr>
          <p:cNvSpPr>
            <a:spLocks noGrp="1"/>
          </p:cNvSpPr>
          <p:nvPr/>
        </p:nvSpPr>
        <p:spPr>
          <a:xfrm>
            <a:off x="38481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CPU time is shared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89FC45A-1B24-423E-B023-1CD80F814CCB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6888BBC-4A47-46DA-94DE-1BA927913C60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C9FB2B3-B22C-400B-9312-E06A32250D68}"/>
              </a:ext>
            </a:extLst>
          </p:cNvPr>
          <p:cNvSpPr>
            <a:spLocks noGrp="1"/>
          </p:cNvSpPr>
          <p:nvPr/>
        </p:nvSpPr>
        <p:spPr>
          <a:xfrm>
            <a:off x="65913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Queues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B2476CC-0AB7-41D5-A826-030D627F3019}"/>
              </a:ext>
            </a:extLst>
          </p:cNvPr>
          <p:cNvSpPr>
            <a:spLocks noGrp="1"/>
          </p:cNvSpPr>
          <p:nvPr/>
        </p:nvSpPr>
        <p:spPr>
          <a:xfrm>
            <a:off x="65913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Data moves safely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B4A9907-D534-4735-B692-CB68D5A8BC32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BBCD1DE-5484-415E-A44D-80BA8C41F20C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A62EFB0-862B-408E-BEE9-93B737DC556A}"/>
              </a:ext>
            </a:extLst>
          </p:cNvPr>
          <p:cNvSpPr>
            <a:spLocks noGrp="1"/>
          </p:cNvSpPr>
          <p:nvPr/>
        </p:nvSpPr>
        <p:spPr>
          <a:xfrm>
            <a:off x="93345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Semaphores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8D37AF7-B8A2-422A-B2AF-DEAAEA691F42}"/>
              </a:ext>
            </a:extLst>
          </p:cNvPr>
          <p:cNvSpPr>
            <a:spLocks noGrp="1"/>
          </p:cNvSpPr>
          <p:nvPr/>
        </p:nvSpPr>
        <p:spPr>
          <a:xfrm>
            <a:off x="93345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Events wake tasks</a:t>
            </a:r>
          </a:p>
        </p:txBody>
      </p:sp>
    </p:spTree>
    <p:extLst>
      <p:ext uri="{BB962C8B-B14F-4D97-AF65-F5344CB8AC3E}">
        <p14:creationId xmlns:p14="http://schemas.microsoft.com/office/powerpoint/2010/main" val="11785507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336225A5-AE6C-485B-BEE8-D0259DCEDD4A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4BF72-4F2C-4D1B-BE3C-FDFB2E3D502C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891881-FC27-4A89-B8D1-929908BE8FF1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2D1CF1-C00B-43B0-B9C0-15F836CC2767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C53C1D-6A8F-44AC-B462-9E6ADFA3957D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1B667-87D4-46BE-B93E-F46B193DE780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B46E87-2A30-4F83-9688-E86D5185C09B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6A0CA2-6683-43D0-97DA-689B80E4D997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F4D927-FE9C-41B0-B57E-46E08709568F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6972DB-F013-4193-9340-ED31123D98C7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4A30CA-CB4D-4235-AF14-EB65EE0FA727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82B154-01BA-4240-A1FB-76F28FCEF9A0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6DDA9-98A2-492C-88E6-86D226B179FC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0FC97D-B036-4F97-BB5B-23B07FC63EDA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78844F-DFBB-4863-BE50-1643158D5464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6C8F3F-492F-48EB-BD7A-90728896E740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1A5FFC-6CD4-4766-A2CA-2487297EA09C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D98475-4787-4327-B20A-EEBD9F05E82B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692D1E-2B1A-491E-AE58-13082DF549DC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3D9A84-B8AC-4258-8487-790ABAFDB287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83DE4D-8871-4FB6-8738-94CE644786A6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98C2E0-ED00-4DF6-8BE5-45D5886F75CA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8A847A-31B1-4CCE-941E-8B076AC26847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B2387C-13BF-4EE1-B580-58B9CA8544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5A0D9E-E08F-4C9C-BB38-5AC6BF9266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CD34F653-8CD7-469E-BF68-1301CD54951E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4840BA7A-3161-4D5A-A020-D2FF6BE1DE56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9137D7-4C41-4B54-A3D4-75D58B2F80B6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B72294-F00B-40CD-A383-10C5E4B56924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C62AE34-EFC2-4B6D-B3AE-A922DCEB7D7B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A486106-6598-426D-B99F-C2D3E2FBF6AE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79B3BAF-250C-4C7B-BCBF-FDAE3FCECCEF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4205A14-48F2-479A-80CB-684700ECFDFC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DF4317-B50E-4F0A-96AB-A15CE5DFBD4F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DAY 2 / MODULE 07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B2B2EF2-64FB-485F-95EE-E7D518E04225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3A046F-0A79-4C02-988B-4ABDB320203B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60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60B403E-392C-49E6-830D-A577A1BD962E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1C4ED7A-64F5-4DB0-895C-B13F60A1208E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9578DA7-6EFF-4C5E-ADE6-CCD180F52250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0382250" cy="3905250"/>
          </a:xfrm>
          <a:prstGeom prst="roundRect">
            <a:avLst>
              <a:gd name="adj" fmla="val 4390"/>
            </a:avLst>
          </a:prstGeom>
          <a:solidFill>
            <a:srgbClr val="0F1D2E"/>
          </a:solidFill>
          <a:ln w="11430">
            <a:solidFill>
              <a:srgbClr val="0F1D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2FE2C6E-B42E-4B41-97A8-6E4849E15C07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52400" cy="39052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64E92E-CF4A-4ABF-8FC1-028DF0963FA4}"/>
              </a:ext>
            </a:extLst>
          </p:cNvPr>
          <p:cNvSpPr>
            <a:spLocks noGrp="1"/>
          </p:cNvSpPr>
          <p:nvPr/>
        </p:nvSpPr>
        <p:spPr>
          <a:xfrm>
            <a:off x="1257300" y="1543050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6F58EA7-127A-41B4-BB8B-D5B32FD00548}"/>
              </a:ext>
            </a:extLst>
          </p:cNvPr>
          <p:cNvSpPr>
            <a:spLocks noGrp="1"/>
          </p:cNvSpPr>
          <p:nvPr/>
        </p:nvSpPr>
        <p:spPr>
          <a:xfrm>
            <a:off x="1485900" y="1543050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BD1BD38-B501-4E12-8816-8B2B6CF9E5FF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C34805C-884D-42C4-8427-879F09063B2F}"/>
              </a:ext>
            </a:extLst>
          </p:cNvPr>
          <p:cNvSpPr>
            <a:spLocks noGrp="1"/>
          </p:cNvSpPr>
          <p:nvPr/>
        </p:nvSpPr>
        <p:spPr>
          <a:xfrm>
            <a:off x="1257300" y="20383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rPr>
              <a:t>DAY 2 / MODULE 07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BAD3319-4374-48F3-863E-8D9871C1CE58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809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Software Timers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E1BC15E-E606-4C62-B21D-05C038FF9DAC}"/>
              </a:ext>
            </a:extLst>
          </p:cNvPr>
          <p:cNvSpPr>
            <a:spLocks noGrp="1"/>
          </p:cNvSpPr>
          <p:nvPr/>
        </p:nvSpPr>
        <p:spPr>
          <a:xfrm>
            <a:off x="1257300" y="38481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// timed callbacks without extra task clutter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9F6C704-DA50-4D5F-98A3-587A15B539B2}"/>
              </a:ext>
            </a:extLst>
          </p:cNvPr>
          <p:cNvSpPr>
            <a:spLocks noGrp="1"/>
          </p:cNvSpPr>
          <p:nvPr/>
        </p:nvSpPr>
        <p:spPr>
          <a:xfrm>
            <a:off x="8953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NEXT_MODULE</a:t>
            </a:r>
          </a:p>
        </p:txBody>
      </p:sp>
    </p:spTree>
    <p:extLst>
      <p:ext uri="{BB962C8B-B14F-4D97-AF65-F5344CB8AC3E}">
        <p14:creationId xmlns:p14="http://schemas.microsoft.com/office/powerpoint/2010/main" val="2613038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4FE969A-849D-43D6-8AC0-78E0F7158401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2D2247-79F2-4249-B4C3-B8FDFB566186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E209C9-78C1-455C-8387-B5F6D8949D07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226A64-2E62-407F-AB6B-CF386F01CD03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8E3AA8-A7E3-413D-B583-5FEF82B1D300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305F44-39F2-47D8-A5D0-8518626D168A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FB3E0B-3464-4D3A-B508-757BFBA82303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CE094B-357C-4C5C-8E62-D957BD8927BD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D1F3A2-4FAD-4D80-A9CA-0B97363A607F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2BB3E8-716F-43B8-A18F-A8A1B82673C8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B0849B-2DC6-4FC8-B27E-57503B8C388F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EE76F4-B1BC-4A8B-A8F5-D674A8FB6283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DF7321-6177-4EE0-BD28-21569C524CE1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E314F-D087-4844-BE5C-6B96046EF9C9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4A06F0-F5CE-4168-9F1A-1D77E7B151F2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DD9D20-2E39-47FE-AD67-4CDE266BCECA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CD2693-5CE6-40FA-81DC-1FA308F49588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30DEA5-3F66-435A-8399-EA775E195D04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CF17EF-10A0-45C1-8DA8-DDB415F05AE7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A027EB-BC08-48CB-B21E-FF2B5A667CE9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88610E-8B57-4FC5-B174-695A4AA851CE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3FC430-002B-426A-9E8A-2A0E486F2F66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5E489C-2644-4C66-BC9C-CE18E154BB6A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B20535-1908-4664-8344-B6A953ADF4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303642-9F95-4486-87A2-E2CBD1CA07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E2A84F1-0D2E-4041-BA32-3A6967A1BDD1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4CA0FD0D-8B06-4E98-AC37-165EBC8AF2D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EAD642-2150-4FB8-9624-005D204CBBE9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13297F-6534-4E51-9778-F3C099280896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22A9375-F797-4D1A-B001-8237D06BA43A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BD8E712-D007-46DC-921B-FF2C85EFA05C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57EE441-B497-479E-8D2A-CCFDB417BC3A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DE65C08-B517-4698-AC25-0AADA990176D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08F2BBB-0C0D-462B-A9D7-E3FA807624A0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5C918CA-01CA-4FD4-8E68-B2582E7E2A78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9C6B9D-3917-4EB7-AEFE-D25340916CED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61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81FCD3B-C650-4EC0-BB25-0F9CB954D862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69D6966-2D89-4CD4-B0A9-D5113039EF8B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D1FCB5-7A51-484E-A702-5CB0F385F78E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 software timer runs a callback later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FA70E37-9C2E-4C8D-A719-EE9B451C7C00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5EE04B6-5F5D-464F-B1D2-6F3E57FA7065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95E2057-F6AC-48E8-BDCE-EBD02E5EF040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F17BEF0-4926-41DB-BD37-0591B079DD01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87A474B-25C6-4D46-BD96-FABD3EACCE13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36C8400-ACD3-4202-BBB0-74A9EB1E088A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39EF44E-DE18-428E-83FE-2747AB10266F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A5890A4-AA60-4BB8-A7A8-B2E7E70E454E}"/>
              </a:ext>
            </a:extLst>
          </p:cNvPr>
          <p:cNvSpPr>
            <a:spLocks noGrp="1"/>
          </p:cNvSpPr>
          <p:nvPr/>
        </p:nvSpPr>
        <p:spPr>
          <a:xfrm>
            <a:off x="29908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B235910-AD04-4D34-B9AA-98283D85FC69}"/>
              </a:ext>
            </a:extLst>
          </p:cNvPr>
          <p:cNvSpPr>
            <a:spLocks noGrp="1"/>
          </p:cNvSpPr>
          <p:nvPr/>
        </p:nvSpPr>
        <p:spPr>
          <a:xfrm>
            <a:off x="29908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Start</a:t>
            </a:r>
          </a:p>
        </p:txBody>
      </p:sp>
      <p:cxnSp>
        <p:nvCxnSpPr>
          <p:cNvPr id="113" name="Straight Arrow Connector 112"/>
          <p:cNvCxnSpPr>
            <a:stCxn id="41" idx="3"/>
            <a:endCxn id="45" idx="1"/>
          </p:cNvCxnSpPr>
          <p:nvPr/>
        </p:nvCxnSpPr>
        <p:spPr>
          <a:xfrm>
            <a:off x="24955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5D0A33C-B633-4064-B76B-F3BB4E4A2A90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95D1F2A-84EE-424C-A77F-948AF56B22D4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DE8E4D5-7A28-4884-88EA-A52DA1D6B413}"/>
              </a:ext>
            </a:extLst>
          </p:cNvPr>
          <p:cNvSpPr>
            <a:spLocks noGrp="1"/>
          </p:cNvSpPr>
          <p:nvPr/>
        </p:nvSpPr>
        <p:spPr>
          <a:xfrm>
            <a:off x="49720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AF04ABA-5420-4BC9-A745-4D45907CDF07}"/>
              </a:ext>
            </a:extLst>
          </p:cNvPr>
          <p:cNvSpPr>
            <a:spLocks noGrp="1"/>
          </p:cNvSpPr>
          <p:nvPr/>
        </p:nvSpPr>
        <p:spPr>
          <a:xfrm>
            <a:off x="49720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Expire</a:t>
            </a:r>
          </a:p>
        </p:txBody>
      </p:sp>
      <p:cxnSp>
        <p:nvCxnSpPr>
          <p:cNvPr id="118" name="Straight Arrow Connector 117"/>
          <p:cNvCxnSpPr>
            <a:stCxn id="45" idx="3"/>
            <a:endCxn id="50" idx="1"/>
          </p:cNvCxnSpPr>
          <p:nvPr/>
        </p:nvCxnSpPr>
        <p:spPr>
          <a:xfrm>
            <a:off x="44767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3A2971E-DD5D-4050-9049-0EF1F03D4FD6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21B3B8C-05ED-47AD-8A02-D53499B8D62A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D567055-7464-4DBD-AFF5-198B87F495DB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F654F8E-8810-41C4-82B7-76EE4CECE18E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Callback</a:t>
            </a:r>
          </a:p>
        </p:txBody>
      </p:sp>
      <p:cxnSp>
        <p:nvCxnSpPr>
          <p:cNvPr id="123" name="Straight Arrow Connector 122"/>
          <p:cNvCxnSpPr>
            <a:stCxn id="50" idx="3"/>
            <a:endCxn id="55" idx="1"/>
          </p:cNvCxnSpPr>
          <p:nvPr/>
        </p:nvCxnSpPr>
        <p:spPr>
          <a:xfrm>
            <a:off x="64579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166F1D11-7349-4B00-93F9-53C256B2DC85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4754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7301F3D-FE2E-4A6A-9072-2C27871A59AB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66675"/>
          </a:xfrm>
          <a:prstGeom prst="rect">
            <a:avLst/>
          </a:prstGeom>
          <a:solidFill>
            <a:srgbClr val="475467"/>
          </a:solidFill>
          <a:ln w="0">
            <a:noFill/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763F160-815B-4FD6-A852-872C94E6AF7D}"/>
              </a:ext>
            </a:extLst>
          </p:cNvPr>
          <p:cNvSpPr>
            <a:spLocks noGrp="1"/>
          </p:cNvSpPr>
          <p:nvPr/>
        </p:nvSpPr>
        <p:spPr>
          <a:xfrm>
            <a:off x="89344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5445B87-3F8A-4CAC-BD76-A52325C87F21}"/>
              </a:ext>
            </a:extLst>
          </p:cNvPr>
          <p:cNvSpPr>
            <a:spLocks noGrp="1"/>
          </p:cNvSpPr>
          <p:nvPr/>
        </p:nvSpPr>
        <p:spPr>
          <a:xfrm>
            <a:off x="89344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Repeat</a:t>
            </a:r>
          </a:p>
        </p:txBody>
      </p:sp>
      <p:cxnSp>
        <p:nvCxnSpPr>
          <p:cNvPr id="128" name="Straight Arrow Connector 127"/>
          <p:cNvCxnSpPr>
            <a:stCxn id="55" idx="3"/>
            <a:endCxn id="60" idx="1"/>
          </p:cNvCxnSpPr>
          <p:nvPr/>
        </p:nvCxnSpPr>
        <p:spPr>
          <a:xfrm>
            <a:off x="84391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5655969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58D6C31B-898E-4A4B-8ADA-B1332BDC07A4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DD9066-1F3C-49B9-ACEF-73CF05728C38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943EA9-22EC-4545-828F-28E08F91A466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909091-3C87-4625-9038-339BE9834ED5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32441A-B90E-42A0-B82D-E2F9A887A89C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B2C0BE-79B2-4B54-A5B0-7C4006A8A631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04F84D-06AF-4A1A-BACD-FEF5BFDCC5EC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270E72-C0C5-4BFF-9382-7FECB6785B81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1A3A2F-ACF5-481D-B6D4-2B113330351F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1C0EFA-50C5-4219-B30C-B0FC50A56FDA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0F8CF9-7BBF-4CCF-AF95-6F98C815FE0C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09054C-89AA-4FE8-BB58-7BFF0C0EEF8D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0746D-4C04-4D34-8215-85FFDF60AD78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6CBB9D-B2F5-4C23-8467-D7042AD422E6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7FEC89-6802-467D-9327-E58331E246C9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BCF985-0847-46C8-917C-FE0611519FF0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C9257-0179-4157-B66F-EA84EBBA357A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EC5C8A-083C-43AB-9FFD-9F4947D16BE1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AC1D62-3FD1-4F1C-985B-D1FA96CE200D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5AC33E-76D9-42C5-A42A-D11137F900A7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7B51DF-0EFA-4324-8EA1-62786E6CD552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1427B9-0FDB-42E6-91F2-7C0C78BDE014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8994AF-F87F-4F46-BD60-37FB76EAA241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317549-8811-4B5B-969D-F1ABEABDC0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DE4665-93E9-4E8A-986E-6353D3BDD1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684B86B2-4D80-49E0-8DE9-C05F4B6E0418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026E5FDC-304B-4C67-B329-2382597ECD34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E06B75-D631-40E6-BB80-BB58286AB4F5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EB5F89-13FC-4946-9D76-4B1ABF1B72F6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18E4EAD-D7DF-4AB5-83B5-2731DABB91CB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FF1520-7484-49A3-BF2B-19493AAE327D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2EFF28B-9090-47D7-A679-23712A0B7390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A75112F-5B21-462C-86D7-6839DABB6485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0D5C55-4370-4D37-BC55-52D747C99749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D77A0C9-E775-445A-93C5-827B3023A726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6637E1B-7AE3-4361-BD10-2F4530A4D7E4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62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A85149A-635D-4E54-969D-C435180F039F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AF3BBA8-4C78-4C66-BEA6-17FF78AEB0B3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FB89F09-70DA-4DD7-954D-FCAB41D17001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Timer callbacks run inside the timer service task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A1842FB-0EA3-4979-922D-B9DC27C3732C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05F9CFD-C49B-48E6-BBE8-E1E48782352C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FB4EC5C-25A9-41BF-B9EA-B073CF00EC85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47A3D8A-4F74-44A1-A694-CBC5C6DD7B4D}"/>
              </a:ext>
            </a:extLst>
          </p:cNvPr>
          <p:cNvSpPr>
            <a:spLocks noGrp="1"/>
          </p:cNvSpPr>
          <p:nvPr/>
        </p:nvSpPr>
        <p:spPr>
          <a:xfrm>
            <a:off x="11049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Callback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35D7199-DEE9-4445-BD5D-D01FF2A2097F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Keep it short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325BB31-D287-4199-ACE5-DF062B5950C4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8C7D603-AF1F-4751-8854-2E31FD7774F2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EA8D94C-6DD4-4CA7-BCD7-813E076E26D3}"/>
              </a:ext>
            </a:extLst>
          </p:cNvPr>
          <p:cNvSpPr>
            <a:spLocks noGrp="1"/>
          </p:cNvSpPr>
          <p:nvPr/>
        </p:nvSpPr>
        <p:spPr>
          <a:xfrm>
            <a:off x="38481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844A"/>
                </a:solidFill>
                <a:latin typeface="Aptos"/>
                <a:ea typeface="Aptos"/>
                <a:cs typeface="Aptos"/>
              </a:rPr>
              <a:t>No blocking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503E769-0046-48C0-8F06-27A825675C5C}"/>
              </a:ext>
            </a:extLst>
          </p:cNvPr>
          <p:cNvSpPr>
            <a:spLocks noGrp="1"/>
          </p:cNvSpPr>
          <p:nvPr/>
        </p:nvSpPr>
        <p:spPr>
          <a:xfrm>
            <a:off x="38481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Do not wait forever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5D81221-7748-485A-8BD2-7C7D9878864B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E87FDB6-B879-47D4-82A5-3A442F919F8E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62980B4-A447-49E2-BA16-8D850EB6DAA4}"/>
              </a:ext>
            </a:extLst>
          </p:cNvPr>
          <p:cNvSpPr>
            <a:spLocks noGrp="1"/>
          </p:cNvSpPr>
          <p:nvPr/>
        </p:nvSpPr>
        <p:spPr>
          <a:xfrm>
            <a:off x="65913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One-shot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E54BFF5-6C07-4775-A375-88AA430199F7}"/>
              </a:ext>
            </a:extLst>
          </p:cNvPr>
          <p:cNvSpPr>
            <a:spLocks noGrp="1"/>
          </p:cNvSpPr>
          <p:nvPr/>
        </p:nvSpPr>
        <p:spPr>
          <a:xfrm>
            <a:off x="65913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Runs once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2C5B574-C083-4261-A088-FF6A9920DD8B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DDD7580-703E-4B17-B889-A3C530F961EA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50477BF-F62E-450F-9D22-4C417FCABF14}"/>
              </a:ext>
            </a:extLst>
          </p:cNvPr>
          <p:cNvSpPr>
            <a:spLocks noGrp="1"/>
          </p:cNvSpPr>
          <p:nvPr/>
        </p:nvSpPr>
        <p:spPr>
          <a:xfrm>
            <a:off x="93345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Auto-reload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6EE1D8E-6968-4756-87CC-C11923DFFBBA}"/>
              </a:ext>
            </a:extLst>
          </p:cNvPr>
          <p:cNvSpPr>
            <a:spLocks noGrp="1"/>
          </p:cNvSpPr>
          <p:nvPr/>
        </p:nvSpPr>
        <p:spPr>
          <a:xfrm>
            <a:off x="93345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Runs repeatedly</a:t>
            </a:r>
          </a:p>
        </p:txBody>
      </p:sp>
    </p:spTree>
    <p:extLst>
      <p:ext uri="{BB962C8B-B14F-4D97-AF65-F5344CB8AC3E}">
        <p14:creationId xmlns:p14="http://schemas.microsoft.com/office/powerpoint/2010/main" val="3016006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4A099D5B-C97F-4639-A5D7-4539289D1647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60F622-AE1A-41E5-8415-EC8550C36BA2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B3FBD6-7164-46F2-AA59-16C7DCB45B70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F9C5BA-0FCB-4F76-A1AF-1BCA0B7109E2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923625-905A-4A7D-BED1-4E6E55E80B67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F820C9-6C9C-4659-A1C8-6502547A2B7D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9B10B6-0E59-479A-BB7A-8F213CF3DCED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810A25-1CD9-4EE5-B3A8-636C3B7D6425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84868C-2BE5-4FF0-9C8A-049977075998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425515-0969-4B09-9AA0-35657347A04B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6E0929-FEB1-4BE9-9E66-1B50D2E26F1D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8D1BB2-D04F-4628-BBE7-781E5736BBDB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FB477C-FAC0-4B5C-A7B6-69E6E9AAAEB2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46B2EB-D7D1-4F44-9A9C-EFB01C138569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4E7404-18D2-43F4-B2C8-66E025A75C25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776F05-CBF4-4883-BE06-723EB06CA69B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55C84-1500-4D34-99E5-C183CB5C6343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7C4858-99F8-4451-8E97-561B1DE3F927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BC90E-4438-4F19-8728-698CA520F211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025D13-6602-4F3F-9631-DB480E812A51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D23F7E-C55E-4ED3-ADCE-CA504BB25FBB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ADF387-363D-4884-8FC4-538E8986CC70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F9CB27-EA23-4A40-961C-657B44A464A6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BB4147-5723-499F-9E9E-D1F8B2DC44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5DFD4F-FFA8-4C33-8D5B-220A643DD8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66000828-386F-4F7A-A62B-35E4E6E033C4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AAEACA5-7623-42C4-B5E8-CEA30B05BB87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B558A0-D546-43A9-BE18-6DBB44211AE9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E1550D-4659-441F-8023-3F0F81CD3CCB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3B74A03-8DB9-4D1A-8B64-73DC78C0178A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6AC1119-E9A2-45D5-8AC0-F9DEE91423A5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F961004-29FC-4662-9CE8-0C0C901F42F7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46873C7-CF3B-43C7-BC7D-D2BF1869E409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621509-ACE3-4238-83EA-D99CCCB7553C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E849BF8-C76D-4D10-8A4E-C08EDBB7223F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22A54D-64D1-4BD6-9265-A265B14CBDBE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63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DADE31B-185F-4BBE-8052-3D76CC04E641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9E2EA86-CB8C-4592-B34E-CEB9608FDDCB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ABC8E0-7817-4E5D-8FB7-B329EAC624BA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Timers are perfect for periodic small signals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4C1C3B2-DE9C-4F4F-ACA7-319A392A01D1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48819C9-3D36-4FEE-9E29-9FFF841D4F52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6705600" cy="3562350"/>
          </a:xfrm>
          <a:prstGeom prst="roundRect">
            <a:avLst>
              <a:gd name="adj" fmla="val 3209"/>
            </a:avLst>
          </a:prstGeom>
          <a:solidFill>
            <a:srgbClr val="122033"/>
          </a:solidFill>
          <a:ln w="11430">
            <a:solidFill>
              <a:srgbClr val="1220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804B2BC-EACE-49F5-B458-5C289D55CA14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6705600" cy="419100"/>
          </a:xfrm>
          <a:prstGeom prst="rect">
            <a:avLst/>
          </a:prstGeom>
          <a:solidFill>
            <a:srgbClr val="1D2D42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A72E653-0275-44DD-B087-C1F50A2CA1C4}"/>
              </a:ext>
            </a:extLst>
          </p:cNvPr>
          <p:cNvSpPr>
            <a:spLocks noGrp="1"/>
          </p:cNvSpPr>
          <p:nvPr/>
        </p:nvSpPr>
        <p:spPr>
          <a:xfrm>
            <a:off x="1104900" y="225742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183501E-8B82-4F48-B017-5B8D2957038F}"/>
              </a:ext>
            </a:extLst>
          </p:cNvPr>
          <p:cNvSpPr>
            <a:spLocks noGrp="1"/>
          </p:cNvSpPr>
          <p:nvPr/>
        </p:nvSpPr>
        <p:spPr>
          <a:xfrm>
            <a:off x="1333500" y="225742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CE126E1-5719-4D08-851C-41014E8B053E}"/>
              </a:ext>
            </a:extLst>
          </p:cNvPr>
          <p:cNvSpPr>
            <a:spLocks noGrp="1"/>
          </p:cNvSpPr>
          <p:nvPr/>
        </p:nvSpPr>
        <p:spPr>
          <a:xfrm>
            <a:off x="1562100" y="225742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E3C081D-C676-4369-9992-0701DAAA12B1}"/>
              </a:ext>
            </a:extLst>
          </p:cNvPr>
          <p:cNvSpPr>
            <a:spLocks noGrp="1"/>
          </p:cNvSpPr>
          <p:nvPr/>
        </p:nvSpPr>
        <p:spPr>
          <a:xfrm>
            <a:off x="1924050" y="2257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timer_blink.cpp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AC92C17-D35C-486B-BF73-359784A7F9D2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5905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TimerHandle_t t;</a:t>
            </a:r>
          </a:p>
          <a:p>
            <a:endParaRPr sz="1725" b="0">
              <a:solidFill>
                <a:srgbClr val="D1FAE5"/>
              </a:solidFill>
              <a:latin typeface="Cascadia Mono"/>
              <a:ea typeface="Cascadia Mono"/>
              <a:cs typeface="Cascadia Mono"/>
            </a:endParaRP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void blinkCb(TimerHandle_t xTimer) {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  digitalWrite(LED, !digitalRead(LED));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>
            <a:endParaRPr sz="1725" b="0">
              <a:solidFill>
                <a:srgbClr val="D1FAE5"/>
              </a:solidFill>
              <a:latin typeface="Cascadia Mono"/>
              <a:ea typeface="Cascadia Mono"/>
              <a:cs typeface="Cascadia Mono"/>
            </a:endParaRP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t = xTimerCreate("blink", pdMS_TO_TICKS(500),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                 pdTRUE, NULL, blinkCb);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xTimerStart(t, 0);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CF9D854-D852-4C59-A354-79C85FEC30D9}"/>
              </a:ext>
            </a:extLst>
          </p:cNvPr>
          <p:cNvSpPr>
            <a:spLocks noGrp="1"/>
          </p:cNvSpPr>
          <p:nvPr/>
        </p:nvSpPr>
        <p:spPr>
          <a:xfrm>
            <a:off x="7953375" y="2114550"/>
            <a:ext cx="3048000" cy="356235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82663B7-F1FB-4D3F-BADF-571A14BEAF78}"/>
              </a:ext>
            </a:extLst>
          </p:cNvPr>
          <p:cNvSpPr>
            <a:spLocks noGrp="1"/>
          </p:cNvSpPr>
          <p:nvPr/>
        </p:nvSpPr>
        <p:spPr>
          <a:xfrm>
            <a:off x="7953375" y="2114550"/>
            <a:ext cx="30480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9DD7AB4-E3C9-4A84-80EC-8B90A9FAA34E}"/>
              </a:ext>
            </a:extLst>
          </p:cNvPr>
          <p:cNvSpPr>
            <a:spLocks noGrp="1"/>
          </p:cNvSpPr>
          <p:nvPr/>
        </p:nvSpPr>
        <p:spPr>
          <a:xfrm>
            <a:off x="8248650" y="2571750"/>
            <a:ext cx="23812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Callback toggles LED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Auto-reload repeats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No dedicated blink task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Keep callback tiny</a:t>
            </a:r>
          </a:p>
        </p:txBody>
      </p:sp>
    </p:spTree>
    <p:extLst>
      <p:ext uri="{BB962C8B-B14F-4D97-AF65-F5344CB8AC3E}">
        <p14:creationId xmlns:p14="http://schemas.microsoft.com/office/powerpoint/2010/main" val="19552935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856467FE-D063-4A1D-9DD0-BF4E750C0C6F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3FAAB0-33E6-413E-9F29-0F4FA1099253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D8EB56-8858-4E9E-95AD-919A8D93F353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5A90E5-9DAD-4D8F-8D29-C0F77E8E9C3D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99E397-D206-43E4-8C9B-65B249D3FADA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04A158-61C3-483E-A3D1-DD627032516D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898282-ECED-40D2-9A1C-E8576E3BC923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5E7022-9B70-4D38-9784-13E32DEC174C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3E1B4A-CC73-431B-A438-163FED60B33B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301DCD-3906-40CF-8D14-3D08DD9D55C7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1EF1A7-87E0-4D3E-9AE0-F8E274A47DCB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3C4255-1D0D-44FC-B5CA-71617EC8F969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0F15C8-367E-46D0-A641-9D781D6359A9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D3FBE9-0BCF-46BF-9A17-5C82AF7EB19B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487DE8-6919-4F86-9951-5C1D7FDB015D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13C295-2947-4197-8C4D-439A8F0FF7CE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D95C1C-4A55-453A-BC5B-36965A481FE1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D3670E-8B38-4AF4-A0C1-78F0CDC12D0F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F87F00-2D85-41C3-A8FE-1DD29E68DDFB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BE51ED-CC7B-429E-A218-814C00F188D0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C8E6B9-212A-49CC-9BFB-2FD658424C1F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78FDAC-1E07-4D82-97D6-341B03462A5A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8A7082-4D3D-4A8C-A379-35A5DA3E202E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043E61-F78A-423D-A804-0A97F9F0F0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EA572C-A238-468F-82FA-4F7905F80D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0A367BFF-FDD1-409F-A272-CEB7ED248E1C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3A3EBE29-865D-43A0-A359-E9A8585F400A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50AABB-0D52-44FE-8D8B-C192538A8B66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7B6F38-3D16-44AE-828B-F1CD8EE708ED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7EA5FC3-E573-4896-8F46-5EA75D5DDFD5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8E2B34D-F873-46A9-9C4D-F56F2ED8B60B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A39A54E-2F38-4105-AE95-BA993ED39AA1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94ADCF4-59F2-4FF9-BD6A-7ADB1273EA16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6F6728C-215D-4A25-ACD8-0FAE4F7C265A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029AB9-01DD-4033-905E-BAF443F180F5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C859DA4-AAE2-43C1-8B81-B4F61A9CF4B6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64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CC7CD2F-AE6F-415E-950A-C00F69E61842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EDDA94-3DB4-4378-B92B-E48C83591F83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2664C98-C53A-4C13-A632-6B873FCE89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54D00E-FE32-45A7-9052-5C999ACDDF68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9D57896-0808-471B-A6FD-3E7BE72867A9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E41B098-0A82-4F88-BDBE-C82C9A9B332F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Blink using timers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25532F9-E5F4-4BD9-97DC-AD233C63663F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493B7B8-A004-4B1B-9DFB-FDF28D27876D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FE6A471-F701-4F3C-9DB0-043F3E063F96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A81B098-1CE7-4463-A992-5663E3CD73B5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8E34C6-3CC3-4176-9641-E231F2838676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9E252FA-6C9D-4A4A-B82B-7031FD901F9A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Recreate blink and multiblink with software timers.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6293FAE-83E2-4E2C-804E-F6724FAD51E5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5308123-556F-4FF7-93D7-8B2BA3750D1F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one auto-reload timer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Toggle LED in callback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Add second timer at 200 ms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Compare with task-based blink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1FC4EEC-3170-40F1-8F16-45403DC19555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4667300-D945-4952-A0A0-0C38525F6096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LEDs blink without blink tasks.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10187CD-3A67-4B8F-89AE-F8B8034FF6CD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E5FD76A-4683-4EF8-BF62-34D5600DD2DF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When is a task better than a timer?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72A0136-00D1-473F-ACD9-7D9B0F40AC0F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1FC448F2-F4F4-4820-99A3-E2EE8AF2E0D0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FF425F3-F8D6-48F4-AD80-4926217E24ED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 LEDs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Serial Monitor</a:t>
            </a:r>
          </a:p>
        </p:txBody>
      </p:sp>
    </p:spTree>
    <p:extLst>
      <p:ext uri="{BB962C8B-B14F-4D97-AF65-F5344CB8AC3E}">
        <p14:creationId xmlns:p14="http://schemas.microsoft.com/office/powerpoint/2010/main" val="4046863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E325254C-3728-464F-A400-0B9E5BE706CD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DE759E-506C-4BDF-8C02-88ADAFFA7F47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F0B5C2-39FE-4E79-93C9-0FF33D7F7D2B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0A7EF5-481A-4C9D-98CF-E045FAD95CA2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23C180-46C5-4C4B-8999-2762CBAC0B64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576DD8-702F-41E5-8378-0174F3CC95FC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46A8B-2425-480F-946E-061B5FFC7FF7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1EB975-69BC-4294-A960-4E80429275E4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8B3483-EFDA-4389-9CBB-E7A66A9552B9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22675-6901-43E7-83EC-8107EDB3C8EE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42874C-65C5-46EA-8715-B8A0DEFF2909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BCA427-F2C9-4FBC-A52F-99B76E363CC6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52EEA5-37ED-4452-A1A7-CCFB27A2E951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EB9B42-9C95-4C69-92EC-479796B964F6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B45289-C638-4E48-B777-7681DC060E12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A7FB7F-E6B5-4FC1-976E-F4DA02AFFBD5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1202D9-8340-4112-9EF4-B8A7968F602F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40B770-21FE-47E1-9134-7B6D6D40C2C5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E08510-2930-4361-862F-10D2FAE62906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BE6B01-36BE-4900-A59F-BDD499285043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504EBB-A43D-4902-92C2-893520DB419E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BC75FC-D44B-40FA-89D0-C64EBD678E0C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AAB4E3-051B-40C2-8810-7950761F676F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0E13ED-0D25-4100-BD01-9078402642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74AD65-BC1C-48FB-8DD6-9701BBFD75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FC57C275-A5F1-4FB8-B480-BF5F748E9D3C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56F7478E-4BC4-430B-922A-AEEDC9F621FC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9D3DC2-831A-444B-A948-010119A96F6C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E0F344-BBE8-4674-81A5-E53781BD5470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EA97F9F-9E91-4DE4-8DBF-503D874616ED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6906FF7-849C-457D-AC18-4188A7820EEA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104445C-EE2C-44BC-B887-7C14DC88849E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0F6EB33-C7FA-4923-9661-8D6D5CD66CE8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 w="11430">
            <a:solidFill>
              <a:srgbClr val="E11D4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0CC965-6EEC-4C2E-B679-E52904ED50A0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DAY 2 / MODULE 08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191C17-2277-4B44-8F69-A4F02E4BD216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2DFA223-31A9-4BB4-9C5A-F4BB29087430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65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2DC84CF-04D7-4B42-A42C-BD36441D805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3FF2E08-977E-4815-9BB5-44A14DD2ECDA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AC89A13-52D3-47D4-AB83-647DDD62A424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0382250" cy="3905250"/>
          </a:xfrm>
          <a:prstGeom prst="roundRect">
            <a:avLst>
              <a:gd name="adj" fmla="val 4390"/>
            </a:avLst>
          </a:prstGeom>
          <a:solidFill>
            <a:srgbClr val="0F1D2E"/>
          </a:solidFill>
          <a:ln w="11430">
            <a:solidFill>
              <a:srgbClr val="0F1D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15AF81A-9462-4570-BE77-2BDA365C815B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52400" cy="390525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26F5055-45CF-4A71-BF1A-9625189602E9}"/>
              </a:ext>
            </a:extLst>
          </p:cNvPr>
          <p:cNvSpPr>
            <a:spLocks noGrp="1"/>
          </p:cNvSpPr>
          <p:nvPr/>
        </p:nvSpPr>
        <p:spPr>
          <a:xfrm>
            <a:off x="1257300" y="1543050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B116A5F-F57F-4FA7-B38B-8116EAD70381}"/>
              </a:ext>
            </a:extLst>
          </p:cNvPr>
          <p:cNvSpPr>
            <a:spLocks noGrp="1"/>
          </p:cNvSpPr>
          <p:nvPr/>
        </p:nvSpPr>
        <p:spPr>
          <a:xfrm>
            <a:off x="1485900" y="1543050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9F76BD5-F8F0-4F8F-8F7A-975310000BD7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C9FE592-D17D-4094-8231-471942EF6A23}"/>
              </a:ext>
            </a:extLst>
          </p:cNvPr>
          <p:cNvSpPr>
            <a:spLocks noGrp="1"/>
          </p:cNvSpPr>
          <p:nvPr/>
        </p:nvSpPr>
        <p:spPr>
          <a:xfrm>
            <a:off x="1257300" y="20383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rPr>
              <a:t>DAY 2 / MODULE 08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E0C061E-F1FF-463B-942D-3E06E5FBC8E8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809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Mutex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03F6CC-3CD5-4627-8A16-C3D0624B9AE8}"/>
              </a:ext>
            </a:extLst>
          </p:cNvPr>
          <p:cNvSpPr>
            <a:spLocks noGrp="1"/>
          </p:cNvSpPr>
          <p:nvPr/>
        </p:nvSpPr>
        <p:spPr>
          <a:xfrm>
            <a:off x="1257300" y="38481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// shared hardware needs ownership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19B1D6-7EAD-4A53-8A02-78C6283B010E}"/>
              </a:ext>
            </a:extLst>
          </p:cNvPr>
          <p:cNvSpPr>
            <a:spLocks noGrp="1"/>
          </p:cNvSpPr>
          <p:nvPr/>
        </p:nvSpPr>
        <p:spPr>
          <a:xfrm>
            <a:off x="8953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NEXT_MODULE</a:t>
            </a:r>
          </a:p>
        </p:txBody>
      </p:sp>
    </p:spTree>
    <p:extLst>
      <p:ext uri="{BB962C8B-B14F-4D97-AF65-F5344CB8AC3E}">
        <p14:creationId xmlns:p14="http://schemas.microsoft.com/office/powerpoint/2010/main" val="3534049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8FDF5BC1-1C35-4ED4-88BF-F82E43259FFF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25193F-42E1-4689-B171-F45017C48753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CE14BF-30A6-439F-981F-3AF39120750A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AEF01B-0CD1-459E-9B1A-53F63A100D0F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4BF795-85E6-4084-B530-48AFCFCFB754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FE778D-CA3D-4798-A207-1FD1F7B1B73A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0A1EFA-2F31-4A76-818C-0932B2F44AAF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ABE516-70C4-4AD7-A910-CA4B09A13767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7EA516-13F0-45E8-9D8C-6B85762F358D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75CC65-C979-433B-8358-28E347C56068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C3BDEA-B80D-47E7-8451-066E4813424A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834817-32D4-42B8-8600-429867766BA4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02CA38-43E0-412B-BF71-F25DC0CBE378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AFF74D-5144-4D9C-ABA6-41FBAAE2FE5F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15E97F-E1C9-4BEC-9887-F3C2F0D5E764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62B614-D1DD-4CC4-889D-9FFA7A88C4C2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4A9D5A-3469-44DF-B664-CD24A5114C64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7CB90C-9F49-43E4-96BA-2FE3E3E537DB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E47E01-2AD3-4A06-85CF-67EBF2AF8BEB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18E504-9E42-4879-97D1-4D0C437BB24B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9E6C34-C93D-4B86-A766-FECD9AC14F51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DF57B2-C622-4641-BA1B-5B9E6D6CE37E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EEF6B5-BAC1-4B00-AA9D-FC4316E3EFC1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75F546-6FA4-4C3C-88C5-B805ACB045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A66A95-7273-4416-A86D-26D077BD40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DA97B3D1-63A9-45E2-A09E-FF66588A0C62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B53A1489-8BEB-416C-B517-A66CAD664FE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211FD4-81BF-4E31-954E-321D8FDE556C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A58CF55-6100-4F80-8BDD-D2524EA79C27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5B984F1-3500-4DC7-AEC7-E0DAE69CFEDC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CAB7C4B-85EC-4BB6-ACDD-05EE1548296C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F46889D-7313-4CC5-9244-7E0615F2F632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2C94BF4-30A9-4307-9F3A-BBA86A4F2283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 w="11430">
            <a:solidFill>
              <a:srgbClr val="E11D4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7AF9BB-1D27-4714-A223-F67BA4DC2A36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CE8190E-B3AA-4DF7-A80E-A9E1F7F3021E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C85507-4973-40F3-BBF3-EFF76E2C6054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66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160CEAC-704D-4446-A01F-A2CA81A5F4C5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777B2C3-9EBF-485F-934C-93FF4DCB6F8E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E4E14F7-7EFC-4645-8800-C34BAA9AF4D0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Shared resources fail when everyone writes at once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60FDBA-7DD0-4563-93E3-F5B21407D0C2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89E1690-40FD-4D0E-8FA0-C6DD93BCC8C1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10191750" cy="1790700"/>
          </a:xfrm>
          <a:prstGeom prst="roundRect">
            <a:avLst>
              <a:gd name="adj" fmla="val 7447"/>
            </a:avLst>
          </a:prstGeom>
          <a:solidFill>
            <a:srgbClr val="FFFFFF">
              <a:alpha val="72000"/>
            </a:srgbClr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4813AD33-7CB3-4A30-AE5E-723608FDD5F8}"/>
              </a:ext>
            </a:extLst>
          </p:cNvPr>
          <p:cNvSpPr>
            <a:spLocks noGrp="1"/>
          </p:cNvSpPr>
          <p:nvPr/>
        </p:nvSpPr>
        <p:spPr>
          <a:xfrm>
            <a:off x="1352550" y="3695700"/>
            <a:ext cx="9144000" cy="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E15712B-DE80-4005-BDC1-22589EDE726D}"/>
              </a:ext>
            </a:extLst>
          </p:cNvPr>
          <p:cNvSpPr>
            <a:spLocks noGrp="1"/>
          </p:cNvSpPr>
          <p:nvPr/>
        </p:nvSpPr>
        <p:spPr>
          <a:xfrm>
            <a:off x="1209675" y="3571875"/>
            <a:ext cx="247650" cy="247650"/>
          </a:xfrm>
          <a:prstGeom prst="ellipse">
            <a:avLst/>
          </a:prstGeom>
          <a:solidFill>
            <a:srgbClr val="2563EB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3536884-2622-4867-83D7-05FA50521786}"/>
              </a:ext>
            </a:extLst>
          </p:cNvPr>
          <p:cNvSpPr>
            <a:spLocks noGrp="1"/>
          </p:cNvSpPr>
          <p:nvPr/>
        </p:nvSpPr>
        <p:spPr>
          <a:xfrm>
            <a:off x="57150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Task 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D187B4-5A77-4F12-A349-B7A418E04CED}"/>
              </a:ext>
            </a:extLst>
          </p:cNvPr>
          <p:cNvSpPr>
            <a:spLocks noGrp="1"/>
          </p:cNvSpPr>
          <p:nvPr/>
        </p:nvSpPr>
        <p:spPr>
          <a:xfrm>
            <a:off x="57150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LCD line 1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DD1A0C7-F8B6-4E7E-8269-379A65D586AF}"/>
              </a:ext>
            </a:extLst>
          </p:cNvPr>
          <p:cNvSpPr>
            <a:spLocks noGrp="1"/>
          </p:cNvSpPr>
          <p:nvPr/>
        </p:nvSpPr>
        <p:spPr>
          <a:xfrm>
            <a:off x="4194175" y="3571875"/>
            <a:ext cx="247650" cy="247650"/>
          </a:xfrm>
          <a:prstGeom prst="ellipse">
            <a:avLst/>
          </a:prstGeom>
          <a:solidFill>
            <a:srgbClr val="07844A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38FE402-F747-4F25-A380-1F89ED935630}"/>
              </a:ext>
            </a:extLst>
          </p:cNvPr>
          <p:cNvSpPr>
            <a:spLocks noGrp="1"/>
          </p:cNvSpPr>
          <p:nvPr/>
        </p:nvSpPr>
        <p:spPr>
          <a:xfrm>
            <a:off x="355600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Task 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A3CB0EB-3526-4079-9050-82A0BD13E3E8}"/>
              </a:ext>
            </a:extLst>
          </p:cNvPr>
          <p:cNvSpPr>
            <a:spLocks noGrp="1"/>
          </p:cNvSpPr>
          <p:nvPr/>
        </p:nvSpPr>
        <p:spPr>
          <a:xfrm>
            <a:off x="355600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LCD line 2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2E9F500-DFEA-486D-9B92-9F6095310134}"/>
              </a:ext>
            </a:extLst>
          </p:cNvPr>
          <p:cNvSpPr>
            <a:spLocks noGrp="1"/>
          </p:cNvSpPr>
          <p:nvPr/>
        </p:nvSpPr>
        <p:spPr>
          <a:xfrm>
            <a:off x="7178675" y="3571875"/>
            <a:ext cx="247650" cy="247650"/>
          </a:xfrm>
          <a:prstGeom prst="ellipse">
            <a:avLst/>
          </a:prstGeom>
          <a:solidFill>
            <a:srgbClr val="E11D48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C2E1D36-DFC1-46D1-B3E0-00AAE9D5FAEA}"/>
              </a:ext>
            </a:extLst>
          </p:cNvPr>
          <p:cNvSpPr>
            <a:spLocks noGrp="1"/>
          </p:cNvSpPr>
          <p:nvPr/>
        </p:nvSpPr>
        <p:spPr>
          <a:xfrm>
            <a:off x="654050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Task 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F4479F9-65AE-49BD-9288-4D1C70C3D0F8}"/>
              </a:ext>
            </a:extLst>
          </p:cNvPr>
          <p:cNvSpPr>
            <a:spLocks noGrp="1"/>
          </p:cNvSpPr>
          <p:nvPr/>
        </p:nvSpPr>
        <p:spPr>
          <a:xfrm>
            <a:off x="654050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overwrites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37B2C00-29D2-4EF3-B3C6-30B1D2969A4D}"/>
              </a:ext>
            </a:extLst>
          </p:cNvPr>
          <p:cNvSpPr>
            <a:spLocks noGrp="1"/>
          </p:cNvSpPr>
          <p:nvPr/>
        </p:nvSpPr>
        <p:spPr>
          <a:xfrm>
            <a:off x="10163175" y="3571875"/>
            <a:ext cx="247650" cy="247650"/>
          </a:xfrm>
          <a:prstGeom prst="ellipse">
            <a:avLst/>
          </a:prstGeom>
          <a:solidFill>
            <a:srgbClr val="F97316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7F48521-5E17-4054-862C-E60223193A78}"/>
              </a:ext>
            </a:extLst>
          </p:cNvPr>
          <p:cNvSpPr>
            <a:spLocks noGrp="1"/>
          </p:cNvSpPr>
          <p:nvPr/>
        </p:nvSpPr>
        <p:spPr>
          <a:xfrm>
            <a:off x="952500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Display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D954C03-F429-40C5-AE3D-B15040774CFA}"/>
              </a:ext>
            </a:extLst>
          </p:cNvPr>
          <p:cNvSpPr>
            <a:spLocks noGrp="1"/>
          </p:cNvSpPr>
          <p:nvPr/>
        </p:nvSpPr>
        <p:spPr>
          <a:xfrm>
            <a:off x="952500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garbled</a:t>
            </a:r>
          </a:p>
        </p:txBody>
      </p:sp>
    </p:spTree>
    <p:extLst>
      <p:ext uri="{BB962C8B-B14F-4D97-AF65-F5344CB8AC3E}">
        <p14:creationId xmlns:p14="http://schemas.microsoft.com/office/powerpoint/2010/main" val="32853049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3BD17099-AFD5-4742-99EA-3D003B4BCAE6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3A1FD9-0064-4C9B-9D15-AB90DDDBB56E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A7DC3F-5755-428B-85A0-144122908B9C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293E21-27D5-451B-8F1D-1222F5256220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027F4E-9B15-4C80-8179-0F3AA0A50E74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693B81-D6F4-4FD5-883C-9239ACEED306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4474F0-1B9F-446E-A57F-45915FA3B2EF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0F154D-FD6B-4B64-9000-E0D465136B71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B42EA3-3622-45C2-8CDC-7167019242CF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4DE349-9912-43F8-9B8A-4E51A6827D6F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E549F1-AB86-4ED8-8FB1-20D45B38281C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0DDECF-4851-44D8-A184-C3820D5624E8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10F2B5-9C8E-410D-952F-917CEAD074C2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AF40DA-E0CC-44D1-B62D-66BC2A8F63C4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F68292-A9F9-4002-987F-8B037535FF20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A5C324-F00B-4D25-865C-933957F5AA6D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51095E-DA84-44A2-B2C0-2D1DCF0D13AE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E904CF-F2DD-4212-869F-E34CC659F3C0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1049EA-DD38-4244-AA9D-B131C8174605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F93B8C-5B30-40AD-B32A-746A78E63BA1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210E57-FE91-4893-B2D0-8F5A3E30F626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8F13A9-3CD0-4DB5-BDED-FED43BD5A268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D173DF-808C-4A30-8524-F6D7BFAC2889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2C3BAA-E669-4C9A-862E-1A862306AA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034393-2DED-4064-B60C-E6A4393423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5932228E-2C7B-4922-858A-A1E4E26C7F3D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9E642F80-577E-4591-A10D-7711487E3E8E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C71281-068C-44C9-8D0C-30B40FBCFEBF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B4B8EB-80A9-46DC-9645-4F60EA4E6717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EB48FA1-46C0-45FF-A070-056E3B4F1795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D146DAA-D621-4BA5-A145-E494F146450C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1A99392-B55D-4EC3-9F4E-A1965E36F107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ABF6A86-BDD9-4714-8D3C-182B2617AAD1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3B3D2A-C7C8-4709-9D7A-DF830AC78456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E75BE6-A54D-4B2A-A7D8-891578FB4A22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71AD2B2-7099-40E6-B355-32BE0A692EFB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67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ACE9024-2634-4DBF-8433-4420705E03C2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6CE80C9-6805-45C8-A314-77369DA808A4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51DDFC3-25F5-401C-8789-95B979D584BD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 mutex is the key to a shared device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6C6BCBF-375D-4778-976C-6DC1705C3FCF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0C02CDA-75E3-4913-9365-0E2C9621C4A3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9050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DE0713F-437E-4869-8C4E-B1923B62E1CC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90500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08D56F7-7A42-4785-A196-99115B6CD568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8715BA5-0DD0-4F68-A908-AC0805620F38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Take key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2A0A34A-6904-4451-835D-81DD2D997E30}"/>
              </a:ext>
            </a:extLst>
          </p:cNvPr>
          <p:cNvSpPr>
            <a:spLocks noGrp="1"/>
          </p:cNvSpPr>
          <p:nvPr/>
        </p:nvSpPr>
        <p:spPr>
          <a:xfrm>
            <a:off x="3105150" y="3143250"/>
            <a:ext cx="19050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CAC20BF-3C35-42B8-B70D-3439F3022193}"/>
              </a:ext>
            </a:extLst>
          </p:cNvPr>
          <p:cNvSpPr>
            <a:spLocks noGrp="1"/>
          </p:cNvSpPr>
          <p:nvPr/>
        </p:nvSpPr>
        <p:spPr>
          <a:xfrm>
            <a:off x="3105150" y="3143250"/>
            <a:ext cx="190500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4A01B84-0636-4CB2-B199-BA0CBCF92082}"/>
              </a:ext>
            </a:extLst>
          </p:cNvPr>
          <p:cNvSpPr>
            <a:spLocks noGrp="1"/>
          </p:cNvSpPr>
          <p:nvPr/>
        </p:nvSpPr>
        <p:spPr>
          <a:xfrm>
            <a:off x="32575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48AEC3B-295D-46D4-8CA9-A71BE6196B07}"/>
              </a:ext>
            </a:extLst>
          </p:cNvPr>
          <p:cNvSpPr>
            <a:spLocks noGrp="1"/>
          </p:cNvSpPr>
          <p:nvPr/>
        </p:nvSpPr>
        <p:spPr>
          <a:xfrm>
            <a:off x="3257550" y="36195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LCD</a:t>
            </a:r>
          </a:p>
        </p:txBody>
      </p:sp>
      <p:cxnSp>
        <p:nvCxnSpPr>
          <p:cNvPr id="108" name="Straight Arrow Connector 107"/>
          <p:cNvCxnSpPr>
            <a:stCxn id="41" idx="3"/>
            <a:endCxn id="45" idx="1"/>
          </p:cNvCxnSpPr>
          <p:nvPr/>
        </p:nvCxnSpPr>
        <p:spPr>
          <a:xfrm>
            <a:off x="27622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66216D6-E1CB-4B62-87E3-41839CC96F80}"/>
              </a:ext>
            </a:extLst>
          </p:cNvPr>
          <p:cNvSpPr>
            <a:spLocks noGrp="1"/>
          </p:cNvSpPr>
          <p:nvPr/>
        </p:nvSpPr>
        <p:spPr>
          <a:xfrm>
            <a:off x="5353050" y="3143250"/>
            <a:ext cx="19050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7621EF5-EA3D-4750-85D6-DD5DC9967F3D}"/>
              </a:ext>
            </a:extLst>
          </p:cNvPr>
          <p:cNvSpPr>
            <a:spLocks noGrp="1"/>
          </p:cNvSpPr>
          <p:nvPr/>
        </p:nvSpPr>
        <p:spPr>
          <a:xfrm>
            <a:off x="5353050" y="3143250"/>
            <a:ext cx="190500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6C458D1-C8C2-4F34-B2C0-F034E8E166CE}"/>
              </a:ext>
            </a:extLst>
          </p:cNvPr>
          <p:cNvSpPr>
            <a:spLocks noGrp="1"/>
          </p:cNvSpPr>
          <p:nvPr/>
        </p:nvSpPr>
        <p:spPr>
          <a:xfrm>
            <a:off x="55054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6003554-6DBA-4671-B221-E23FB58BBE5A}"/>
              </a:ext>
            </a:extLst>
          </p:cNvPr>
          <p:cNvSpPr>
            <a:spLocks noGrp="1"/>
          </p:cNvSpPr>
          <p:nvPr/>
        </p:nvSpPr>
        <p:spPr>
          <a:xfrm>
            <a:off x="5505450" y="36195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Release key</a:t>
            </a:r>
          </a:p>
        </p:txBody>
      </p:sp>
      <p:cxnSp>
        <p:nvCxnSpPr>
          <p:cNvPr id="113" name="Straight Arrow Connector 112"/>
          <p:cNvCxnSpPr>
            <a:stCxn id="45" idx="3"/>
            <a:endCxn id="50" idx="1"/>
          </p:cNvCxnSpPr>
          <p:nvPr/>
        </p:nvCxnSpPr>
        <p:spPr>
          <a:xfrm>
            <a:off x="50101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26E9FE7-2E3F-4C87-ADD9-46C92363BF80}"/>
              </a:ext>
            </a:extLst>
          </p:cNvPr>
          <p:cNvSpPr>
            <a:spLocks noGrp="1"/>
          </p:cNvSpPr>
          <p:nvPr/>
        </p:nvSpPr>
        <p:spPr>
          <a:xfrm>
            <a:off x="7600950" y="3143250"/>
            <a:ext cx="19050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6671618-4163-4A70-97F3-231813500222}"/>
              </a:ext>
            </a:extLst>
          </p:cNvPr>
          <p:cNvSpPr>
            <a:spLocks noGrp="1"/>
          </p:cNvSpPr>
          <p:nvPr/>
        </p:nvSpPr>
        <p:spPr>
          <a:xfrm>
            <a:off x="7600950" y="3143250"/>
            <a:ext cx="190500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E8E02B2-AF6E-4A57-A994-0BE66CAAF347}"/>
              </a:ext>
            </a:extLst>
          </p:cNvPr>
          <p:cNvSpPr>
            <a:spLocks noGrp="1"/>
          </p:cNvSpPr>
          <p:nvPr/>
        </p:nvSpPr>
        <p:spPr>
          <a:xfrm>
            <a:off x="77533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68C7FDC-A6BD-4EC5-9671-357305FC194E}"/>
              </a:ext>
            </a:extLst>
          </p:cNvPr>
          <p:cNvSpPr>
            <a:spLocks noGrp="1"/>
          </p:cNvSpPr>
          <p:nvPr/>
        </p:nvSpPr>
        <p:spPr>
          <a:xfrm>
            <a:off x="7753350" y="36195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Next task</a:t>
            </a:r>
          </a:p>
        </p:txBody>
      </p:sp>
      <p:cxnSp>
        <p:nvCxnSpPr>
          <p:cNvPr id="118" name="Straight Arrow Connector 117"/>
          <p:cNvCxnSpPr>
            <a:stCxn id="50" idx="3"/>
            <a:endCxn id="55" idx="1"/>
          </p:cNvCxnSpPr>
          <p:nvPr/>
        </p:nvCxnSpPr>
        <p:spPr>
          <a:xfrm>
            <a:off x="72580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0139321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357CBBF0-C09D-4A82-AE59-067B7E7DC6C6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A2122B-65FF-4A55-8B74-8CE49C4E732D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4AC68-C015-4E78-B35A-F99C18861723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4627B0-D6F1-40F5-B2D2-A4F88FD7E5AE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4530C1-E3B2-41D5-8376-D3F3A49B4144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8A3B9A-715D-4EFE-B00D-BE4879B29512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84FE57-0902-4195-9E62-7EC3F5FC3EB3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8C23CD-507C-48D6-B872-096DBE6A2181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F57DDD-E878-4898-B5D6-FE0FA18C2DCE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5E7D32-A87A-4D9C-AC57-76BA50D879EF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0BDEF1-B4AC-4A5C-A17F-CF4E788037B4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CAE8EA-9B00-44F9-85C4-B673A87117E2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5F60C2-7BE7-40F9-9706-43DC0CC60C48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3C17A3-2458-4E7E-B2E6-3E3A5300EB7A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F577B0-4A41-4707-A0D4-53B250A5D786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82FC78-57DB-49C8-89EA-7F91D8122938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357972-0DB7-44EB-96C5-DB8EBABB69A0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81FD98-28D0-436F-BA85-C76E272DF0DA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389236-DE31-4DCB-92EE-33A4824FF6C4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543040-F02A-44AF-A36C-15679ED3F508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AA1272-0549-4571-9977-0769A453B8CD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B52846-4985-4274-845E-58849C7933C2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9FD336-3923-4EED-A61E-AF70022C80AA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9AD04B-C0DA-45B3-9DF5-9C4E113CD9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6FD5DE-3B04-4057-A6FE-BF7FB6A59D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44EE1E68-1C98-406A-8511-4920DDEC5B22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AB68E430-56DD-41B5-A4E2-B447ED0F7F0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4CB234-A862-4C00-BD01-B421CCB7BC48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A4140C-CA52-474A-906E-869F47B10136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25EE49-C34E-437D-A41A-CFA8D0B3595A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4BAA7F8-22C6-4C3B-AB61-9701C03A9AAD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A614576-BDB9-4A98-A455-76C22A9547D7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239B134-A6BC-4017-98B4-06443D496228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 w="11430">
            <a:solidFill>
              <a:srgbClr val="E11D4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1107DF-5680-4D68-AB1C-C68FDF689729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8179FE-3FA9-468B-8AC3-D3856DB5352C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EEC31F1-C90F-45DB-AF7B-773E8EC3EE3D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68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E61616D-93D2-4A4D-AA20-F690BE9F0CF8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561EBE0-4C01-4238-BA90-191FB3AC207A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CB2E710-6306-471E-B265-B0DDD371CACB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Priority inversion is a scheduling surprise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2809107-C9D1-4999-B2FC-515F73489837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19D0603-A460-4A92-AF85-7DB6BAC19DAE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5ADE0F0-8A67-424D-B316-27A5B775A9F6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D2F900D-8103-407D-B0BB-6F8E83EC408F}"/>
              </a:ext>
            </a:extLst>
          </p:cNvPr>
          <p:cNvSpPr>
            <a:spLocks noGrp="1"/>
          </p:cNvSpPr>
          <p:nvPr/>
        </p:nvSpPr>
        <p:spPr>
          <a:xfrm>
            <a:off x="11049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Low task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E5CDA3A-CC63-4FED-9CC5-D116D9544B4F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Holds the mutex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0E3C02D-13CD-45F1-8F69-80300EA05593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7FF65C3-5F1A-48C9-A90B-48E6D50FACF5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0CE8C0F-FA91-4D7A-8236-98B798499C0F}"/>
              </a:ext>
            </a:extLst>
          </p:cNvPr>
          <p:cNvSpPr>
            <a:spLocks noGrp="1"/>
          </p:cNvSpPr>
          <p:nvPr/>
        </p:nvSpPr>
        <p:spPr>
          <a:xfrm>
            <a:off x="38481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844A"/>
                </a:solidFill>
                <a:latin typeface="Aptos"/>
                <a:ea typeface="Aptos"/>
                <a:cs typeface="Aptos"/>
              </a:rPr>
              <a:t>High task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BD5DD34-6809-4477-BADB-4EE655D793DB}"/>
              </a:ext>
            </a:extLst>
          </p:cNvPr>
          <p:cNvSpPr>
            <a:spLocks noGrp="1"/>
          </p:cNvSpPr>
          <p:nvPr/>
        </p:nvSpPr>
        <p:spPr>
          <a:xfrm>
            <a:off x="38481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Waits for resource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65FAC1-8A57-45D0-8C2D-FAA4CF4A305C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F62CEFB-6063-4FE6-8AAD-51D98BC59B67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9799322-B7BA-40E1-B5C4-F9096613E3B2}"/>
              </a:ext>
            </a:extLst>
          </p:cNvPr>
          <p:cNvSpPr>
            <a:spLocks noGrp="1"/>
          </p:cNvSpPr>
          <p:nvPr/>
        </p:nvSpPr>
        <p:spPr>
          <a:xfrm>
            <a:off x="65913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Medium task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755E1F1-F985-403B-A6D0-513EAE91FEBB}"/>
              </a:ext>
            </a:extLst>
          </p:cNvPr>
          <p:cNvSpPr>
            <a:spLocks noGrp="1"/>
          </p:cNvSpPr>
          <p:nvPr/>
        </p:nvSpPr>
        <p:spPr>
          <a:xfrm>
            <a:off x="65913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Can delay release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1010D3A2-F8A8-45E0-9EDD-20E986C6F212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39C08FB-E076-4203-9B81-DF3C8DB6ACFD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D2A5F8B-7320-4270-BDA5-1E84A1AF0BF2}"/>
              </a:ext>
            </a:extLst>
          </p:cNvPr>
          <p:cNvSpPr>
            <a:spLocks noGrp="1"/>
          </p:cNvSpPr>
          <p:nvPr/>
        </p:nvSpPr>
        <p:spPr>
          <a:xfrm>
            <a:off x="93345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Inheritance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DCBF3C1-63F3-456D-9C32-D31044CCD241}"/>
              </a:ext>
            </a:extLst>
          </p:cNvPr>
          <p:cNvSpPr>
            <a:spLocks noGrp="1"/>
          </p:cNvSpPr>
          <p:nvPr/>
        </p:nvSpPr>
        <p:spPr>
          <a:xfrm>
            <a:off x="93345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FreeRTOS can help</a:t>
            </a:r>
          </a:p>
        </p:txBody>
      </p:sp>
    </p:spTree>
    <p:extLst>
      <p:ext uri="{BB962C8B-B14F-4D97-AF65-F5344CB8AC3E}">
        <p14:creationId xmlns:p14="http://schemas.microsoft.com/office/powerpoint/2010/main" val="3971439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59FA88AF-CE14-4CEB-B5AE-3D29342838E8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7EE84-29D0-4B9E-B9AC-9FC46AD9C683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AF22AE-B34A-450D-9498-5913036C17A1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BB29D2-85C1-415A-821F-E7D32EA19C29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249360-D575-44F9-8233-999591AA40C5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7302C9-2E29-4C4B-B316-14E1B0CB13C1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B081E3-6AC1-42FE-A48C-AA5E1CD24A2D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9A4CD1-75EA-49CC-8EA8-F46A37FB5D47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F77456-7137-4F78-9656-0027FB89346A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66E616-0329-4BCB-B083-52B450DCA4E1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5FEAD8-1C5D-491C-9E7B-B538F79D2A93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FC86E9-E8F4-4F37-8832-E6B704D02ADD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6B10EB-A61A-439F-97CF-BFF23FF646DB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BB8577-AE8E-472B-A81A-6C7411EB382F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778986-6D83-4C01-B42B-01BD1010A51D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47C489-ED34-42CD-BC16-56D23DDE99E3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3D9201-50B9-41BC-A29B-66F55D015234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57A08F-1A7B-4260-9C6A-5195351AE03F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7A555A-B7A1-44E8-B4CB-F4324950E7BC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152B7-FA87-46B5-B8E6-40CB4EE838CD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ECF815-F362-47E6-A995-0786D4C1CC27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7F06A9-5D15-4A67-97DC-C89A6196D445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B17EA6-C0BD-469B-A200-289907E13879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1BA9E5-20EE-4D37-934A-B3E03AE859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C94269-60D0-45CF-9D62-A0EF4030AD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C881BCAB-4F86-42DE-9E8B-45DB50C2D702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F19AB44-62EB-4321-BCD8-332494F65027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226D61-59AA-4518-BA9C-DB4E3A5932AE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FA06C8-708D-4FE7-AABD-F8EB9D3E6DAC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3522ED4-1897-41AF-8239-B7E6192D3C75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C25BD63-CAAA-4A85-BD26-29490CAC2156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FAD930D-D7C5-4E89-9DD8-D75C9ED82CA6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5A92D75-D97B-4535-9479-88DB2FFD2CD1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5CE8A6-C5CF-43C0-BDF0-AC55C22173CF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D55DE76-F3D9-4C36-A1C5-ABE994882396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9954DC-8064-4524-9479-FF79A62584C8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69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89513D9-D6CB-48CB-BF0C-E72A622FDCC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8042082-9F28-4BD5-B50B-C1619C49593F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854D84-A637-4035-BFCD-9F1E4F4450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8792E39-A480-4DFA-B2E9-EBD6CCDE118C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D620A1-77DB-4026-BEB0-7A59AA2FD842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552B3F0-C7F2-482B-82AA-8ABAE9002E52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Protect the LCD with a mutex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FCE8E50-8A7E-4EEF-B5C9-03B1E70E3DAB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39DF3B9-8AD9-4ECE-A181-255751E99C14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B96B28F-A638-43C4-8A28-41F776CB6960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5158439-F897-4D73-8AC5-D581590DC3A4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4DAB900-7B19-4913-96E1-4EA6C2BDC0D2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0AC0E69-FBB7-465A-93D0-E9F7F1081076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Let multiple tasks update the LCD without corrupting output.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65B4BA5-43A8-47FC-B885-B69EC4C95E6E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4B75316-A0FE-47EB-824E-BEE53E1517E6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mutex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Each task takes before LCD write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Release after write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Stress with fast updates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EECF42-6F29-4FC5-BCAE-A55D0960DFCE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061CC41-6A51-489E-93EF-A9F7D8E5B208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LCD updates stay readable.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9402B2B-CA23-4547-A5D2-EC1F6C8A6DAC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17C30DD-DE7C-468C-93FA-AEA4097066ED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happens if a task forgets to give the mutex?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3CF0702-51E9-4F8B-9196-76B576D2E470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7B67763D-AA41-4F8A-A5FD-E10C68DD3250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A451458-F974-4D57-96D3-8AC8297CA6B7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I2C LCD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 tasks</a:t>
            </a:r>
          </a:p>
        </p:txBody>
      </p:sp>
    </p:spTree>
    <p:extLst>
      <p:ext uri="{BB962C8B-B14F-4D97-AF65-F5344CB8AC3E}">
        <p14:creationId xmlns:p14="http://schemas.microsoft.com/office/powerpoint/2010/main" val="18181907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EF39D4CF-D1B1-4AED-8BC7-E8A3ED6CC9B4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1051B9-E31E-4B3D-B19B-D1AC892D84CB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9982A1-B1A7-4B91-8885-FCB05DD177B5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7DACD8-BD88-4632-BFB1-6F9A0FE6A347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FD7285-974E-465B-9450-B8E77053B774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93A9C0-C39B-4CCA-A9CF-DF6F86023613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BCCCE6-9E75-4D4D-AFD3-200665A6DD11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DB2BA9-4D65-4B4E-8934-30F7554EDAE1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5862D3-BA94-47A7-836E-13B39BFD61D5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8DD20B-1D0A-4C8F-8418-FD8405243483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B393AB-93A8-4939-A220-4CF33BF94705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B0F30A-9078-4F54-8F57-A2A6DB88ADF3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85B8DE-4FDA-452A-8695-9761F0FAFEAC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8D843F-CE20-478B-B0D6-12FD2F722EB9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8E97DC-90D0-4DDB-8A17-D93EAFC3C2A9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BAAB94-28D0-4F5E-8C55-7FE9BF95AE26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2968B0-525F-42D6-B828-92B2CF6F1FD5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27D105-CAE1-426E-990C-43BAD72DA3C0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709640-6D9B-450C-B00D-6E8B9C350D98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0677A9-E96E-4C27-938D-B7D92729C6C6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838234-185B-4207-B4C8-D62A2CA6236B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13E8EF-5F19-4447-90A3-AE236038C9EA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5EEA4C-3544-45E6-82EB-8DD7AA2396B4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AB120E-014E-427F-81A5-A9FE68CDDB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804BCB-F5C7-49C7-B59C-85942A9DAA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304B8AEF-BC2E-40AA-803F-DECE1BB523B3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B9909BA2-138D-4F4B-9ABB-EAA9EE04FB11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76E433-0036-402B-B3D8-2E71EC8F8ECE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289BAE-0754-4DD2-9E31-D6073C0EA0D5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88A5197-C857-4022-AA26-E0B9FD357BCD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5D5A039-4001-4B63-9056-FCF4C846E42C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F96C9A7-6A56-4343-ADF2-14A49422B652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7FBC982-4E30-420C-95D3-37A343BBA9B7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2922B7-CB23-4F1D-B081-EE9B12C4F381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DAY 2 / MODULE 09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80B2B8-A2F1-4908-9587-3CF08C8C8D22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579737D-2C07-47F4-B9FC-2C42BED4C103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70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5E151D0-D779-43E8-BAB0-E113210C9042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053309C-4EA0-43F4-95A1-2BB026F031EF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DD57D56-5415-47D6-859F-1B2D61A49458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0382250" cy="3905250"/>
          </a:xfrm>
          <a:prstGeom prst="roundRect">
            <a:avLst>
              <a:gd name="adj" fmla="val 4390"/>
            </a:avLst>
          </a:prstGeom>
          <a:solidFill>
            <a:srgbClr val="0F1D2E"/>
          </a:solidFill>
          <a:ln w="11430">
            <a:solidFill>
              <a:srgbClr val="0F1D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6127CAE-9250-43ED-8922-BDF594F0D53E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52400" cy="39052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2878D93-AF46-4CA3-9C02-BBFCDF4BE7BC}"/>
              </a:ext>
            </a:extLst>
          </p:cNvPr>
          <p:cNvSpPr>
            <a:spLocks noGrp="1"/>
          </p:cNvSpPr>
          <p:nvPr/>
        </p:nvSpPr>
        <p:spPr>
          <a:xfrm>
            <a:off x="1257300" y="1543050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CCC90F0-5D72-4F82-9E8A-FB719798B96B}"/>
              </a:ext>
            </a:extLst>
          </p:cNvPr>
          <p:cNvSpPr>
            <a:spLocks noGrp="1"/>
          </p:cNvSpPr>
          <p:nvPr/>
        </p:nvSpPr>
        <p:spPr>
          <a:xfrm>
            <a:off x="1485900" y="1543050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45A3410-BA1D-4766-887C-7AC1A19925E7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332307B-9627-4719-AFD0-1E4A2931EED7}"/>
              </a:ext>
            </a:extLst>
          </p:cNvPr>
          <p:cNvSpPr>
            <a:spLocks noGrp="1"/>
          </p:cNvSpPr>
          <p:nvPr/>
        </p:nvSpPr>
        <p:spPr>
          <a:xfrm>
            <a:off x="1257300" y="20383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rPr>
              <a:t>DAY 2 / MODULE 09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B1E55A0-B9E5-4735-AD4A-80D359B1DF79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809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Memory Management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7F4BE19-3578-457B-8545-6C36EEAB6D9B}"/>
              </a:ext>
            </a:extLst>
          </p:cNvPr>
          <p:cNvSpPr>
            <a:spLocks noGrp="1"/>
          </p:cNvSpPr>
          <p:nvPr/>
        </p:nvSpPr>
        <p:spPr>
          <a:xfrm>
            <a:off x="1257300" y="38481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// every task needs a stack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2334256-D786-4849-AA6B-771865283785}"/>
              </a:ext>
            </a:extLst>
          </p:cNvPr>
          <p:cNvSpPr>
            <a:spLocks noGrp="1"/>
          </p:cNvSpPr>
          <p:nvPr/>
        </p:nvSpPr>
        <p:spPr>
          <a:xfrm>
            <a:off x="8953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NEXT_MODULE</a:t>
            </a:r>
          </a:p>
        </p:txBody>
      </p:sp>
    </p:spTree>
    <p:extLst>
      <p:ext uri="{BB962C8B-B14F-4D97-AF65-F5344CB8AC3E}">
        <p14:creationId xmlns:p14="http://schemas.microsoft.com/office/powerpoint/2010/main" val="115514610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E7653889-2637-4A2D-A8B1-262ADE155E92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18BB00-DA49-4303-A914-B80B369FB2CB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FCEA81-763E-4B1C-B4A2-9BD42F431717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5FA573-833A-47D6-8C43-5E6979F2DDA5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959395-AD16-4F36-A9C8-074C4EB3F884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3A6C4D-3F84-4374-8E2B-68F95B6DE2DE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B10BE5-0DA7-492D-B817-0CC6A831A385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7A5491-6B38-43E0-A795-C49063FFF2B5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A991B7-6BC6-4676-842A-CBDA0ECEFCD7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1FB860-1CAF-4522-85B2-EB1F6FB6619F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FFC74E-9424-49D2-9E22-8DA102ACB6DB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9400DB-A954-4095-99F3-50ADC420E99B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EE1A3D-F657-45E1-BBA7-8C3D20C36BD4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E317F8-9F80-4FDB-9595-8ECD045FC13C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FC0864-AB46-4E75-AA14-B3BC5334F027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9AF9A3-469D-426A-8C26-707EE7FCBDB9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A43E2D-04F2-46AE-BC05-F5E9DBBD9815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E73789-6BE5-4566-B6A4-4B699C569C0B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0C867F-CDF1-4105-A5B0-8B2F89EC7E5A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BC0A2E-8B80-4BB2-9D10-18390346A472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A6FDD1-3942-4BAB-830D-C40E969A4A34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B7A3C8-C66D-48B6-97EE-138758A41C26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B65653-C502-4DD7-A28D-209F3C18B428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942EE8-4423-4457-84B1-1A24B793F5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C346A7-7976-4CCF-ACEE-841AA4D120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0AF1B96A-2A77-4054-A737-8E5679AA6C40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17405999-8DAD-4A6D-BF6A-E71F9E8D295A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73BF71-E099-4523-8509-2C8DA57B5A65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61696D8-AFA0-45FF-B1AA-2D7CF3F113E3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EE89D7-D235-4530-B91A-B50338FED728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06DAECA-9C90-4D8F-BA8D-A27992299589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919B413-5BBF-447C-875B-52637BE337A7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E812E3F-9792-432E-94DC-26AAC6448925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DFB8E6A-A35C-4FDD-8BC0-E25093094EE1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09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77F209-B8AD-4B9E-A57D-0A53A64A7628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161654D-FAFE-4B57-BB03-D89C13DE1980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71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13DCCC0-D45A-492C-8836-A4A06BF4984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AED5872-23AF-435A-A0DF-E8323D353D87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4C4A5A4-2B0A-4464-96DE-942BF81F6D71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Stack and heap are different budgets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72D5E58-B195-4ACE-B49D-49F3C627140A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1C84303-D3ED-4DEA-8005-814962EE4AF6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FFF1F2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6A59357-B505-4675-B035-01C66B8C18B1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ECFDF3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2CD74C9-AC48-4C12-8C0A-2AAEF3FFD67F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953000" cy="762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77FCBED-6BF1-4764-B938-375D71CEE570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4953000" cy="762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2E38449-8CB1-498F-B0F2-4513C777A413}"/>
              </a:ext>
            </a:extLst>
          </p:cNvPr>
          <p:cNvSpPr>
            <a:spLocks noGrp="1"/>
          </p:cNvSpPr>
          <p:nvPr/>
        </p:nvSpPr>
        <p:spPr>
          <a:xfrm>
            <a:off x="1143000" y="24288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Stack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3E9A905-4268-4A82-A148-BDD9000027ED}"/>
              </a:ext>
            </a:extLst>
          </p:cNvPr>
          <p:cNvSpPr>
            <a:spLocks noGrp="1"/>
          </p:cNvSpPr>
          <p:nvPr/>
        </p:nvSpPr>
        <p:spPr>
          <a:xfrm>
            <a:off x="6705600" y="24288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Heap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F1476F2-BB0E-4438-897B-2ADC526E30A8}"/>
              </a:ext>
            </a:extLst>
          </p:cNvPr>
          <p:cNvSpPr>
            <a:spLocks noGrp="1"/>
          </p:cNvSpPr>
          <p:nvPr/>
        </p:nvSpPr>
        <p:spPr>
          <a:xfrm>
            <a:off x="1190625" y="3000375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Private space for one task</a:t>
            </a:r>
          </a:p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Local variables and calls</a:t>
            </a:r>
          </a:p>
          <a:p>
            <a:pPr marL="24" indent="-14">
              <a:spcAft>
                <a:spcPts val="8"/>
              </a:spcAft>
              <a:buChar char="-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Too small causes crashes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2F46BAB-E801-460B-88F5-7D2380FECCF3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Shared allocation pool</a:t>
            </a:r>
          </a:p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Queues, tasks, dynamic objects</a:t>
            </a:r>
          </a:p>
          <a:p>
            <a:pPr marL="24" indent="-14">
              <a:spcAft>
                <a:spcPts val="8"/>
              </a:spcAft>
              <a:buChar char="+"/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Fragmentation can hurt</a:t>
            </a:r>
          </a:p>
        </p:txBody>
      </p:sp>
    </p:spTree>
    <p:extLst>
      <p:ext uri="{BB962C8B-B14F-4D97-AF65-F5344CB8AC3E}">
        <p14:creationId xmlns:p14="http://schemas.microsoft.com/office/powerpoint/2010/main" val="9109225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5F319A81-BB1B-4DC5-989A-C6D6EC11CE54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B956AE-E865-4C9E-842F-0A4202EDC7C4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6568C3-1D82-479E-B26D-24152E6C8D9E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B9E365-B20C-4607-B273-50A1B3F5BEF1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8A0813-92E7-46FB-90A1-58FAA101207A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1169DA-1648-4824-82C1-8FD8984D4D08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71B587-BEBA-4379-9C8E-645E54C51E05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28A380-BDF6-490E-B717-5BD1ECEC2F91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038B75-29B8-4F37-A7EF-08B1C5864DCB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29E344-652D-436F-AC8F-6CC39FB8E5D5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DAADF1-AC35-4D20-9B69-26331187EE69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14B946-7AC4-417D-BFFA-114604E8506B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DFC173-41E2-4C34-A396-2FB50BC64812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6FE31C-7F44-46D4-B3DA-6F2A7C40F33C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D92BE9-E3C9-4EDF-BC4A-C97EAF07F24E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14C9E8-4C7A-4008-B842-87F24E44077B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6EE35E-9A6D-474E-B193-814BACF47199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D6CB75-F537-4028-A4AE-925E24F2B0A0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355DA5-AA4B-4402-A6BF-C2A46EB5E22C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CA1D5E-6733-4972-8C66-688734E9ECD7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2B1EB8-773F-45C5-A338-71295B519799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E40991-AEE8-4231-B21D-00250AC7699B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243F15-270F-438B-8127-46EC46CF7714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3FC54A-B09C-4A38-9D33-0908A5440D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0F7BD3-DA23-47D8-886A-489BE004AB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4E0040FF-B14E-4569-933D-40F270386AAC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E03F1FF2-B800-4B8D-ACB6-06C07FDF9E15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CDDC6A-651C-41CF-9174-1010E8F81600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7AE2F4-98BA-488A-BAF3-34CFDFEC6D20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6499AD0-AD29-4765-AFDA-BA7045842BE8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56CED3E-80B3-47AC-A8F7-211E5CBA1E9A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02D5C07-F9AC-45F0-8AFF-97EA60FB3F8F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14982FE-26FD-416F-913A-EFF9F1A29E57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6288FB-264B-4952-A093-34BB33CE5D09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09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DFA38C3-C4FE-44E2-B69B-A056B1E9A34A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EFA47D9-A0B8-4D8D-A592-3EE05C29D6F8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72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3B88156-35B0-4D8C-AF3C-5F55FF9C665E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546CB0E-E0CA-4830-8727-D64C55E27A1B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9C8DF7D-3C2C-4EBD-9CC7-D3E1E9180236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Each task stack should be enough, not enormous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5682B1-593D-4D48-AD69-1CC06BA059D6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73DE12C-4216-481B-A0EC-6E4C2C679B89}"/>
              </a:ext>
            </a:extLst>
          </p:cNvPr>
          <p:cNvSpPr>
            <a:spLocks noGrp="1"/>
          </p:cNvSpPr>
          <p:nvPr/>
        </p:nvSpPr>
        <p:spPr>
          <a:xfrm>
            <a:off x="3571875" y="4953000"/>
            <a:ext cx="5048250" cy="495300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8FEB15C-819F-4D8D-8971-B62DB11B0270}"/>
              </a:ext>
            </a:extLst>
          </p:cNvPr>
          <p:cNvSpPr>
            <a:spLocks noGrp="1"/>
          </p:cNvSpPr>
          <p:nvPr/>
        </p:nvSpPr>
        <p:spPr>
          <a:xfrm>
            <a:off x="3857625" y="5076825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Task: display stack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47453DA-F1E9-421E-87B2-952E8E85A09A}"/>
              </a:ext>
            </a:extLst>
          </p:cNvPr>
          <p:cNvSpPr>
            <a:spLocks noGrp="1"/>
          </p:cNvSpPr>
          <p:nvPr/>
        </p:nvSpPr>
        <p:spPr>
          <a:xfrm>
            <a:off x="3571875" y="4286250"/>
            <a:ext cx="5048250" cy="495300"/>
          </a:xfrm>
          <a:prstGeom prst="roundRect">
            <a:avLst>
              <a:gd name="adj" fmla="val 15385"/>
            </a:avLst>
          </a:prstGeom>
          <a:solidFill>
            <a:srgbClr val="ECFDF3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E2BC998-FC30-49AC-9264-ECDCD163D537}"/>
              </a:ext>
            </a:extLst>
          </p:cNvPr>
          <p:cNvSpPr>
            <a:spLocks noGrp="1"/>
          </p:cNvSpPr>
          <p:nvPr/>
        </p:nvSpPr>
        <p:spPr>
          <a:xfrm>
            <a:off x="3857625" y="4410075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Task: sensor stack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B12D0BB-B781-4A4D-AFE9-67FBF53A63C6}"/>
              </a:ext>
            </a:extLst>
          </p:cNvPr>
          <p:cNvSpPr>
            <a:spLocks noGrp="1"/>
          </p:cNvSpPr>
          <p:nvPr/>
        </p:nvSpPr>
        <p:spPr>
          <a:xfrm>
            <a:off x="3571875" y="3619500"/>
            <a:ext cx="5048250" cy="495300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1273141-C2FF-400E-B1A0-89A8B8832FC7}"/>
              </a:ext>
            </a:extLst>
          </p:cNvPr>
          <p:cNvSpPr>
            <a:spLocks noGrp="1"/>
          </p:cNvSpPr>
          <p:nvPr/>
        </p:nvSpPr>
        <p:spPr>
          <a:xfrm>
            <a:off x="3857625" y="3743325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Task: alert stack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141A57F-19F8-43A5-B8C9-6E81A1DA3E5C}"/>
              </a:ext>
            </a:extLst>
          </p:cNvPr>
          <p:cNvSpPr>
            <a:spLocks noGrp="1"/>
          </p:cNvSpPr>
          <p:nvPr/>
        </p:nvSpPr>
        <p:spPr>
          <a:xfrm>
            <a:off x="3571875" y="2952750"/>
            <a:ext cx="50482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475467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3A39260-3890-4D8A-8207-F655E4908DE3}"/>
              </a:ext>
            </a:extLst>
          </p:cNvPr>
          <p:cNvSpPr>
            <a:spLocks noGrp="1"/>
          </p:cNvSpPr>
          <p:nvPr/>
        </p:nvSpPr>
        <p:spPr>
          <a:xfrm>
            <a:off x="3857625" y="3076575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Free heap for system objects</a:t>
            </a:r>
          </a:p>
        </p:txBody>
      </p:sp>
    </p:spTree>
    <p:extLst>
      <p:ext uri="{BB962C8B-B14F-4D97-AF65-F5344CB8AC3E}">
        <p14:creationId xmlns:p14="http://schemas.microsoft.com/office/powerpoint/2010/main" val="18631754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66A69107-24B8-4207-B3A1-2223178091CF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43659C-F77C-456B-9A31-3763113193E1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2B6F88-F217-423F-ADD2-52477DA4A0A7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9CA5EA-4102-44D8-B5FD-7B397EE120E8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CDD57B-622C-46FF-A440-57B770CCD05C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72DFDE-BC67-4D0C-8DC8-A62D5223D8AB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CB7621-4965-4579-B9AB-F4868BA43577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87536A-D4B8-44F1-98BD-0458AAF2B287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AF07F2-E595-48AA-8510-9F3085521A79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E310E9-ED88-48D6-877D-60B46E19EC56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70E9D9-9571-420D-9646-F518D9215A21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80E5EF-8AD6-4824-AFE5-BAEE5AB4CF7F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D5A0C3-0F4E-40F2-83CA-D753FD4C54D8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089E88-EC0D-45D9-B5D2-25FF81486EE4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E293F9-B163-4688-9CAE-98734FF2BAAC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2EB67B-A01B-42EF-A622-31F4DC11BF68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76C7D8-5FCA-45E7-908A-2A27A6743776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94E404-B85F-4CE0-B986-277C5F1C5345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C1241F-896F-492B-B415-0BF1501A74F4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FE0E10-67D0-4EB3-9DE7-CE5BB4E2FA3A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44D151-D477-45B9-BC2A-9077CECA5FB6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750247-8B20-4870-ABE8-8F9C8C9C2E83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713F84-DED0-4C94-8E5C-0C2216A72986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175037-AF8E-4EEB-824D-F286B7F29F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B04003-90E2-4AFA-A05D-BB08DC49D6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A69812A-FE68-454E-963D-0C64E6B55243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0049DA4D-5027-41B8-88FA-9A72744AC119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1F2883-80C1-4679-89BB-A0ED9B482F93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DA4BD9-B93F-46E0-8102-47569FF997D0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0EC1CFB-25F6-49F0-A9DD-D5AE75F17DF4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316F558-B51B-4327-86E9-192DE451C340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DC7C2A-D3A9-41A8-85C1-3E9365F5659F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4F630F9-2542-4D83-B281-4E6801D2265E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204687-437E-455F-A770-AE810B8CAB70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09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16D73BB-EFDE-4EC2-81D6-89E5664AE8D1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F49A148-7448-4985-AE69-9C3B4D82E8C9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73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974D1AB-D1E0-4476-B817-8B42ABE7366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A89BB88-B61F-4ECE-B0D2-222B84EAFD08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8B387E4-C143-4E32-85AB-CCFA4AE7C0A9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Stack high-water mark tells you the spare margin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BA3E9FF-E318-45D6-9611-52052A3CCD55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73B9781-A2A7-49B8-B89C-05E9360AC902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6705600" cy="3562350"/>
          </a:xfrm>
          <a:prstGeom prst="roundRect">
            <a:avLst>
              <a:gd name="adj" fmla="val 3209"/>
            </a:avLst>
          </a:prstGeom>
          <a:solidFill>
            <a:srgbClr val="122033"/>
          </a:solidFill>
          <a:ln w="11430">
            <a:solidFill>
              <a:srgbClr val="1220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293760F-20D5-4EA6-8900-277ED71B759B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6705600" cy="419100"/>
          </a:xfrm>
          <a:prstGeom prst="rect">
            <a:avLst/>
          </a:prstGeom>
          <a:solidFill>
            <a:srgbClr val="1D2D42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257023A-0553-489C-8E1C-81B429D1D9AB}"/>
              </a:ext>
            </a:extLst>
          </p:cNvPr>
          <p:cNvSpPr>
            <a:spLocks noGrp="1"/>
          </p:cNvSpPr>
          <p:nvPr/>
        </p:nvSpPr>
        <p:spPr>
          <a:xfrm>
            <a:off x="1104900" y="225742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5D2F99A-A76D-433D-AD20-56C0B1A057B0}"/>
              </a:ext>
            </a:extLst>
          </p:cNvPr>
          <p:cNvSpPr>
            <a:spLocks noGrp="1"/>
          </p:cNvSpPr>
          <p:nvPr/>
        </p:nvSpPr>
        <p:spPr>
          <a:xfrm>
            <a:off x="1333500" y="225742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245D9B4-F009-4C48-982D-83FABC2A780B}"/>
              </a:ext>
            </a:extLst>
          </p:cNvPr>
          <p:cNvSpPr>
            <a:spLocks noGrp="1"/>
          </p:cNvSpPr>
          <p:nvPr/>
        </p:nvSpPr>
        <p:spPr>
          <a:xfrm>
            <a:off x="1562100" y="225742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143C5A2-DECF-44A9-B248-A3D2585A9F3C}"/>
              </a:ext>
            </a:extLst>
          </p:cNvPr>
          <p:cNvSpPr>
            <a:spLocks noGrp="1"/>
          </p:cNvSpPr>
          <p:nvPr/>
        </p:nvSpPr>
        <p:spPr>
          <a:xfrm>
            <a:off x="1924050" y="2257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stack_check.cpp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2797F5A-9120-4119-B571-915BBBA10E2C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5905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UBaseType_t left;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left = uxTaskGetStackHighWaterMark(NULL);</a:t>
            </a:r>
          </a:p>
          <a:p>
            <a:endParaRPr sz="1725" b="0">
              <a:solidFill>
                <a:srgbClr val="D1FAE5"/>
              </a:solidFill>
              <a:latin typeface="Cascadia Mono"/>
              <a:ea typeface="Cascadia Mono"/>
              <a:cs typeface="Cascadia Mono"/>
            </a:endParaRP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Serial.print("stack words left: ");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Serial.println(left);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2AADE0A-489B-4395-B7BE-1AFCBB590460}"/>
              </a:ext>
            </a:extLst>
          </p:cNvPr>
          <p:cNvSpPr>
            <a:spLocks noGrp="1"/>
          </p:cNvSpPr>
          <p:nvPr/>
        </p:nvSpPr>
        <p:spPr>
          <a:xfrm>
            <a:off x="7953375" y="2114550"/>
            <a:ext cx="3048000" cy="356235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8D73478-A30C-4A75-8D06-DFD1E1AA7B54}"/>
              </a:ext>
            </a:extLst>
          </p:cNvPr>
          <p:cNvSpPr>
            <a:spLocks noGrp="1"/>
          </p:cNvSpPr>
          <p:nvPr/>
        </p:nvSpPr>
        <p:spPr>
          <a:xfrm>
            <a:off x="7953375" y="2114550"/>
            <a:ext cx="30480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43A647E-81BF-47C3-8CE7-743395604B4A}"/>
              </a:ext>
            </a:extLst>
          </p:cNvPr>
          <p:cNvSpPr>
            <a:spLocks noGrp="1"/>
          </p:cNvSpPr>
          <p:nvPr/>
        </p:nvSpPr>
        <p:spPr>
          <a:xfrm>
            <a:off x="8248650" y="2571750"/>
            <a:ext cx="23812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Call inside the task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Low number means danger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Check after real workload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Do not guess stack sizes</a:t>
            </a:r>
          </a:p>
        </p:txBody>
      </p:sp>
    </p:spTree>
    <p:extLst>
      <p:ext uri="{BB962C8B-B14F-4D97-AF65-F5344CB8AC3E}">
        <p14:creationId xmlns:p14="http://schemas.microsoft.com/office/powerpoint/2010/main" val="133155409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33E9D166-C78B-4322-8BEA-07F8EFAC6726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E2FC93-3D94-402C-833C-D3B3264847BD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2E5460-C34A-4F3E-9B66-D356B11C9715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1884A2-80F9-42B2-89B9-C35B11009234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C8FC57-CEA1-40A3-B998-D19B208889C3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8201E-29CC-4A5A-9FC7-9FCA8FD5C751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25598B-8E93-4D0D-97D5-A71223788539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2ACC8D-5DE5-41D2-9EDF-D5ABFFF63A9D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296E64-EBD6-4003-8589-97F32ABF8C51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3099E1-1336-4427-809B-4E0C53A026CF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01A3BA-AD2E-4ED5-B2E4-426663CBD760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4DDC84-D07B-4D8C-8204-56D6C6245F13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9D95EB-5AB1-42BC-AF06-A2F074E25FF3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508F84-4504-4213-B2BB-EC6EE5859C62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43A1F5-8D23-4138-A7A5-8FD387619FDC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42462C-AB0A-448A-8C92-D7A40E755823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1BC6A2-C01B-4215-B6A1-D4C0ECEC1E45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47BAFC-EC4D-42BA-B162-B69E8DFDE671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D0E216-E574-4DEE-BF7B-C65D6B192836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E709C8-46B7-48D4-853E-88E651EB867A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366345-CD02-4993-A376-74C15CB72E4B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FBBB67-3C1D-4FC9-B763-1AC069E25933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C5AD49-6F75-4D24-BAC7-C314FF35DF5B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7BB8B9-9BA4-461A-B26D-53040B5D9D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D0E511-5067-4DFD-AAB5-2D93A4629E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A0A29E6B-319F-41DF-B72D-FB76076D9159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9A6BD9F3-2C6E-4C3D-B314-B3EF616B06C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78234C-04EC-42E5-BDAE-A5351A7BEBE2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BABDFA-1EAB-43DB-BD6D-85CE16F91542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60FDB22-69B1-4895-A9C0-853C9097A933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2FC51CB-B95B-4FC3-A40C-F5B6C3A5C423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D603800-DA8F-4D44-ACEB-E355A6A3674C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B7E0D48-5FDB-4B1F-86C4-2DF8FB5B8411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ED54DA2-AA11-455D-B531-76390FC31CF7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52AD9A5-79FB-48C7-8A5B-FE936CC1C230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C3C62C-0796-409F-A060-023051F83EC8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74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995DA90-F9B8-4068-ABA0-32A4E5C46F57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8C6364F-3855-44A2-A5E9-07824CD2FC8D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F7E766-C8F7-4AE0-9F89-5338B7617B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014D263-3AFC-4CBF-940D-6C6B5F408244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15692C1-2C12-4896-9092-0C5BEDA02EAD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096EA6E-A41D-47A3-B91B-3F969609CDE9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Stack size experiment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5397EA8-DA24-4B40-9502-E00C9B0F9C86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18D6539-0EE8-4DF8-B3C1-1D4E56649854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9110E7-0EA5-4FFE-AC60-123D62BD7A8A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902D63A-7C90-4F73-A75B-05F5E7EBD380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FA582E9-D224-45DB-8924-B8C2220F2BC3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EA83DC4-CCC9-41F8-806A-B17544B576ED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tasks with different stack sizes and observe behavior.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5180B97-3B99-4A34-91DB-879EA52CDD67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90F2DC3-EEC7-4911-A743-0832EB38B7A8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two tasks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Give one a tiny stack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Print high-water mark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Increase until stable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3F2289E-DF55-418D-8139-4C1BBDD53838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1280855-5C56-4C85-83A7-DF48AE411764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Students see stack margin change.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F0C9D92-747C-49A3-AAE6-E316DB56EFA2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9281883-9E2A-4EB1-8BBD-4BE10150552C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Add local arrays and observe impact.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1E69089-8980-4350-9DA4-13C7F303D0F6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B1ECBD13-D37E-40A0-B63B-A26131E2AC54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27719EB-E74D-41FA-B21D-49517DBD93CD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Serial Monitor</a:t>
            </a:r>
          </a:p>
        </p:txBody>
      </p:sp>
    </p:spTree>
    <p:extLst>
      <p:ext uri="{BB962C8B-B14F-4D97-AF65-F5344CB8AC3E}">
        <p14:creationId xmlns:p14="http://schemas.microsoft.com/office/powerpoint/2010/main" val="1957637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4F5D02EA-0040-4E6E-B31B-FFBE77E523C3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EE6D09-9581-4FF1-9A07-21485D84EBFF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C5FCBF-EDE6-4FEF-855A-253D73459C9D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2730A6-63B7-41BF-B119-1C6DCD680746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9EB3B9-44C5-4D33-A504-46DD9CDC522D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F95ED9-5F0B-4BC0-A7CF-1C8BA323260F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88CF9E-8333-4BBE-8C4F-1AEEF2A50020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EA44FD-804A-44D3-ABEF-02353151BE9E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E932D5-4CC1-4C13-9020-ED4152D88633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3CC87-D84B-4630-BBA6-F519A77EB557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474440-9085-49E0-972A-79889C62F066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060C68-7C89-432C-85DA-538260E4E33D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743F32-CC05-4F11-B9B4-9997D3CF86F5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CE08DF-7394-4381-A627-57A4827E9604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B92C02-DF16-4E9C-BA36-DB6CB8FE3F31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7B8EE6-CB84-46AB-B69D-2C5A703EB4AF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96957B-888E-4569-A023-A216213EA4F2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5CA4E9-7895-484E-B3EB-67B4E70B1F60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5BA4F-BD0E-42C3-8153-2B38B1F30C4F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8589AE-6A95-4349-B278-FD159C0CFBCE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555B96-54D1-4EF7-988F-92C5C9FEA21A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80868D-D42E-4C06-B29E-C1A8EBF5E50C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DABEB3-2B56-4651-898E-44C6A926B7D4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7AE229-13F2-4365-8693-EE3AF63ECF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BB982E-ED11-4F81-AE51-037C182CBD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D180E4F8-9D48-4367-A00A-C44B02054C6F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6A6F8461-9F7A-426B-AB38-3A9F65F86D66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79AB7F-1425-448C-8515-07E53EABE14D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5E3EF1-F36C-403B-9865-F3CE22F2EA9C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2A56442-C56B-41D6-8C42-290883012CF3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86FB5B2-EABC-4778-870E-A40D63F02B9B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4F63B7A-A352-49BA-AD62-D8243C1B666A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9ED55FE-9C68-4AA6-A9B4-E018A054CB2E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 w="11430">
            <a:solidFill>
              <a:srgbClr val="E11D4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E97F5A-E832-4947-B94F-B5F22CE8D694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DAY 2 / MODULE 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191722-9C3F-4F65-A213-18C0DE906E08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8D04A58-15EA-45C1-B8D3-717731EAD03A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75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C26125F-A574-4DF0-A23B-61824E7663C1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491D7D1-6831-49F9-9A0C-6F7D70F6CB88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DA25CEE-0281-43D9-B69E-616BD486D0B9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0382250" cy="3905250"/>
          </a:xfrm>
          <a:prstGeom prst="roundRect">
            <a:avLst>
              <a:gd name="adj" fmla="val 4390"/>
            </a:avLst>
          </a:prstGeom>
          <a:solidFill>
            <a:srgbClr val="0F1D2E"/>
          </a:solidFill>
          <a:ln w="11430">
            <a:solidFill>
              <a:srgbClr val="0F1D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739FCE2-5668-4E9F-834E-491F7FA65ED5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52400" cy="390525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6AFDFC5-EABE-4A4E-9CE2-E15E79DE61E9}"/>
              </a:ext>
            </a:extLst>
          </p:cNvPr>
          <p:cNvSpPr>
            <a:spLocks noGrp="1"/>
          </p:cNvSpPr>
          <p:nvPr/>
        </p:nvSpPr>
        <p:spPr>
          <a:xfrm>
            <a:off x="1257300" y="1543050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44B83AC-6D76-4771-80E9-F071B0EE9514}"/>
              </a:ext>
            </a:extLst>
          </p:cNvPr>
          <p:cNvSpPr>
            <a:spLocks noGrp="1"/>
          </p:cNvSpPr>
          <p:nvPr/>
        </p:nvSpPr>
        <p:spPr>
          <a:xfrm>
            <a:off x="1485900" y="1543050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4312AB8-4A94-4A98-8FBB-0114DC0B524D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F3C74E6-3769-4635-A405-92397C949C0C}"/>
              </a:ext>
            </a:extLst>
          </p:cNvPr>
          <p:cNvSpPr>
            <a:spLocks noGrp="1"/>
          </p:cNvSpPr>
          <p:nvPr/>
        </p:nvSpPr>
        <p:spPr>
          <a:xfrm>
            <a:off x="1257300" y="20383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rPr>
              <a:t>DAY 2 / MODULE 10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26FC50-BA32-4FE4-AEFC-E8A711ED7828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809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Interrupts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1814112-59CA-447B-BEB9-6F350CCB483C}"/>
              </a:ext>
            </a:extLst>
          </p:cNvPr>
          <p:cNvSpPr>
            <a:spLocks noGrp="1"/>
          </p:cNvSpPr>
          <p:nvPr/>
        </p:nvSpPr>
        <p:spPr>
          <a:xfrm>
            <a:off x="1257300" y="38481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// urgent events enter safely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90E5D30-FA41-4AF0-8493-9BDDE3F327BA}"/>
              </a:ext>
            </a:extLst>
          </p:cNvPr>
          <p:cNvSpPr>
            <a:spLocks noGrp="1"/>
          </p:cNvSpPr>
          <p:nvPr/>
        </p:nvSpPr>
        <p:spPr>
          <a:xfrm>
            <a:off x="8953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NEXT_MODULE</a:t>
            </a:r>
          </a:p>
        </p:txBody>
      </p:sp>
    </p:spTree>
    <p:extLst>
      <p:ext uri="{BB962C8B-B14F-4D97-AF65-F5344CB8AC3E}">
        <p14:creationId xmlns:p14="http://schemas.microsoft.com/office/powerpoint/2010/main" val="4825932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3FFE5E08-6159-415A-BBB8-D88ACFB5C93C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6DB62F-3E9D-4D72-8D95-67BA5363C428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6B069D-625E-454E-A3CB-39B57B4DFED1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79625F-1A58-480F-91FF-C5E32A8D9DB3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89D9C-97C8-42A5-9E00-390EE3CBE485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7B64E8-A21C-4E5B-8BD6-FBA272288017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CAE54A-0425-4DB7-A554-7F823F7E3DB3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49E65-42FA-439E-AA80-18CDB68FFE95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995024-2E7C-4865-871D-146FDA7973AD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2CDBA3-A6E4-487E-B9F2-0B628DBA5724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53CB8-694C-4C86-8E76-0884F40067E3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0E0155-C406-4F2A-9028-675CFC3A9EEF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FD1832-D61D-459E-A49F-D915C7E9719C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F0B926-04F8-491B-812C-8BD27582788A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39E577-74E6-4033-AE42-3387191FD5F2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C42438-6CEB-4EF9-86EA-0B3795077E98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40E495-E191-482A-A608-AEF0100B02BA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B48E69-3079-4101-9E35-3F6571FC91A8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11DF35-4AC6-46BD-AE54-FCB0069466AA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C53401-ECF7-4F50-84E1-5D8E4B0ED5D0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6F64D6-25A2-40D2-A1C4-8712CE9DF4B3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726B3A-0B44-4AB7-84DF-01D4EF9BCA16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3DCE72-D4D8-4489-BEAA-A4F46F60D063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1EA16D-3833-4541-9CAC-BF5574FFE7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26A016E-24DC-4983-AA5F-37EC1BE350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C1B48C36-FBAC-4054-8317-A425A167CC76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638E4E89-6DB1-494A-9A62-CE51B1799B9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3A6665-FCBD-4A08-915E-1B3D09E4AE88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18A251-6649-47AF-8A7E-20DC0FFFCAC9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07354D1-01CD-4CA7-AD7E-3D73BC3B04A5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D644B7D-C477-47B3-8D5A-F5171F8E279C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DFE84B6-2D78-4CAA-8A75-21259B49BD03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CA9B6C7-7721-4A4B-AE4B-2580347B7036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 w="11430">
            <a:solidFill>
              <a:srgbClr val="E11D4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40F81E-1910-4D28-B8C0-DB790019C09C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158205-4B74-4DAB-B118-9111DCE2D954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8DFB30-9F31-47E8-BBA0-8270FF915E26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76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97369F3-9B83-4426-AF69-CE4A8F97ABAB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2A11940-C130-4F51-89BF-95CD849C2C2D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E11D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56F7292-9248-4B2B-9737-57D577C67597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An ISR should be fast and hand off 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65A57AE-2BC6-4995-B558-CDA4652554F1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BC699F2-D651-4341-B988-CFAE23C36701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F94247A-5587-4BB3-A7AC-B5FCABBF8BC8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0C77E76-AE92-4926-BE16-5EB0CBFAA1C4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884746-A5E5-4558-9A29-9072AC44A93E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Pin edge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CBC76D1-049D-4D58-AF21-D09E8E34F4BE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765126A-E05B-41B4-A17D-09F9D64F3FDE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C77F2E1-0253-45D5-BBA0-E1A6AE5F9F7B}"/>
              </a:ext>
            </a:extLst>
          </p:cNvPr>
          <p:cNvSpPr>
            <a:spLocks noGrp="1"/>
          </p:cNvSpPr>
          <p:nvPr/>
        </p:nvSpPr>
        <p:spPr>
          <a:xfrm>
            <a:off x="29908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9546B8D-54CB-4922-ADDE-C01A5060268C}"/>
              </a:ext>
            </a:extLst>
          </p:cNvPr>
          <p:cNvSpPr>
            <a:spLocks noGrp="1"/>
          </p:cNvSpPr>
          <p:nvPr/>
        </p:nvSpPr>
        <p:spPr>
          <a:xfrm>
            <a:off x="29908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ISR</a:t>
            </a:r>
          </a:p>
        </p:txBody>
      </p:sp>
      <p:cxnSp>
        <p:nvCxnSpPr>
          <p:cNvPr id="113" name="Straight Arrow Connector 112"/>
          <p:cNvCxnSpPr>
            <a:stCxn id="41" idx="3"/>
            <a:endCxn id="45" idx="1"/>
          </p:cNvCxnSpPr>
          <p:nvPr/>
        </p:nvCxnSpPr>
        <p:spPr>
          <a:xfrm>
            <a:off x="24955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21F7A5F-3ED5-47BD-A228-6AD6E18DCA5F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E3A500-E066-4339-A13D-D4D2E05C6396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25127DB-A725-49ED-A7EF-A5E7907DAAF3}"/>
              </a:ext>
            </a:extLst>
          </p:cNvPr>
          <p:cNvSpPr>
            <a:spLocks noGrp="1"/>
          </p:cNvSpPr>
          <p:nvPr/>
        </p:nvSpPr>
        <p:spPr>
          <a:xfrm>
            <a:off x="49720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DFAFB43-44AC-47BB-8745-C7A7673FA2F8}"/>
              </a:ext>
            </a:extLst>
          </p:cNvPr>
          <p:cNvSpPr>
            <a:spLocks noGrp="1"/>
          </p:cNvSpPr>
          <p:nvPr/>
        </p:nvSpPr>
        <p:spPr>
          <a:xfrm>
            <a:off x="49720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Give signal</a:t>
            </a:r>
          </a:p>
        </p:txBody>
      </p:sp>
      <p:cxnSp>
        <p:nvCxnSpPr>
          <p:cNvPr id="118" name="Straight Arrow Connector 117"/>
          <p:cNvCxnSpPr>
            <a:stCxn id="45" idx="3"/>
            <a:endCxn id="50" idx="1"/>
          </p:cNvCxnSpPr>
          <p:nvPr/>
        </p:nvCxnSpPr>
        <p:spPr>
          <a:xfrm>
            <a:off x="44767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1CFA365-3469-4CB2-AD45-2E1864B69F4D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72C0375-14B2-49EE-848B-FC6A8FC0C880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6AF7A19-AEB3-4CF4-A720-E80198ECB943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CA9C9C0-9EE0-4716-88DC-AC701BA35C79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Task wakes</a:t>
            </a:r>
          </a:p>
        </p:txBody>
      </p:sp>
      <p:cxnSp>
        <p:nvCxnSpPr>
          <p:cNvPr id="123" name="Straight Arrow Connector 122"/>
          <p:cNvCxnSpPr>
            <a:stCxn id="50" idx="3"/>
            <a:endCxn id="55" idx="1"/>
          </p:cNvCxnSpPr>
          <p:nvPr/>
        </p:nvCxnSpPr>
        <p:spPr>
          <a:xfrm>
            <a:off x="64579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CC721BA1-39F9-4847-87BC-66ACFE90B9FE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4754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66769E3-4A16-4891-A608-47B76ED3D31D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66675"/>
          </a:xfrm>
          <a:prstGeom prst="rect">
            <a:avLst/>
          </a:prstGeom>
          <a:solidFill>
            <a:srgbClr val="475467"/>
          </a:solidFill>
          <a:ln w="0">
            <a:noFill/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332557A-B161-4516-B0A0-2FBBA9A84FE9}"/>
              </a:ext>
            </a:extLst>
          </p:cNvPr>
          <p:cNvSpPr>
            <a:spLocks noGrp="1"/>
          </p:cNvSpPr>
          <p:nvPr/>
        </p:nvSpPr>
        <p:spPr>
          <a:xfrm>
            <a:off x="89344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FAF52B2-EB9D-4861-B672-3C05C56DBFAA}"/>
              </a:ext>
            </a:extLst>
          </p:cNvPr>
          <p:cNvSpPr>
            <a:spLocks noGrp="1"/>
          </p:cNvSpPr>
          <p:nvPr/>
        </p:nvSpPr>
        <p:spPr>
          <a:xfrm>
            <a:off x="89344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Handle event</a:t>
            </a:r>
          </a:p>
        </p:txBody>
      </p:sp>
      <p:cxnSp>
        <p:nvCxnSpPr>
          <p:cNvPr id="128" name="Straight Arrow Connector 127"/>
          <p:cNvCxnSpPr>
            <a:stCxn id="55" idx="3"/>
            <a:endCxn id="60" idx="1"/>
          </p:cNvCxnSpPr>
          <p:nvPr/>
        </p:nvCxnSpPr>
        <p:spPr>
          <a:xfrm>
            <a:off x="84391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5239922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65AFFE99-8522-4E01-894C-3BA77FA0FB0E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E2F46D-85D9-4827-A49E-3E2559A2DA4C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FBB007-6D8C-4AB4-B3E1-1E5D02D22639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415B10-5E4F-47DD-A6AF-E5FBCD22A45F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DDB5C3-8B48-4A15-B611-D4326411E2F3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4B9814-17AC-427B-B150-8685F71D1C7E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49FA98-4A48-4CAC-A611-A51A16FC8D5F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268B49-056D-45DC-8411-1EF28F7C0F54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C37170-FD5C-4F5A-890C-0B6079D4FFA8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BEDA86-97C4-412D-982C-0D72B411D42A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8FF32-69EF-40C8-9061-A11D2C247B30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8F973A-9B2F-4CD2-9784-AE7FE3B17975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C9BB67-5BCE-4A2B-8D28-41B7181D36E8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D7BE42-3DC6-4A28-98E0-7186847A37B1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15C8AF-5AF5-4096-85D7-FF8421A959CD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9D85AA-639D-487F-84C4-8AF3B0540CF4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88B532-0F8B-426D-8B38-49CB54854DE2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4D728-CC56-484A-BFAC-DB2C3640D305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ECF13F-FB10-4648-B8CD-A919519FD41D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7C44BB-972C-4421-9B0C-0949DC76AABF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8B6992-83DD-4408-8865-3186A273370E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8E492D-AF4E-4C18-9E50-5E668C3C2B22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F9D297-0564-467D-B917-B1C38B1DD04F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4E62C8-7576-41DA-9B15-0BCE9D0EAD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BF6E15-AB78-48C1-A10E-E8B6FC50DE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CF8645EA-A589-4CA3-9F8E-797D07A5C696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1744ADA7-7EC1-4BAF-ABEA-6CD590EB8995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D10C50-5756-454D-9985-5539C40CC6CE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3A97E8-B505-4700-AEAC-2AA87F5AEB69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EC03F0C-2348-4F42-A258-8B65830A9127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04FF743-075B-4007-9D15-3CED0C3EC6A0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EC75CDB-A38B-497D-BAFF-9621FE251DEB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F91CBC9-1F20-4147-B9E9-66FD06F9F192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B4CF77-1472-4420-B480-32ED81A0C277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A3C44F1-631B-4C92-84CB-60CED2E5DAE4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25EFB83-54F0-4243-A4FD-261F47075006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77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DEF8B39-5AD5-444F-A359-1E90660636D5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970E1E1-FF61-407E-B86F-FA0C2778C121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2D19B63-FAB0-4859-9E10-4D530307B37D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ISR-safe calls use the FromISR family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9E01DC3-72D8-4284-B9CB-5E1C60809FC8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4F7167A-40D9-457A-9667-BA9CFD367D3F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6705600" cy="3562350"/>
          </a:xfrm>
          <a:prstGeom prst="roundRect">
            <a:avLst>
              <a:gd name="adj" fmla="val 3209"/>
            </a:avLst>
          </a:prstGeom>
          <a:solidFill>
            <a:srgbClr val="122033"/>
          </a:solidFill>
          <a:ln w="11430">
            <a:solidFill>
              <a:srgbClr val="1220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DE2B73-9FB4-4762-8AAA-63431597B850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6705600" cy="419100"/>
          </a:xfrm>
          <a:prstGeom prst="rect">
            <a:avLst/>
          </a:prstGeom>
          <a:solidFill>
            <a:srgbClr val="1D2D42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7267DDD-A94F-4A8F-9101-8C90D1DF3725}"/>
              </a:ext>
            </a:extLst>
          </p:cNvPr>
          <p:cNvSpPr>
            <a:spLocks noGrp="1"/>
          </p:cNvSpPr>
          <p:nvPr/>
        </p:nvSpPr>
        <p:spPr>
          <a:xfrm>
            <a:off x="1104900" y="225742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80B410E-30C5-489F-A021-A834B9061AD4}"/>
              </a:ext>
            </a:extLst>
          </p:cNvPr>
          <p:cNvSpPr>
            <a:spLocks noGrp="1"/>
          </p:cNvSpPr>
          <p:nvPr/>
        </p:nvSpPr>
        <p:spPr>
          <a:xfrm>
            <a:off x="1333500" y="225742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6F891E4-7125-49C5-98BB-58CDB31A3D65}"/>
              </a:ext>
            </a:extLst>
          </p:cNvPr>
          <p:cNvSpPr>
            <a:spLocks noGrp="1"/>
          </p:cNvSpPr>
          <p:nvPr/>
        </p:nvSpPr>
        <p:spPr>
          <a:xfrm>
            <a:off x="1562100" y="225742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01C68DA-B9E0-4C87-B143-C6749304E99E}"/>
              </a:ext>
            </a:extLst>
          </p:cNvPr>
          <p:cNvSpPr>
            <a:spLocks noGrp="1"/>
          </p:cNvSpPr>
          <p:nvPr/>
        </p:nvSpPr>
        <p:spPr>
          <a:xfrm>
            <a:off x="1924050" y="2257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button_isr.cpp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0E7D59B-9319-45BE-B843-94C1AFF87283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5905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void IRAM_ATTR buttonISR() {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  BaseType_t wake = pdFALSE;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  xSemaphoreGiveFromISR(alertSem, &amp;wake);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  portYIELD_FROM_ISR(wake);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541E6CD-C654-49EB-BA2C-2B7AA702BA3D}"/>
              </a:ext>
            </a:extLst>
          </p:cNvPr>
          <p:cNvSpPr>
            <a:spLocks noGrp="1"/>
          </p:cNvSpPr>
          <p:nvPr/>
        </p:nvSpPr>
        <p:spPr>
          <a:xfrm>
            <a:off x="7953375" y="2114550"/>
            <a:ext cx="3048000" cy="356235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FB9C4BA-038C-4106-8EC3-AEF8E5A23C98}"/>
              </a:ext>
            </a:extLst>
          </p:cNvPr>
          <p:cNvSpPr>
            <a:spLocks noGrp="1"/>
          </p:cNvSpPr>
          <p:nvPr/>
        </p:nvSpPr>
        <p:spPr>
          <a:xfrm>
            <a:off x="7953375" y="2114550"/>
            <a:ext cx="30480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F345863-B2AF-4120-B1B5-B314D8D3C1A8}"/>
              </a:ext>
            </a:extLst>
          </p:cNvPr>
          <p:cNvSpPr>
            <a:spLocks noGrp="1"/>
          </p:cNvSpPr>
          <p:nvPr/>
        </p:nvSpPr>
        <p:spPr>
          <a:xfrm>
            <a:off x="8248650" y="2571750"/>
            <a:ext cx="23812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Keep ISR tiny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FromISR APIs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Request yield if needed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Do the real work in a task</a:t>
            </a:r>
          </a:p>
        </p:txBody>
      </p:sp>
    </p:spTree>
    <p:extLst>
      <p:ext uri="{BB962C8B-B14F-4D97-AF65-F5344CB8AC3E}">
        <p14:creationId xmlns:p14="http://schemas.microsoft.com/office/powerpoint/2010/main" val="168208825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627EB4D3-942F-4CF0-A620-0BFAA309ED5D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40347E-D556-4894-9629-B69EC74783EE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21D480-9844-4793-A935-8C3586FE1727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3FEE80-AFD0-4589-84A1-CD4E0BBDBEBF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B396EF-5FC7-4812-86BA-FB2C52DC40BB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A94C38-01EA-4CA2-BBAF-1DD17D587537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9F41E-CA52-46B2-A478-C623D3687C54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F79099-76EB-4C45-993A-21300E087436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B75550-F9A1-4D7D-BDF9-509A41C99575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51ED90-18C7-40DE-8314-B58760165FA4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42CEA5-D489-4A10-9F71-01AE89EA5194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585457-8AF6-4F34-8E30-F45622E69848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57481B-2A17-4D7B-9F46-965AE2EB2EC4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227CC7-51D0-48FB-979D-6161981B924B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0FC40E-27BC-4F59-96C7-B6BA9D92F366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959979-9D1D-4272-B138-5477D9ECD5FD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824EB0-63AF-4AA6-AB3D-E0B6A1E452BC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FF6B31-2FB5-44DB-9CDF-FF4484FB3EB3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ED21A2-F5FB-4B99-8098-205EF0096E02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E4B747-62AC-4EB7-B9F6-4D27F40ACFC8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80EC1A-6DDD-4561-8515-8636CD2F2999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FAA467-B2C1-450F-9C50-F87D4E94C9B3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4A87F5-C301-4526-B777-CC73785D6CF4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A0607B-3D4F-4632-B608-F21DD24BD9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E46661-0B3C-4FF4-A5E5-3E282D0563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88F350D4-28C5-4D08-83F8-D0C509FD67EE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2B05018F-B4E1-4DE3-BF45-97A04CE54DA3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16995A-3A48-4124-9315-AEBC7733FEAD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1662C0-F076-4E20-8156-39819E6B3956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AFAE009-2DB1-4489-90FF-DDFEF4F24DCA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E7557E-2840-405C-8416-0043506858EA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0C58F89-5CCA-4307-BE59-C953D36C0C09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248403D-FE35-4F6A-A099-098EDBECB7DF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5406FE-6D90-4A71-9CBB-2F5281537190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26AD6EF-2D61-43F4-907F-B56BC261771F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77CFBB3-A8AE-4087-9C23-4F6CAAE9DF99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78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7F2E8E0-0BD9-42F9-8EB8-BE69D6AB0BFF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4D68C15-8E1D-4A94-A19B-355E45410BFC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CFFC683-BCFB-477E-BF41-5FC93EEC31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8B554B-3288-4631-BE63-7E876054F4E9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F0252DC-B9CD-49B0-8F69-117B4F40923F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CF1E19-5D7E-41CD-8B52-C939E649A453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Emergency interrupt alert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0275A10-05F7-4527-8F8C-A8EBF4A3D8C9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9CB174C-24BE-4E99-9D47-AC3129C1CD4F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FE8DF04-98F0-4D43-B171-7146A6E5B37A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8D93E71-846A-43DB-B5AB-6CBD7D671873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6302177-86BD-4620-987E-D428DADAA2F5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68777A-4EE4-45F9-9705-7F27B8A63E89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a button interrupt to trigger an alert task.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439990-EE69-4BFD-82D4-FE80A0303D93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D7B7496-4E9C-48D0-B245-DF1A23FDC4A9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Attach interrupt to button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Give semaphore from ISR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Alert task takes semaphore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Blink or buzz emergency pattern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2B0E4D0-9512-422E-80C7-BA51F0F255C8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91892BB-A5E3-4378-B03C-A19F17A917A6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Emergency alert triggers immediately.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992F861-A2E3-497C-B39E-195918A5EB02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8B0C997-AFD5-490F-AA66-D4B1A96C2CB2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Add debounce outside the ISR.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44A1406-9244-46F6-AB40-E0DB338AE59F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14B53F80-5FC7-4D2E-BBFE-322AAEA27DF3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2C0E168-A0DC-43E7-AC5B-103974BF50DF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Button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LED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Buzzer</a:t>
            </a:r>
          </a:p>
        </p:txBody>
      </p:sp>
    </p:spTree>
    <p:extLst>
      <p:ext uri="{BB962C8B-B14F-4D97-AF65-F5344CB8AC3E}">
        <p14:creationId xmlns:p14="http://schemas.microsoft.com/office/powerpoint/2010/main" val="6256947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E256E434-797C-495F-9F83-98CE4C8C65CC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7674A7-2BC6-4CF8-8E46-5557201641EF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DC9A84-2795-44C3-B96E-5F3AD881700F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5547F1-AE7C-4F63-949C-E7AC684B5707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3AED0-EACE-40D7-AC8A-4B4D52EA96AD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53BDAA-48D1-40F6-86CB-C8A647581E75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02050B-4746-4C3C-AC71-79D3F472F434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E49FC8-FDE6-4C3C-8A08-4397E54E3947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087A5C-7DF9-4732-BAF7-C9BC48B6A054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6C626D-19FF-42F7-9532-3F0A33348793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22401F-6C3A-4E1B-B02E-A581CE6F4423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70FD74-81C7-466E-83C4-7F20EE2362D2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0537F2-ABF8-4632-8C19-13FD68359C8E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C9F422-0D52-4C57-B710-4DB0E6F765E5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A92ED6-0A00-417E-8806-5AA923840095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60AE4A-413C-4AD6-BE62-F8ACC731E547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C605FD-6B53-469D-9404-1992A699D442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989F0F-5117-4FAE-82A7-1C90298216BA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221C64-6FDB-40F3-A6E7-E9D84B4A15CF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1D4C18-734F-4FEF-8B57-3F98E9D987AB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3CF586-1BAA-4D90-94AA-BB0AEE9AF1AD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E0B9E6-EA0B-4F74-9E36-49BE599D73E1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364E8B-C6EB-4FD3-B492-76221CF9400A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E41345-4938-49FA-85C8-81E1F2C8BE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EB3093-9EA7-4CBA-9383-45DDA3DC5E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339ECCC1-97C3-4BE6-97E6-DC77BB3CF6FA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95B0CBB8-4DE5-47D8-B35F-7E59F1CECEE9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466B03-CBFE-4389-B39F-7623736D43A5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3F04E07-BD47-4FB6-A7AD-1E8078983ACF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98FECB3-CA60-43BA-A3CF-9AD5D7042537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0A4BBE8-C7D6-4F1A-BC90-2FA7EE3D31E2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F4D3708-7A10-4341-B446-FF0ADD374E9A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810BA2E-3554-430C-B934-51CA2E6E487B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DC069B-4E65-45BF-B876-9218266E1ABC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DAY 2 / MODULE 11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DBDB1CB-73CD-40BA-B575-D0E3A3E0080E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6B35BE-21D2-46B1-9F2A-AF445CB5A88C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79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5CA4C36-D9D5-44B4-BA5D-0D6E343E2806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5FB51A6-5025-4775-B4A2-B8A43B064E88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C256D1F-A2FA-4433-A2A8-A472F380F724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0382250" cy="3905250"/>
          </a:xfrm>
          <a:prstGeom prst="roundRect">
            <a:avLst>
              <a:gd name="adj" fmla="val 4390"/>
            </a:avLst>
          </a:prstGeom>
          <a:solidFill>
            <a:srgbClr val="0F1D2E"/>
          </a:solidFill>
          <a:ln w="11430">
            <a:solidFill>
              <a:srgbClr val="0F1D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53DE621-1678-436C-9D7F-06E940BDEDC7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52400" cy="390525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BB5DFDE-C6D1-4A5B-9D5B-E2B8BD0296F5}"/>
              </a:ext>
            </a:extLst>
          </p:cNvPr>
          <p:cNvSpPr>
            <a:spLocks noGrp="1"/>
          </p:cNvSpPr>
          <p:nvPr/>
        </p:nvSpPr>
        <p:spPr>
          <a:xfrm>
            <a:off x="1257300" y="1543050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1D05C9B-B40F-45A6-9CFE-AF3AE27F706A}"/>
              </a:ext>
            </a:extLst>
          </p:cNvPr>
          <p:cNvSpPr>
            <a:spLocks noGrp="1"/>
          </p:cNvSpPr>
          <p:nvPr/>
        </p:nvSpPr>
        <p:spPr>
          <a:xfrm>
            <a:off x="1485900" y="1543050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EFBFE59-0A86-44DF-AAF4-05BD715F6080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3BE18BE-B900-4CC5-8F55-C83329D10A70}"/>
              </a:ext>
            </a:extLst>
          </p:cNvPr>
          <p:cNvSpPr>
            <a:spLocks noGrp="1"/>
          </p:cNvSpPr>
          <p:nvPr/>
        </p:nvSpPr>
        <p:spPr>
          <a:xfrm>
            <a:off x="1257300" y="20383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rPr>
              <a:t>DAY 2 / MODULE 11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E75D57D-2EE3-4D61-85B7-8F39469C00D1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809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Task Notifications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05DA408-347C-4158-8509-D272B87F05DF}"/>
              </a:ext>
            </a:extLst>
          </p:cNvPr>
          <p:cNvSpPr>
            <a:spLocks noGrp="1"/>
          </p:cNvSpPr>
          <p:nvPr/>
        </p:nvSpPr>
        <p:spPr>
          <a:xfrm>
            <a:off x="1257300" y="38481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// fast direct signals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AD8CF47-C340-477B-875B-3DF775EEF1A0}"/>
              </a:ext>
            </a:extLst>
          </p:cNvPr>
          <p:cNvSpPr>
            <a:spLocks noGrp="1"/>
          </p:cNvSpPr>
          <p:nvPr/>
        </p:nvSpPr>
        <p:spPr>
          <a:xfrm>
            <a:off x="8953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NEXT_MODULE</a:t>
            </a:r>
          </a:p>
        </p:txBody>
      </p:sp>
    </p:spTree>
    <p:extLst>
      <p:ext uri="{BB962C8B-B14F-4D97-AF65-F5344CB8AC3E}">
        <p14:creationId xmlns:p14="http://schemas.microsoft.com/office/powerpoint/2010/main" val="2122548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C47D57A-755A-4851-98CE-23E65BFD8D79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F83113-201A-46AD-BED7-4ED334B39248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0C062C-E8EC-4EEE-B048-0C5AF605FF8B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C0E60F-9E3D-4EDD-BC7F-9D6B2941B8A3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73D4EF-7815-4B8D-B0D1-93C5C0360250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3ECF1C-F5F4-41D7-BA18-5309C3DC51D3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7EF343-1280-4E0B-B6CF-8794AE525A33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13F8D-EF8A-455E-83C9-6BCA31D371B3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F7A5D5-1AED-4F0C-A9AA-A6EB26753004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552EC2-5E45-44B7-80ED-12C019647174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D6EF28-9543-465E-82D3-743B842E5076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A72DE5-CCF3-4E52-9D5A-84ACFC19D3F6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F611B7-CC6D-43C7-8754-27B04E701F65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008635-0602-489E-8896-4361B2793E18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06A146-34E8-40D6-BC82-ED057412C797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364B84-4522-4B2A-B79B-C7279726BAFF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66ECE7-2A41-409B-B249-02E1FCE7F4B9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D25D6D-F562-4AAD-9E3F-0E5AEA84321A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AF52B3-EEE1-447B-A91C-CD0DE0DEEF74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D02A1B-0359-4004-9D59-9C34C9959B28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0FC81D-3E35-423B-9BE5-E5C4D21F204A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80EBB9-552D-4B70-B94F-9E18C410BDD4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1BF02D-1B78-4C62-8F19-FA29EE69E4CE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5ADE97-0BE1-4662-88ED-3A2C86A227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BEEE96-23DA-45D1-B57C-5F0B180F34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91FD6A07-90AF-4AFD-AD21-55EDFDD8CC2C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B264C4FF-5EF1-4F79-A4BE-920C5C69870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CE07A2-7D9C-4B4E-B943-A537312274F9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6EB4E56-57A4-4795-9E49-34D518C597C3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0E2E042-2A9C-4209-8A9D-BAC51FB5D2F3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7095E1A-CE8A-4676-8682-8326F40F38BC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2ECC9FC-3949-4104-8657-FF7CBB19345B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E8AE02F-48A4-4BE2-9791-D948068D220C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F8E0FAF-D0D9-43E7-82D1-E0DBC3AD254F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11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654A99C-0F3C-451F-9CE3-022EFCE08DED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ED869BA-81B8-4E1B-A3A2-C02FC596A3D7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80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2FE029E-E859-4FFE-8770-0FEA4AED99DF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E065E51-9144-418F-96B4-747AF580BFD3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019723-8D3D-4009-8934-349AC48FC5FB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 task notification is a direct signal to one task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F54F20-FF74-4972-96AE-99C4E0EE25B1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8BEE228-8DF4-405D-A088-D2DF0F4A69EC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521D45-DB1F-432F-8F54-02615E8C41D5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56C7AE9-29A7-439A-8F02-8100C8D471A0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0D2BFA-D1D7-4D15-AB11-40E5A404761E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Producer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FD9ECDA-8569-4A7D-8B2C-B2975CC93B9C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8F7DCA3-72C1-4DB8-8782-D29A13BB37C3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08E4B7A-77B4-48C2-BBEF-132952E19AC7}"/>
              </a:ext>
            </a:extLst>
          </p:cNvPr>
          <p:cNvSpPr>
            <a:spLocks noGrp="1"/>
          </p:cNvSpPr>
          <p:nvPr/>
        </p:nvSpPr>
        <p:spPr>
          <a:xfrm>
            <a:off x="29908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C6E54D2-D62F-47E5-8F01-D595368C32D6}"/>
              </a:ext>
            </a:extLst>
          </p:cNvPr>
          <p:cNvSpPr>
            <a:spLocks noGrp="1"/>
          </p:cNvSpPr>
          <p:nvPr/>
        </p:nvSpPr>
        <p:spPr>
          <a:xfrm>
            <a:off x="29908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Notify</a:t>
            </a:r>
          </a:p>
        </p:txBody>
      </p:sp>
      <p:cxnSp>
        <p:nvCxnSpPr>
          <p:cNvPr id="113" name="Straight Arrow Connector 112"/>
          <p:cNvCxnSpPr>
            <a:stCxn id="41" idx="3"/>
            <a:endCxn id="45" idx="1"/>
          </p:cNvCxnSpPr>
          <p:nvPr/>
        </p:nvCxnSpPr>
        <p:spPr>
          <a:xfrm>
            <a:off x="24955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07B35B3-BAA9-4609-B042-F62E2EAA0B20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72AD27D-75DF-4293-848F-659B90CD5FA9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6278AC-BBC3-4EC2-94EE-1EB417AABAB4}"/>
              </a:ext>
            </a:extLst>
          </p:cNvPr>
          <p:cNvSpPr>
            <a:spLocks noGrp="1"/>
          </p:cNvSpPr>
          <p:nvPr/>
        </p:nvSpPr>
        <p:spPr>
          <a:xfrm>
            <a:off x="49720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25E8D19-1E90-4B03-94CD-05A57CEDB836}"/>
              </a:ext>
            </a:extLst>
          </p:cNvPr>
          <p:cNvSpPr>
            <a:spLocks noGrp="1"/>
          </p:cNvSpPr>
          <p:nvPr/>
        </p:nvSpPr>
        <p:spPr>
          <a:xfrm>
            <a:off x="49720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Target task</a:t>
            </a:r>
          </a:p>
        </p:txBody>
      </p:sp>
      <p:cxnSp>
        <p:nvCxnSpPr>
          <p:cNvPr id="118" name="Straight Arrow Connector 117"/>
          <p:cNvCxnSpPr>
            <a:stCxn id="45" idx="3"/>
            <a:endCxn id="50" idx="1"/>
          </p:cNvCxnSpPr>
          <p:nvPr/>
        </p:nvCxnSpPr>
        <p:spPr>
          <a:xfrm>
            <a:off x="44767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6282E94D-F6A7-4B5F-B50C-AC2FE3C3B84B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E3047E3-17CF-4A36-A981-E8958AA7706A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7D830D0-D189-4740-A191-E8E2F2E26619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B3B7E1F-B94A-415F-A4C4-F5CE81B60204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Wake</a:t>
            </a:r>
          </a:p>
        </p:txBody>
      </p:sp>
      <p:cxnSp>
        <p:nvCxnSpPr>
          <p:cNvPr id="123" name="Straight Arrow Connector 122"/>
          <p:cNvCxnSpPr>
            <a:stCxn id="50" idx="3"/>
            <a:endCxn id="55" idx="1"/>
          </p:cNvCxnSpPr>
          <p:nvPr/>
        </p:nvCxnSpPr>
        <p:spPr>
          <a:xfrm>
            <a:off x="64579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356B8A70-E63B-46E3-89D6-3C1AD350230C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4754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6F58D1B-C679-472B-876A-298653968683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66675"/>
          </a:xfrm>
          <a:prstGeom prst="rect">
            <a:avLst/>
          </a:prstGeom>
          <a:solidFill>
            <a:srgbClr val="475467"/>
          </a:solidFill>
          <a:ln w="0">
            <a:noFill/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15EC434-4B70-4FDD-8F16-AB3691615533}"/>
              </a:ext>
            </a:extLst>
          </p:cNvPr>
          <p:cNvSpPr>
            <a:spLocks noGrp="1"/>
          </p:cNvSpPr>
          <p:nvPr/>
        </p:nvSpPr>
        <p:spPr>
          <a:xfrm>
            <a:off x="89344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ED8D0FA-5181-4DD0-BE06-7C5D000988FF}"/>
              </a:ext>
            </a:extLst>
          </p:cNvPr>
          <p:cNvSpPr>
            <a:spLocks noGrp="1"/>
          </p:cNvSpPr>
          <p:nvPr/>
        </p:nvSpPr>
        <p:spPr>
          <a:xfrm>
            <a:off x="89344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cxnSp>
        <p:nvCxnSpPr>
          <p:cNvPr id="128" name="Straight Arrow Connector 127"/>
          <p:cNvCxnSpPr>
            <a:stCxn id="55" idx="3"/>
            <a:endCxn id="60" idx="1"/>
          </p:cNvCxnSpPr>
          <p:nvPr/>
        </p:nvCxnSpPr>
        <p:spPr>
          <a:xfrm>
            <a:off x="84391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68678417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D4FE63DB-69A5-4EDD-8A9D-B6BA2ACB39A4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05F18D-FEC1-4237-8997-514295863C4B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396DD3-702C-4935-BE64-804C82822FEF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C2CB78-5C9B-4CA6-AF9A-ADBA60FC56A7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2E2390-DEC9-4C40-AD5E-5CB8D28F1DBC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2110D4-E6F9-4A90-9412-BE4C0E6B6FC5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8E44AB-D08C-48EC-A9A1-41C20F783084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51A391-914D-48B7-B3DA-27B4CA16ECBB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79D9A4-26D9-446D-97CD-1025286BBBD0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174694-6270-40E3-AC37-DFA52DABBC99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B4B6B8-F25A-4F50-9B77-DB62A0CBB505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02035-D216-453A-8074-29B615EB7E48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0E812E-2121-4540-B647-72BC96E53FA7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637B42-104C-40D4-B5AB-85E871B489F7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BB22E0-A83F-4B0A-A7C9-898A42289493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368EC8-31C4-42A5-A3B7-325B93BE90EC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FB6532-E8C7-4878-9B40-4C8F8FEA2F92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6CD168-7365-4F98-B2F4-32DC29C1E3A1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72FC16-D862-41E6-B8A9-CFDD9AE5D7E0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5898FC-EFB0-42DD-9AFB-26C63B24269E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A16156-04A0-4038-829E-02BA37D0289A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8FC3C2-BFEB-4AB4-932A-FA2FE445EA29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0E85C5-F8E1-4375-8D60-B80BB8CB2028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96B5BB-AF6B-4A32-BE09-2F65DDFA5B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5DA74D-0201-4D6E-A254-5DC01B613D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33A09414-6B7E-465A-9ECC-4C991913CFC1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C8303FB-62EC-40ED-85C1-5671DCC7357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3728FF-108F-4E02-9F0B-480DBEE3AF17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B38F9B-2C74-4441-8944-1B0E8CE14071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CE7B462-055C-4EE2-98FB-28F88E171D58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46F8ADE-CD9F-4862-84F8-48757F64C575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210201D-E4A4-4169-9181-4BAD07AD4054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8D410E6-7997-46D5-BD9A-860C8A57726A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2FB44E-DFA7-48DC-9319-4F3A4811A988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11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4F5EBF2-6455-48F7-8CD4-C678DA8CFC58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0234C5B-AB56-472C-9EFD-0B1927C79F7A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81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E419670-668C-406A-B469-66C9C457C4EC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035D93D-A112-4FB9-A67D-9D78BB9A9FCF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E32BD3-F3E3-4AF0-BC2E-5D8B1C2542C5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Choose the lightest communication that fits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B4CAC0C-3D6E-4E2E-85B2-ED9FBAFCF478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B7EADD5-3618-4DB8-B32E-EC2D929D33C8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0287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9DCD29-B08B-41BA-8967-5DC960741B4B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66675" cy="666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5B4E060-65FA-4EED-B839-08CB200041F1}"/>
              </a:ext>
            </a:extLst>
          </p:cNvPr>
          <p:cNvSpPr>
            <a:spLocks noGrp="1"/>
          </p:cNvSpPr>
          <p:nvPr/>
        </p:nvSpPr>
        <p:spPr>
          <a:xfrm>
            <a:off x="1238250" y="23622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Queue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E186E32-FBE6-486D-A85E-D3C3848944BB}"/>
              </a:ext>
            </a:extLst>
          </p:cNvPr>
          <p:cNvSpPr>
            <a:spLocks noGrp="1"/>
          </p:cNvSpPr>
          <p:nvPr/>
        </p:nvSpPr>
        <p:spPr>
          <a:xfrm>
            <a:off x="3905250" y="23622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when you must send data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25AB9C0-93EA-48AD-8C92-6C665CCE547A}"/>
              </a:ext>
            </a:extLst>
          </p:cNvPr>
          <p:cNvSpPr>
            <a:spLocks noGrp="1"/>
          </p:cNvSpPr>
          <p:nvPr/>
        </p:nvSpPr>
        <p:spPr>
          <a:xfrm>
            <a:off x="952500" y="3086100"/>
            <a:ext cx="10287000" cy="66675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2094D6A-B422-480A-9780-EE9EB0691342}"/>
              </a:ext>
            </a:extLst>
          </p:cNvPr>
          <p:cNvSpPr>
            <a:spLocks noGrp="1"/>
          </p:cNvSpPr>
          <p:nvPr/>
        </p:nvSpPr>
        <p:spPr>
          <a:xfrm>
            <a:off x="952500" y="3086100"/>
            <a:ext cx="66675" cy="666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0D263B6-8529-4916-8389-91EC60812DDF}"/>
              </a:ext>
            </a:extLst>
          </p:cNvPr>
          <p:cNvSpPr>
            <a:spLocks noGrp="1"/>
          </p:cNvSpPr>
          <p:nvPr/>
        </p:nvSpPr>
        <p:spPr>
          <a:xfrm>
            <a:off x="1238250" y="3257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Semaphore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CAF6392-907D-42D7-A660-17B1AAF64DF0}"/>
              </a:ext>
            </a:extLst>
          </p:cNvPr>
          <p:cNvSpPr>
            <a:spLocks noGrp="1"/>
          </p:cNvSpPr>
          <p:nvPr/>
        </p:nvSpPr>
        <p:spPr>
          <a:xfrm>
            <a:off x="3905250" y="32575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when you need an event token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F78C5A5-9571-490F-BF62-1F0F1A327C9D}"/>
              </a:ext>
            </a:extLst>
          </p:cNvPr>
          <p:cNvSpPr>
            <a:spLocks noGrp="1"/>
          </p:cNvSpPr>
          <p:nvPr/>
        </p:nvSpPr>
        <p:spPr>
          <a:xfrm>
            <a:off x="952500" y="3981450"/>
            <a:ext cx="10287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414E195-DB91-4DA3-821D-404CEC620EC0}"/>
              </a:ext>
            </a:extLst>
          </p:cNvPr>
          <p:cNvSpPr>
            <a:spLocks noGrp="1"/>
          </p:cNvSpPr>
          <p:nvPr/>
        </p:nvSpPr>
        <p:spPr>
          <a:xfrm>
            <a:off x="952500" y="3981450"/>
            <a:ext cx="66675" cy="666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B5A0E2B-D57A-4168-911D-582D67D9EAB3}"/>
              </a:ext>
            </a:extLst>
          </p:cNvPr>
          <p:cNvSpPr>
            <a:spLocks noGrp="1"/>
          </p:cNvSpPr>
          <p:nvPr/>
        </p:nvSpPr>
        <p:spPr>
          <a:xfrm>
            <a:off x="1238250" y="41529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Mutex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1620AB6-0E0D-4D2D-9BA5-C89CC7444846}"/>
              </a:ext>
            </a:extLst>
          </p:cNvPr>
          <p:cNvSpPr>
            <a:spLocks noGrp="1"/>
          </p:cNvSpPr>
          <p:nvPr/>
        </p:nvSpPr>
        <p:spPr>
          <a:xfrm>
            <a:off x="3905250" y="415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when a shared resource needs ownership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EB06B4E-BB78-4276-9DFC-9C4D3EDF04CF}"/>
              </a:ext>
            </a:extLst>
          </p:cNvPr>
          <p:cNvSpPr>
            <a:spLocks noGrp="1"/>
          </p:cNvSpPr>
          <p:nvPr/>
        </p:nvSpPr>
        <p:spPr>
          <a:xfrm>
            <a:off x="952500" y="4876800"/>
            <a:ext cx="10287000" cy="66675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84672F8-9667-490B-9B18-B9ECF5F136CD}"/>
              </a:ext>
            </a:extLst>
          </p:cNvPr>
          <p:cNvSpPr>
            <a:spLocks noGrp="1"/>
          </p:cNvSpPr>
          <p:nvPr/>
        </p:nvSpPr>
        <p:spPr>
          <a:xfrm>
            <a:off x="952500" y="4876800"/>
            <a:ext cx="66675" cy="666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72181D1-CFBB-4B61-9847-2084A74CA939}"/>
              </a:ext>
            </a:extLst>
          </p:cNvPr>
          <p:cNvSpPr>
            <a:spLocks noGrp="1"/>
          </p:cNvSpPr>
          <p:nvPr/>
        </p:nvSpPr>
        <p:spPr>
          <a:xfrm>
            <a:off x="1238250" y="50482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Notification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DFA04F7-4498-42CA-AE86-597D7D89D655}"/>
              </a:ext>
            </a:extLst>
          </p:cNvPr>
          <p:cNvSpPr>
            <a:spLocks noGrp="1"/>
          </p:cNvSpPr>
          <p:nvPr/>
        </p:nvSpPr>
        <p:spPr>
          <a:xfrm>
            <a:off x="3905250" y="50482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for fast direct task signalling</a:t>
            </a:r>
          </a:p>
        </p:txBody>
      </p:sp>
    </p:spTree>
    <p:extLst>
      <p:ext uri="{BB962C8B-B14F-4D97-AF65-F5344CB8AC3E}">
        <p14:creationId xmlns:p14="http://schemas.microsoft.com/office/powerpoint/2010/main" val="9687135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0954CF5C-272B-4C9B-B8EA-C17BE9E07A2D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6EE6C7-CC3B-4B86-AAE5-2965490ED603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FF0BCF-B0E6-4380-97A2-5E1EC0EB8331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27AB95-73A5-49D9-A7CE-4C7FAF50F129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D00D23-8F15-49A2-90DA-8AD61D55B24D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C4018D-5CBF-4F0C-BE37-F8636398EAB6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50E5C9-2F05-4471-B460-6EEFB6873370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0E8022-1492-483E-8E9A-32801749D5F3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0462F8-5F80-43C7-849D-AB33C5BC7819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5561A7-9F24-429D-9BAA-66BB89E27365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C5D633-7D66-4C15-A4F8-F444A43BAB95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8A2A9E-3BA6-4C84-B2F3-13FB4A5CE503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15C3A9-2D2A-4E53-AB25-AADE84E7AFED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237F8-F6C7-431D-B27D-F1D057AB4871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8F366F-7958-4FA3-A0DC-059FEFE71231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45E9C3-9E8D-4AEC-BF26-4374EA77F245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B0E52D-70C0-4D43-A726-E287F9E2B7C4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B960DB-5CB3-411A-8D88-2F060678BFA7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BA055A-FC12-4DA5-9B95-5E6462EDA249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9EF923-8840-474D-B0A2-3BB38566B740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154091-776C-48CF-8C48-CFCBF7E5ED80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DE79BF-EDAB-4CD6-82A0-50179F7F90B0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15EFF3-4EAE-47E7-B4FC-BD6586ACA636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3A814E-D033-4857-A236-B952CE70F3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E1E502-34A1-47CF-9F80-A52C0387AF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870689C-9E17-4220-95A7-1B9C01C3BAE0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22A38DA7-CA1B-4E76-8C55-EE56689CE838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46003D-EFCB-4969-AE63-87152C9139C8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080269-8CBB-462F-B1AE-1CDB3B1FFA21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B3780F7-3544-40B7-BF5D-0F5C47D102F2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95AA572-0F51-4713-9B14-E560577E1592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BD26FC2-012E-42D0-A8F5-CE0BDDD230A2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7E8BA6C-4EBC-416A-A0E3-A9644B60B859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E6DD8AA-AB30-49A1-845C-A2557D59CF2D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MODULE 11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6DE840-163F-43F1-B43D-22DED1D121F2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AF0CF35-CF92-44F6-9870-E4517771FB2E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82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78BEEF3-CA37-4DB1-9198-DC91B24D18D8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D98A6FD-4A2E-4425-AA8F-CF9F3B8B4E63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18C62B8-7631-41EE-A4B9-827CA8B214D8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Notifications can update a display without a queue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F900890-12A2-4DBC-9C4B-9ED82E09624C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1C15FC8-9E47-4DD8-A442-69D12D1CFDBD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6705600" cy="3562350"/>
          </a:xfrm>
          <a:prstGeom prst="roundRect">
            <a:avLst>
              <a:gd name="adj" fmla="val 3209"/>
            </a:avLst>
          </a:prstGeom>
          <a:solidFill>
            <a:srgbClr val="122033"/>
          </a:solidFill>
          <a:ln w="11430">
            <a:solidFill>
              <a:srgbClr val="1220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DB28A3C-6D42-4DBC-9E8C-DD15D5C083BE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6705600" cy="419100"/>
          </a:xfrm>
          <a:prstGeom prst="rect">
            <a:avLst/>
          </a:prstGeom>
          <a:solidFill>
            <a:srgbClr val="1D2D42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21F2E66-F0C0-4922-8ECA-FC9B3F57D3CF}"/>
              </a:ext>
            </a:extLst>
          </p:cNvPr>
          <p:cNvSpPr>
            <a:spLocks noGrp="1"/>
          </p:cNvSpPr>
          <p:nvPr/>
        </p:nvSpPr>
        <p:spPr>
          <a:xfrm>
            <a:off x="1104900" y="225742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F5A4095-BC23-4161-9433-78EFF7B1C086}"/>
              </a:ext>
            </a:extLst>
          </p:cNvPr>
          <p:cNvSpPr>
            <a:spLocks noGrp="1"/>
          </p:cNvSpPr>
          <p:nvPr/>
        </p:nvSpPr>
        <p:spPr>
          <a:xfrm>
            <a:off x="1333500" y="225742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D2A407F-40D0-455D-967B-A2F2B9A0E8B2}"/>
              </a:ext>
            </a:extLst>
          </p:cNvPr>
          <p:cNvSpPr>
            <a:spLocks noGrp="1"/>
          </p:cNvSpPr>
          <p:nvPr/>
        </p:nvSpPr>
        <p:spPr>
          <a:xfrm>
            <a:off x="1562100" y="225742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F98A08B-BCE1-47D4-A275-CBBD2D94E6EB}"/>
              </a:ext>
            </a:extLst>
          </p:cNvPr>
          <p:cNvSpPr>
            <a:spLocks noGrp="1"/>
          </p:cNvSpPr>
          <p:nvPr/>
        </p:nvSpPr>
        <p:spPr>
          <a:xfrm>
            <a:off x="1924050" y="22574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notify_lcd.cpp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9BBF1EA-BCC8-4B21-9697-52624A5CA88E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5905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xTaskNotifyGive(displayTaskHandle);</a:t>
            </a:r>
          </a:p>
          <a:p>
            <a:endParaRPr sz="1725" b="0">
              <a:solidFill>
                <a:srgbClr val="D1FAE5"/>
              </a:solidFill>
              <a:latin typeface="Cascadia Mono"/>
              <a:ea typeface="Cascadia Mono"/>
              <a:cs typeface="Cascadia Mono"/>
            </a:endParaRP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ulTaskNotifyTake(pdTRUE, portMAX_DELAY);</a:t>
            </a:r>
          </a:p>
          <a:p>
            <a:pPr>
              <a:def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D1FAE5"/>
                </a:solidFill>
                <a:latin typeface="Cascadia Mono"/>
                <a:ea typeface="Cascadia Mono"/>
                <a:cs typeface="Cascadia Mono"/>
              </a:rPr>
              <a:t>updateDisplay();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953D39E-80F6-415F-83ED-F8C86EB69279}"/>
              </a:ext>
            </a:extLst>
          </p:cNvPr>
          <p:cNvSpPr>
            <a:spLocks noGrp="1"/>
          </p:cNvSpPr>
          <p:nvPr/>
        </p:nvSpPr>
        <p:spPr>
          <a:xfrm>
            <a:off x="7953375" y="2114550"/>
            <a:ext cx="3048000" cy="356235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B5ABDEB-4EEB-4B1D-B776-EAB3B8FDA8AF}"/>
              </a:ext>
            </a:extLst>
          </p:cNvPr>
          <p:cNvSpPr>
            <a:spLocks noGrp="1"/>
          </p:cNvSpPr>
          <p:nvPr/>
        </p:nvSpPr>
        <p:spPr>
          <a:xfrm>
            <a:off x="7953375" y="2114550"/>
            <a:ext cx="3048000" cy="762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A7C5BC7-6E33-43A6-8B33-A2D9321CE1D7}"/>
              </a:ext>
            </a:extLst>
          </p:cNvPr>
          <p:cNvSpPr>
            <a:spLocks noGrp="1"/>
          </p:cNvSpPr>
          <p:nvPr/>
        </p:nvSpPr>
        <p:spPr>
          <a:xfrm>
            <a:off x="8248650" y="2571750"/>
            <a:ext cx="23812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Direct to one task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Very low overhead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Can count events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650">
                <a:solidFill>
                  <a:srgbClr val="172033"/>
                </a:solidFill>
                <a:latin typeface="Aptos"/>
                <a:ea typeface="Aptos"/>
                <a:cs typeface="Aptos"/>
              </a:rPr>
              <a:t>Not for complex data</a:t>
            </a:r>
          </a:p>
        </p:txBody>
      </p:sp>
    </p:spTree>
    <p:extLst>
      <p:ext uri="{BB962C8B-B14F-4D97-AF65-F5344CB8AC3E}">
        <p14:creationId xmlns:p14="http://schemas.microsoft.com/office/powerpoint/2010/main" val="152745319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88C1489F-7C0B-408B-B521-C1C30E091C70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FDD6E3-5959-428F-97F5-3FC2D8E61EF3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8912DB-3BF3-4FCA-A1E0-7BF38953BEE3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4ECAA6-868C-4964-888B-1D66621FDC07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27D76-966F-4E82-A29A-83634AB8AE6A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D72D08-99E9-4649-9397-DAA5E8065723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2693F3-DEFD-4178-95E2-3BA2BDE72BCD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FBCD24-5BE7-4C94-9D0C-F2EF89CF799D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B8C9AB-3A42-42D5-852B-32F76BB6AEE5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7BC6C2-4291-4DF0-A246-F2FCFDA4A612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6C3707-F2FF-4D64-AE01-4700AC0D5F46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51EDDE-4D7F-4A6A-B4F3-75EA9423DBD3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39EDCB-24FE-4048-9892-13BA6613971C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50033B-50DA-4F49-B32F-947D804E6D4A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2D7005-9021-4BAF-9856-CDC588C0F365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5D6AD0-DCDF-4527-8A9E-85CDD1729A23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910569-9231-4B07-A2C3-5B25F674917D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9CA4DC-4495-446E-9BE7-4AC42FAD9D5A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26CD79-8A13-420E-9339-6736BC7F31AF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7B8867-06A1-41D8-9837-CBD646957F6C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80FBF9-AFBD-4698-B949-924956559657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924CFB-B17F-4719-94E5-451847B966F5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F671E4-8FEC-471B-BBE0-43CEB214A742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C84EF8-3EBF-4E4E-B441-19061D88F3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3497E3-3B98-4181-9F38-97290737B4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2A4BA2DB-3155-42A8-87D6-7AC78CC43548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35C3F4A7-10A4-4337-A3A9-154BDD9D2A53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69F44A-A2B2-4FB3-97E7-038F32C280C0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5643BE-B0BD-43E6-B307-A7530EC4C417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C280C25-8F51-4353-9E86-59D36881DECE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4286F48-A741-4E86-8464-887A0E902337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2626075-0E88-4029-A0FF-872DE37526BE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D102DE7-57B0-4B1B-9AD0-49D69AD8511E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2466975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98842D-C870-4C67-B3D2-D255DFF94762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22002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TASK ASSIGNED // HANDS-ON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66B42DC-CC5A-4C67-BEE4-5E6B47005F54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F274A74-49BB-466F-AC81-9FDD23CA5FE3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83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E77E013-8F17-4C1C-B4AE-CF2A1329111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39F9A7A-A62B-4723-9418-ACD079301033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519046E-D2D5-4E8E-94C1-6A9B6F4374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451D788-89D1-41DE-A838-ED9973B7EE96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&gt;&gt; TASK ASSIGNED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12F2BA-76B7-4AFE-89D8-5B1CBEA40008}"/>
              </a:ext>
            </a:extLst>
          </p:cNvPr>
          <p:cNvSpPr>
            <a:spLocks noGrp="1"/>
          </p:cNvSpPr>
          <p:nvPr/>
        </p:nvSpPr>
        <p:spPr>
          <a:xfrm>
            <a:off x="8915400" y="266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HANDS_ON_LAB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11F964-5669-4BB1-B621-74BD40155F8D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3150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Notify the LCD task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5B0BF5C-7BF3-435D-A856-49693973BAFB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2F7D589-3B20-4E16-A590-58D71D0695E0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4000500"/>
          </a:xfrm>
          <a:prstGeom prst="roundRect">
            <a:avLst>
              <a:gd name="adj" fmla="val 4667"/>
            </a:avLst>
          </a:prstGeom>
          <a:solidFill>
            <a:srgbClr val="F6F9FC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D74DF5D-D1DA-4700-AF58-A0E1144C0612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0485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11FA447-0658-4392-84BF-0A64CD4B9695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28575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0BFEDE9-048D-48E6-BFF2-44F501414A1A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OBJECTIVE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406C247-8FF4-4AC5-B4F0-716DABB007FD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Trigger LCD updates through direct task notifications.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1AA1FA9-236D-43B8-B22C-7B350F40F003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STEPS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F85856F-A628-4EF3-9B22-85BC70632F01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096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Save display task handle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Notify from input task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Display task waits</a:t>
            </a:r>
          </a:p>
          <a:p>
            <a:pPr marL="24" indent="-14">
              <a:spcAft>
                <a:spcPts val="8"/>
              </a:spcAft>
              <a:buChar char="&gt;"/>
            </a:pPr>
            <a:r>
              <a:rPr sz="1725">
                <a:solidFill>
                  <a:srgbClr val="172033"/>
                </a:solidFill>
                <a:latin typeface="Aptos"/>
                <a:ea typeface="Aptos"/>
                <a:cs typeface="Aptos"/>
              </a:rPr>
              <a:t>Update only when notified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E4029ED-B3CB-4A66-8FDA-636B3559EA5E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EXPECTED OUTPUT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B5F713C-B101-44D2-B4B0-27F511032C16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LCD updates on direct notification.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9041649-7288-4C2F-A78B-A50A997B64A1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CHALLENGE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2389727-C3F5-4681-AB07-82BC510385B6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Replace semaphore with notification and compare code.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A151E3F-ED13-41C0-AEDD-A984CB1266CD}"/>
              </a:ext>
            </a:extLst>
          </p:cNvPr>
          <p:cNvSpPr>
            <a:spLocks noGrp="1"/>
          </p:cNvSpPr>
          <p:nvPr/>
        </p:nvSpPr>
        <p:spPr>
          <a:xfrm>
            <a:off x="8591550" y="2152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HARDWARE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B0EF4173-E0D1-408A-8E64-48773E68044F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2286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A68CC3C-0858-4585-9DC4-39D0B335BE52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09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I2C LCD</a:t>
            </a:r>
          </a:p>
          <a:p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Button</a:t>
            </a:r>
          </a:p>
        </p:txBody>
      </p:sp>
    </p:spTree>
    <p:extLst>
      <p:ext uri="{BB962C8B-B14F-4D97-AF65-F5344CB8AC3E}">
        <p14:creationId xmlns:p14="http://schemas.microsoft.com/office/powerpoint/2010/main" val="186592105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04AEAE2E-28A8-4E2D-9912-29D9AB2EAB5E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826A34-395F-490E-8999-B7CEAE94B7D8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9C9DB7-5091-4C2B-AEF6-1879CB0304BB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64032E-5819-4F90-B913-CAE4E23D632F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0AA801-E48C-488F-9EB3-368C446110A2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7D9CC0-829B-46B6-9AB0-EF1AB047FEDE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B3A975-5973-41CA-AF3C-A1A9B9437420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42DCA-86D6-42A3-9DC7-17CD6AD38329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E03FA0-0AE1-46B1-BCB0-E7CDA53F2C5D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EC2956-D13E-4D55-90EB-2DB198D6DB67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626784-432C-45EF-92EE-1636D369AC21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698F96-A30C-494E-920C-3F5A25162E40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954C35-7C4E-4AA4-85AF-DF152F90D5BC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360EA1-5969-4810-92F6-116B886A4F0E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CDDBCB-57AD-4439-BB34-18A785C45DD5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657322-C536-4994-948B-E192770C6EB8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A05CCA-52DB-4CB4-93F8-98D091A93758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A39A1F-241E-4B73-B1A9-CAC4E5BAFF88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F07227-7E57-4A7C-8F35-C4050BEFB2F9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DD6911-CA31-44EB-9E5E-BD386A0E79C9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B6A3A0-8D9E-4CDF-847A-AA9C770398A6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086FCE-0548-4E6A-BF45-0297BD4A689A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D9B314-0818-4F1D-A444-6D3F484E2AA3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BC9142-3A71-4B28-A902-443D5FC275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4703F7-D5FB-4656-A295-AD17511BA1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DAB1F758-0CD7-442E-A5BC-6F9D2CA803A7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8B102F0D-2597-44CF-BB64-84942883CC45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9DB337-70E1-4384-B942-E150BF0F38B7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9C1B46-C056-4CA3-B94C-75E058C19CB5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1C6E035-9057-459D-8AE8-B45638482CC0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6B7ACE8-45E3-4F24-95A6-C50992C22A09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E4DB5F4-966E-4982-B1EC-4BFCC323113F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CD67268-98C1-48A7-80AC-00D53DBC435F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5219E5C-007C-405B-9036-E73C247D5D25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FINAL BUILD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14E8CB2-134E-4BEB-84F5-FB9F7301EE7D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699117D-C133-4118-8E6B-C00BD830C491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84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B3FAD0A-E435-457D-9F78-588827B458D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8714FDD-6F2B-4878-831F-9FAF213B5E66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B006A3F-1DF8-412A-8C25-C091CCB2E1AF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0382250" cy="3905250"/>
          </a:xfrm>
          <a:prstGeom prst="roundRect">
            <a:avLst>
              <a:gd name="adj" fmla="val 4390"/>
            </a:avLst>
          </a:prstGeom>
          <a:solidFill>
            <a:srgbClr val="0F1D2E"/>
          </a:solidFill>
          <a:ln w="11430">
            <a:solidFill>
              <a:srgbClr val="0F1D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56A878-88DE-4FAF-A0FC-6F01AB103F3D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152400" cy="39052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000A1A9-36C9-4480-A3BF-E4BE4A3DCE7C}"/>
              </a:ext>
            </a:extLst>
          </p:cNvPr>
          <p:cNvSpPr>
            <a:spLocks noGrp="1"/>
          </p:cNvSpPr>
          <p:nvPr/>
        </p:nvSpPr>
        <p:spPr>
          <a:xfrm>
            <a:off x="1257300" y="1543050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811137C-1ED7-4B8B-B565-A3DDBDAF7E77}"/>
              </a:ext>
            </a:extLst>
          </p:cNvPr>
          <p:cNvSpPr>
            <a:spLocks noGrp="1"/>
          </p:cNvSpPr>
          <p:nvPr/>
        </p:nvSpPr>
        <p:spPr>
          <a:xfrm>
            <a:off x="1485900" y="1543050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27D0396-B6D9-4006-B8DE-BA0A64CFFEF5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D586DFC-CD1B-446E-96E2-644C0EA04F43}"/>
              </a:ext>
            </a:extLst>
          </p:cNvPr>
          <p:cNvSpPr>
            <a:spLocks noGrp="1"/>
          </p:cNvSpPr>
          <p:nvPr/>
        </p:nvSpPr>
        <p:spPr>
          <a:xfrm>
            <a:off x="1257300" y="20383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A6B0C0"/>
                </a:solidFill>
                <a:latin typeface="Cascadia Mono"/>
                <a:ea typeface="Cascadia Mono"/>
                <a:cs typeface="Cascadia Mono"/>
              </a:rPr>
              <a:t>FINAL BUILD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EC9303A-33F3-4B88-9D4D-24C5F4AF0937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809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Integrated FreeRTOS Application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7BEB550-267E-4767-AB13-6EA1E0B63E80}"/>
              </a:ext>
            </a:extLst>
          </p:cNvPr>
          <p:cNvSpPr>
            <a:spLocks noGrp="1"/>
          </p:cNvSpPr>
          <p:nvPr/>
        </p:nvSpPr>
        <p:spPr>
          <a:xfrm>
            <a:off x="1257300" y="38481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A7F3D0"/>
                </a:solidFill>
                <a:latin typeface="Cascadia Mono"/>
                <a:ea typeface="Cascadia Mono"/>
                <a:cs typeface="Cascadia Mono"/>
              </a:rPr>
              <a:t>// every concept earns its place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5A1BD4-1C6F-4385-9E37-773C28D55C19}"/>
              </a:ext>
            </a:extLst>
          </p:cNvPr>
          <p:cNvSpPr>
            <a:spLocks noGrp="1"/>
          </p:cNvSpPr>
          <p:nvPr/>
        </p:nvSpPr>
        <p:spPr>
          <a:xfrm>
            <a:off x="8953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NEXT_MODULE</a:t>
            </a:r>
          </a:p>
        </p:txBody>
      </p:sp>
    </p:spTree>
    <p:extLst>
      <p:ext uri="{BB962C8B-B14F-4D97-AF65-F5344CB8AC3E}">
        <p14:creationId xmlns:p14="http://schemas.microsoft.com/office/powerpoint/2010/main" val="202240245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4AA27D9-1F0D-4084-81A1-1334A74B8490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06B708-80A9-4151-921A-63B19B8EAD36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1F47BB-7504-487D-A1CF-563A97EAD062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0987D6-E226-47E6-B558-308E7BB99BC1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1FF285-3CAC-40BF-9D36-4B8169EFF038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CAB9BC-D8B7-418D-905D-8FB76A27609E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BE8C4-B4DE-46FB-AF55-76EEC8431ADE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8EE2AD-AD02-4522-93EE-E733039293FE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7C1662-0ED6-4720-B9C8-3B3AA259AE9C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7584F9-0650-48E7-9436-DB817649C96F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5083B-9069-46E9-B7A8-B86432D63B79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8B31B8-B150-4167-BFA6-3B0BF8EE6445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39F665-EC6C-44A5-95F7-D276DCA2ED7E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BDDD9A-66D2-46A1-8CA0-38C4DA29EC27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D69C1D-15F6-45C5-9014-58552066BC6D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418DC1-D09C-41DE-BC5F-D58B94408E24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170F27-A155-4C32-A5FC-5FEF43ECB0E9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F7B3F6-646B-4574-B2F3-B5BD34972B02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31C9DB-3A0D-4A65-95CB-9097889F8744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B582E0-A515-498F-915A-491CFCCFFC3C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BE4B3A-23EA-4183-93C9-1486589609FE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CF9F6F-2EAC-4AB5-921C-6ADD6781A20E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7810A7-7A9A-438D-A603-2AFE91C38FE7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7B8CB6-4874-4309-9A33-ABE47E37AF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F84E43-1575-4865-A159-4A9F7EA007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CC2416E4-A8E8-4A62-A941-5DF7538288CD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0C1014CB-83C2-4607-9F5F-9F003115892C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03A561-9C06-4B6A-BE68-13187A28404D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245CB9-89DF-407F-AE6B-EBC037B4C49F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15DD4FB-83E2-4339-A50A-8617515956BE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3CE0420-D447-4B34-BF3B-779A4BDABA03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1EBFC9-493C-4110-9D11-B00B8DA6B546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3A1AA1F-39CE-4072-8743-34F6C0694FB5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0D68DD6-3394-46D7-B517-D62A3C463EBE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FINAL BUILD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8C639F3-28FC-43D9-8A75-FA6BEDBD3438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AE33428-2C04-40CC-8D1A-A61F9432BE0D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85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1BAABF9-84CA-4AFE-95A5-3192B0375CF8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C63E892-9219-4B7E-9DFE-07E964AEFDF0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28D93B6-A188-43A2-A778-6E8F5035A861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final app is a network of small jobs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FF864AD-7B82-491F-9471-0E406CF7C089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F70B094-D4C5-4A3C-BBF8-738A14BC0D34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8548A9-0936-44E0-A58C-6382BC0B7D21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397DF61-8C1E-4055-8FD5-402F06532C87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D972E3-118A-49A2-A366-133F7BFFB8B7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Sensors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A5AAEC2-9DBC-4703-9AD5-469CCD233F73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DD707C6-6CF6-4080-BF8F-CA98C70BB9F4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830B5D-8A64-43C0-A310-62521601F3B3}"/>
              </a:ext>
            </a:extLst>
          </p:cNvPr>
          <p:cNvSpPr>
            <a:spLocks noGrp="1"/>
          </p:cNvSpPr>
          <p:nvPr/>
        </p:nvSpPr>
        <p:spPr>
          <a:xfrm>
            <a:off x="29908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80A6E51-F0CE-456E-ACAA-1037BFB7AFEB}"/>
              </a:ext>
            </a:extLst>
          </p:cNvPr>
          <p:cNvSpPr>
            <a:spLocks noGrp="1"/>
          </p:cNvSpPr>
          <p:nvPr/>
        </p:nvSpPr>
        <p:spPr>
          <a:xfrm>
            <a:off x="29908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Queue</a:t>
            </a:r>
          </a:p>
        </p:txBody>
      </p:sp>
      <p:cxnSp>
        <p:nvCxnSpPr>
          <p:cNvPr id="113" name="Straight Arrow Connector 112"/>
          <p:cNvCxnSpPr>
            <a:stCxn id="41" idx="3"/>
            <a:endCxn id="45" idx="1"/>
          </p:cNvCxnSpPr>
          <p:nvPr/>
        </p:nvCxnSpPr>
        <p:spPr>
          <a:xfrm>
            <a:off x="24955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DE157CB-1C3E-4F96-8362-A2F803B9ADB8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EDFA642-61DC-439C-8C15-D610FF542D98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091B65D-6CC0-4311-822F-9F61FAC88E77}"/>
              </a:ext>
            </a:extLst>
          </p:cNvPr>
          <p:cNvSpPr>
            <a:spLocks noGrp="1"/>
          </p:cNvSpPr>
          <p:nvPr/>
        </p:nvSpPr>
        <p:spPr>
          <a:xfrm>
            <a:off x="49720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B4FF015-F8E8-496C-B78F-A0E46947CA22}"/>
              </a:ext>
            </a:extLst>
          </p:cNvPr>
          <p:cNvSpPr>
            <a:spLocks noGrp="1"/>
          </p:cNvSpPr>
          <p:nvPr/>
        </p:nvSpPr>
        <p:spPr>
          <a:xfrm>
            <a:off x="49720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Controller</a:t>
            </a:r>
          </a:p>
        </p:txBody>
      </p:sp>
      <p:cxnSp>
        <p:nvCxnSpPr>
          <p:cNvPr id="118" name="Straight Arrow Connector 117"/>
          <p:cNvCxnSpPr>
            <a:stCxn id="45" idx="3"/>
            <a:endCxn id="50" idx="1"/>
          </p:cNvCxnSpPr>
          <p:nvPr/>
        </p:nvCxnSpPr>
        <p:spPr>
          <a:xfrm>
            <a:off x="44767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6F324D2-C58A-4844-BCC7-4D458D7B2648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AA4F1C6-F60C-4CC0-81F4-C495484C0BA2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9D20B7-5E57-4A60-930B-F1E3D22F9C95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B84D571-855F-489F-8691-F79EB7CF59ED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LCD mutex</a:t>
            </a:r>
          </a:p>
        </p:txBody>
      </p:sp>
      <p:cxnSp>
        <p:nvCxnSpPr>
          <p:cNvPr id="123" name="Straight Arrow Connector 122"/>
          <p:cNvCxnSpPr>
            <a:stCxn id="50" idx="3"/>
            <a:endCxn id="55" idx="1"/>
          </p:cNvCxnSpPr>
          <p:nvPr/>
        </p:nvCxnSpPr>
        <p:spPr>
          <a:xfrm>
            <a:off x="64579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806F80C0-D6E4-4EE6-89C2-2CB33418A49B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4754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B42C73B-47B2-4A93-9486-6F595C95F708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66675"/>
          </a:xfrm>
          <a:prstGeom prst="rect">
            <a:avLst/>
          </a:prstGeom>
          <a:solidFill>
            <a:srgbClr val="475467"/>
          </a:solidFill>
          <a:ln w="0">
            <a:noFill/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C89CB8F-3A00-4EE9-9654-8FC944D2287D}"/>
              </a:ext>
            </a:extLst>
          </p:cNvPr>
          <p:cNvSpPr>
            <a:spLocks noGrp="1"/>
          </p:cNvSpPr>
          <p:nvPr/>
        </p:nvSpPr>
        <p:spPr>
          <a:xfrm>
            <a:off x="89344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913BD89-9B64-41CA-BBF3-3773B031197D}"/>
              </a:ext>
            </a:extLst>
          </p:cNvPr>
          <p:cNvSpPr>
            <a:spLocks noGrp="1"/>
          </p:cNvSpPr>
          <p:nvPr/>
        </p:nvSpPr>
        <p:spPr>
          <a:xfrm>
            <a:off x="89344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Alerts</a:t>
            </a:r>
          </a:p>
        </p:txBody>
      </p:sp>
      <p:cxnSp>
        <p:nvCxnSpPr>
          <p:cNvPr id="128" name="Straight Arrow Connector 127"/>
          <p:cNvCxnSpPr>
            <a:stCxn id="55" idx="3"/>
            <a:endCxn id="60" idx="1"/>
          </p:cNvCxnSpPr>
          <p:nvPr/>
        </p:nvCxnSpPr>
        <p:spPr>
          <a:xfrm>
            <a:off x="84391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7479240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1C136282-BA25-44D9-A3B4-5FD819F5FF46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B4E07C-13E7-4D02-B9BA-3D9DBA77591B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81AD11-2F35-4EB0-B4CE-0D81A43C2545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AF94CB-C80C-4EBF-B5E3-D3BA4F16E0FC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67625D-542C-4E3C-850E-331C53E47FA8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077F16-042A-4DA1-B899-59A528E5DC5A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CBB9A6-C315-4CE2-947A-73E8C7E1C7FA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B2007B-1FDF-489E-8D81-B3C13A8A0003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D22C29-529B-4873-996A-FE0347AEB495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3B36D9-2B2D-4CD0-A78D-F46406BF31E0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667E6-023A-471B-B612-DCED3CB1A1A8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4C086E-AC80-4408-9851-4ABF03CB4C77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481FFE-010F-4747-9111-04F4A8862F14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47CF97-6DC3-4484-A827-7FE8792B4D50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CC5234-7A52-4095-959E-8B0A3C21F5B5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1D3717-3EA9-46C5-B54B-3130E7538D50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6C57C0-BA43-4033-90D0-428F3CC7BEF1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E6293B-ACFB-4922-83E8-90B54ACEB584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C839C6-E016-42E5-9EFA-03AB8F4EEDE5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493EC0-D455-4D92-BB3C-6445A3DF3459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F6219C-99C5-4C3D-B6D6-6C424E9C7A8B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F501FB-1D4C-4484-9577-5205662CBF91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641AA2-A1EE-4C6A-AC3B-32BFE6FED6A8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D71D31-A5CD-4F75-916B-C83B18E048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C6D62A-092F-45E6-8363-92D648B583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DFD01898-7902-4A30-A31D-77CD8DF86134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3541683B-072E-4747-BAF8-486F9B7874B3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301E60-7077-47CF-B1FA-0C204C3B900B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4873AB0-7105-4669-9927-80700CAB0112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5817020-10E8-44DD-8E66-1522619DB608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8E70623-7513-4A18-BF80-040FF53C8DE6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69E2F11-2087-4E3D-B563-8BE6AE7AEE94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91A25DE-D372-46B3-94E9-F4C804D0B2D8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2E058F-F5EF-40AB-A77F-D76AA18F2562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FINAL BUILD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9044277-055D-41B8-8DB2-F352C9011673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5D4EFD-036B-4058-8307-306C0AC9E21E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86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4B011F3-ED7F-45CD-906F-7541AFF4EC52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C72D95E-3BAC-481F-B3C8-D309E9E4D0E1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C334E7-F3C1-423E-9306-3F53944C3DED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Build the final project in checkpoints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4D23095-B670-48C7-865D-5D5C2019955F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844E47D-8A93-49B0-AAA1-72BE41D754D4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10191750" cy="1790700"/>
          </a:xfrm>
          <a:prstGeom prst="roundRect">
            <a:avLst>
              <a:gd name="adj" fmla="val 7447"/>
            </a:avLst>
          </a:prstGeom>
          <a:solidFill>
            <a:srgbClr val="FFFFFF">
              <a:alpha val="72000"/>
            </a:srgbClr>
          </a:solidFill>
          <a:ln w="11430">
            <a:solidFill>
              <a:srgbClr val="E6EC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BF6A9A1A-D9F4-4FD1-8027-7D98D2C5CCA3}"/>
              </a:ext>
            </a:extLst>
          </p:cNvPr>
          <p:cNvSpPr>
            <a:spLocks noGrp="1"/>
          </p:cNvSpPr>
          <p:nvPr/>
        </p:nvSpPr>
        <p:spPr>
          <a:xfrm>
            <a:off x="1352550" y="3695700"/>
            <a:ext cx="9144000" cy="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2DCE5C1-179A-445C-97D5-CEA86C82F369}"/>
              </a:ext>
            </a:extLst>
          </p:cNvPr>
          <p:cNvSpPr>
            <a:spLocks noGrp="1"/>
          </p:cNvSpPr>
          <p:nvPr/>
        </p:nvSpPr>
        <p:spPr>
          <a:xfrm>
            <a:off x="1209675" y="3571875"/>
            <a:ext cx="247650" cy="247650"/>
          </a:xfrm>
          <a:prstGeom prst="ellipse">
            <a:avLst/>
          </a:prstGeom>
          <a:solidFill>
            <a:srgbClr val="2563EB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3F239A9-A683-4A9F-BC50-4C6D6BCD892F}"/>
              </a:ext>
            </a:extLst>
          </p:cNvPr>
          <p:cNvSpPr>
            <a:spLocks noGrp="1"/>
          </p:cNvSpPr>
          <p:nvPr/>
        </p:nvSpPr>
        <p:spPr>
          <a:xfrm>
            <a:off x="57150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BFA4418-7E2D-4728-BB40-B24E97545D98}"/>
              </a:ext>
            </a:extLst>
          </p:cNvPr>
          <p:cNvSpPr>
            <a:spLocks noGrp="1"/>
          </p:cNvSpPr>
          <p:nvPr/>
        </p:nvSpPr>
        <p:spPr>
          <a:xfrm>
            <a:off x="57150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Tasks alive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F731366-147C-479B-9DBF-EF5CD6206928}"/>
              </a:ext>
            </a:extLst>
          </p:cNvPr>
          <p:cNvSpPr>
            <a:spLocks noGrp="1"/>
          </p:cNvSpPr>
          <p:nvPr/>
        </p:nvSpPr>
        <p:spPr>
          <a:xfrm>
            <a:off x="3448050" y="3571875"/>
            <a:ext cx="247650" cy="247650"/>
          </a:xfrm>
          <a:prstGeom prst="ellipse">
            <a:avLst/>
          </a:prstGeom>
          <a:solidFill>
            <a:srgbClr val="07844A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2B4D3CB-2AAC-49F6-B321-76DE686AE010}"/>
              </a:ext>
            </a:extLst>
          </p:cNvPr>
          <p:cNvSpPr>
            <a:spLocks noGrp="1"/>
          </p:cNvSpPr>
          <p:nvPr/>
        </p:nvSpPr>
        <p:spPr>
          <a:xfrm>
            <a:off x="2809875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E9AFAA4-05E2-4509-87C9-8CF453FF91E7}"/>
              </a:ext>
            </a:extLst>
          </p:cNvPr>
          <p:cNvSpPr>
            <a:spLocks noGrp="1"/>
          </p:cNvSpPr>
          <p:nvPr/>
        </p:nvSpPr>
        <p:spPr>
          <a:xfrm>
            <a:off x="2809875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Data queued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9859BB9-9C51-4E89-8D0C-CDF16AEC970E}"/>
              </a:ext>
            </a:extLst>
          </p:cNvPr>
          <p:cNvSpPr>
            <a:spLocks noGrp="1"/>
          </p:cNvSpPr>
          <p:nvPr/>
        </p:nvSpPr>
        <p:spPr>
          <a:xfrm>
            <a:off x="5686425" y="3571875"/>
            <a:ext cx="247650" cy="247650"/>
          </a:xfrm>
          <a:prstGeom prst="ellipse">
            <a:avLst/>
          </a:prstGeom>
          <a:solidFill>
            <a:srgbClr val="F97316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9FBA691-1FC6-4FB2-AE96-60C419493267}"/>
              </a:ext>
            </a:extLst>
          </p:cNvPr>
          <p:cNvSpPr>
            <a:spLocks noGrp="1"/>
          </p:cNvSpPr>
          <p:nvPr/>
        </p:nvSpPr>
        <p:spPr>
          <a:xfrm>
            <a:off x="504825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04F6B33-CBAA-42E9-BAEF-F108C7DA8854}"/>
              </a:ext>
            </a:extLst>
          </p:cNvPr>
          <p:cNvSpPr>
            <a:spLocks noGrp="1"/>
          </p:cNvSpPr>
          <p:nvPr/>
        </p:nvSpPr>
        <p:spPr>
          <a:xfrm>
            <a:off x="504825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LCD protected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D29FFB5-4D97-4C6E-B3EA-7B7A99C4A944}"/>
              </a:ext>
            </a:extLst>
          </p:cNvPr>
          <p:cNvSpPr>
            <a:spLocks noGrp="1"/>
          </p:cNvSpPr>
          <p:nvPr/>
        </p:nvSpPr>
        <p:spPr>
          <a:xfrm>
            <a:off x="7924800" y="3571875"/>
            <a:ext cx="247650" cy="247650"/>
          </a:xfrm>
          <a:prstGeom prst="ellipse">
            <a:avLst/>
          </a:prstGeom>
          <a:solidFill>
            <a:srgbClr val="E11D48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C89E384-A5E6-4C36-91B7-F2C517B5685C}"/>
              </a:ext>
            </a:extLst>
          </p:cNvPr>
          <p:cNvSpPr>
            <a:spLocks noGrp="1"/>
          </p:cNvSpPr>
          <p:nvPr/>
        </p:nvSpPr>
        <p:spPr>
          <a:xfrm>
            <a:off x="7286625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4D367DC-857E-401E-9D91-631B3DB6B1FC}"/>
              </a:ext>
            </a:extLst>
          </p:cNvPr>
          <p:cNvSpPr>
            <a:spLocks noGrp="1"/>
          </p:cNvSpPr>
          <p:nvPr/>
        </p:nvSpPr>
        <p:spPr>
          <a:xfrm>
            <a:off x="7286625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ISR alert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EDE6F81-9D3C-4A93-A4D8-A1E596EA095B}"/>
              </a:ext>
            </a:extLst>
          </p:cNvPr>
          <p:cNvSpPr>
            <a:spLocks noGrp="1"/>
          </p:cNvSpPr>
          <p:nvPr/>
        </p:nvSpPr>
        <p:spPr>
          <a:xfrm>
            <a:off x="10163175" y="3571875"/>
            <a:ext cx="247650" cy="247650"/>
          </a:xfrm>
          <a:prstGeom prst="ellipse">
            <a:avLst/>
          </a:prstGeom>
          <a:solidFill>
            <a:srgbClr val="475467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82610D3-A0F8-4EBE-90B8-BB50BBBF4518}"/>
              </a:ext>
            </a:extLst>
          </p:cNvPr>
          <p:cNvSpPr>
            <a:spLocks noGrp="1"/>
          </p:cNvSpPr>
          <p:nvPr/>
        </p:nvSpPr>
        <p:spPr>
          <a:xfrm>
            <a:off x="9525000" y="40005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CF88FAD-060F-43BA-95B7-0F475FAEA701}"/>
              </a:ext>
            </a:extLst>
          </p:cNvPr>
          <p:cNvSpPr>
            <a:spLocks noGrp="1"/>
          </p:cNvSpPr>
          <p:nvPr/>
        </p:nvSpPr>
        <p:spPr>
          <a:xfrm>
            <a:off x="9525000" y="4667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Demo stable</a:t>
            </a:r>
          </a:p>
        </p:txBody>
      </p:sp>
    </p:spTree>
    <p:extLst>
      <p:ext uri="{BB962C8B-B14F-4D97-AF65-F5344CB8AC3E}">
        <p14:creationId xmlns:p14="http://schemas.microsoft.com/office/powerpoint/2010/main" val="68180888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05D0FBF1-BBE8-4A36-8271-44E83141C0F0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8BBAAD-80F3-4231-83A0-E0B61199A181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25207E-8D17-43B8-97C3-B2600F604151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13C2C4-5448-4E9E-916F-F98E2E04226B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D5B9D8-9C47-4B19-BBA1-F19AEAE5EF51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0E4AEA-0667-4271-8272-2851D3784891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EAF31-5588-481F-8C31-C698442FC1F9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778E21-1DF7-4156-82D3-63A738CD4A2B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18FB01-5CB1-40E5-A413-CC20C1433ABA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BDF9DE-4ED7-41FC-A95A-764048FCD178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49ABA1-1323-4396-B260-4E80EDD23730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B6FF18-07BF-4EBB-89A7-83112AE27BD2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38EA29-2912-45AA-B058-4D7E2D27E114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16AA02-82AF-47C4-9F88-2EF26FEC881F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642B11-73CA-4710-9A9F-C70ADDD50436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7B5FA1-6ADB-414E-BB7D-2D7C81FEBF8C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974708-3F22-4BF9-9815-946A38CB4479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4A9442-AFC0-419A-9888-09D75BFE03BF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4333A6-A8D8-433C-AD47-E5E342E51368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8640FD-5C41-4B53-A652-EF275B69C049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A082DC-C5BF-484B-BF39-7482EAB030F8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708AC5-3D0E-4951-9604-9BBE9F2AE576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D34EB4-5128-43EF-905B-1EC2B755BCBC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7758FC-624D-4555-8229-D155789F74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1C5B4B-9181-4D8E-956D-515948B74A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4533D520-CF4F-42B5-A6B2-6EB71E42CDC9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4F8F9E8B-AB1B-4262-8F93-B0E87636DAE2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73015E-29AA-480C-907B-12B80B589661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2E7952-F9F0-4F40-B89C-F66B533DEB80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AADCECC-4F54-427C-8C14-83F4EDD6607C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301F096-9405-4EB3-BBAF-3649FEFEEA97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21DD249-081C-4A1B-904F-9BEEACEA3FD6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2D83C91-A0E6-4E2E-B3F0-6E344D8E2C41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 w="11430">
            <a:solidFill>
              <a:srgbClr val="F973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FB1570-C28A-4B2D-AD39-3BC5EA30D9AF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FINAL BUILD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421E22D-4244-4E44-88F0-1C676BDF1CFB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8A3F7A-9671-467B-ACDC-A83DF75C0678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87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87C7440-CBBA-44A6-8BCD-B51066A8CC59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E64114B-EAC0-48D1-81E5-80C81402D3FE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282F63-5454-484C-B570-F51DFC8E6157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 good demo proves behavior, not just code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47419DB-B19F-4740-8B65-034AEE3B3E62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C9CBD1B-1EEB-4409-B1CB-E824896E0111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CF06F05-77F0-4F29-8B83-990BD3F13148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FBF7999-A736-42E0-861C-462CAFA7EDCA}"/>
              </a:ext>
            </a:extLst>
          </p:cNvPr>
          <p:cNvSpPr>
            <a:spLocks noGrp="1"/>
          </p:cNvSpPr>
          <p:nvPr/>
        </p:nvSpPr>
        <p:spPr>
          <a:xfrm>
            <a:off x="11049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Stable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D5F94A1-DE2D-4EA4-8253-5E9738052D2C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 random resets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AF96D88-5626-41E8-B910-87ACCE99A9FE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A327023-DF75-4315-8F58-CC7E715656C0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546D4D-9D80-4F96-ABF3-D7AFDDE838D2}"/>
              </a:ext>
            </a:extLst>
          </p:cNvPr>
          <p:cNvSpPr>
            <a:spLocks noGrp="1"/>
          </p:cNvSpPr>
          <p:nvPr/>
        </p:nvSpPr>
        <p:spPr>
          <a:xfrm>
            <a:off x="38481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844A"/>
                </a:solidFill>
                <a:latin typeface="Aptos"/>
                <a:ea typeface="Aptos"/>
                <a:cs typeface="Aptos"/>
              </a:rPr>
              <a:t>Responsive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CD7DB92-D289-4A60-9A8D-E951F5666D23}"/>
              </a:ext>
            </a:extLst>
          </p:cNvPr>
          <p:cNvSpPr>
            <a:spLocks noGrp="1"/>
          </p:cNvSpPr>
          <p:nvPr/>
        </p:nvSpPr>
        <p:spPr>
          <a:xfrm>
            <a:off x="38481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Button and ISR react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BDE641D-ECF0-41A9-BBDA-208E7AFE7C75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7F6690C-47CE-48C7-8BCC-2A2DF990AE2A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55B66AC-652D-4F14-A330-9C58CE56D438}"/>
              </a:ext>
            </a:extLst>
          </p:cNvPr>
          <p:cNvSpPr>
            <a:spLocks noGrp="1"/>
          </p:cNvSpPr>
          <p:nvPr/>
        </p:nvSpPr>
        <p:spPr>
          <a:xfrm>
            <a:off x="65913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Readable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FF28A6A-0B81-4C7D-BF22-1877DFA33F83}"/>
              </a:ext>
            </a:extLst>
          </p:cNvPr>
          <p:cNvSpPr>
            <a:spLocks noGrp="1"/>
          </p:cNvSpPr>
          <p:nvPr/>
        </p:nvSpPr>
        <p:spPr>
          <a:xfrm>
            <a:off x="65913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LCD stays clean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803F1E2-C588-4589-B6F4-DE8EAC4EFE4E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01A9F53-7FE5-43C1-BADE-6E5CE0DC733D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AA6BA9-596F-472C-8E92-164B78EF7837}"/>
              </a:ext>
            </a:extLst>
          </p:cNvPr>
          <p:cNvSpPr>
            <a:spLocks noGrp="1"/>
          </p:cNvSpPr>
          <p:nvPr/>
        </p:nvSpPr>
        <p:spPr>
          <a:xfrm>
            <a:off x="93345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Explainable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FCBDC54-236D-4798-B3A0-6C231C1F7D15}"/>
              </a:ext>
            </a:extLst>
          </p:cNvPr>
          <p:cNvSpPr>
            <a:spLocks noGrp="1"/>
          </p:cNvSpPr>
          <p:nvPr/>
        </p:nvSpPr>
        <p:spPr>
          <a:xfrm>
            <a:off x="93345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Team can justify each primitive</a:t>
            </a:r>
          </a:p>
        </p:txBody>
      </p:sp>
    </p:spTree>
    <p:extLst>
      <p:ext uri="{BB962C8B-B14F-4D97-AF65-F5344CB8AC3E}">
        <p14:creationId xmlns:p14="http://schemas.microsoft.com/office/powerpoint/2010/main" val="94341080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308F01D9-FCFC-493A-AF4A-AAC19A7915D8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DC82E2-8CAD-4027-98D4-DC5D2FF08A13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ED744F-8569-47B3-9364-4E3A18C324EA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DE1D06-F6EB-4D01-9603-C487C3C3DED6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776245-14B9-4688-BAAC-CA62E374B251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FC608D-FF98-470C-AAE3-89FB52A247CF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1B7688-EBCB-46FE-BC2F-F87E11F2736D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36B446-532D-4023-B798-2AEBF9B7DB7D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D66DF1-6C29-4E91-817D-50130C940D25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535FC3-FF27-483D-BD51-1751DD27FAE4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D3AD00-9071-4BC7-A800-A268CE8B7AF5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1D5023-CA16-4DFA-9F23-74651A043298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2EA041-7160-4D1D-A502-E1E0E9548969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866983-5E38-4CF2-9966-1EE573AF937F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FD444F-A28E-4514-BC30-0539B5FA37B1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98C228-7BC1-40BF-854A-96076F6BC80C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F673DF-92AA-407E-8FEB-9BC6763B06DE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83D151-AA6C-48D6-9E5C-1FAA3205E711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8646EC-56DD-4614-A32B-E0472594A7AF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AAF00B-1BBD-46FB-83AD-1B68331B3BC1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E9431F-1099-4965-BCA2-83541D69EF60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19719C-1852-4762-8DC6-417147E105E4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2D6498-9DE7-455A-8E32-6AEF7F5BAA11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9DA936-D485-45AD-A853-4FD81BCB4C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8A8D4F-741B-404F-B666-982FA503D1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1F23F5F4-6C81-4210-9E14-E0AC88DEAF8D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B143900C-B4B9-4E4C-A0DC-14FA11DD9C73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66BF32-65B6-48B6-A28A-8B252C522416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FF37AA-ECB2-445B-B5A1-A85B67CA87B4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A487F76-BDC9-4C00-9634-E923A72752C1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C07F054-E820-4BC0-AF67-BE6CA246981E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B27652D-8A6F-4F8F-8068-080FAAC9540F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465DBAB-2F2F-4BC1-AD4F-442B799C3748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B9E76D0-84CF-4C5D-A471-C2B16C0A59CA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SUMMARY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F820DC4-F80B-4E97-9E8C-A40363B544F5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22E313C-5760-455B-9559-A26CAEBFF61D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88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08CBABD-3FE8-42DB-94A3-D818921FBAB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4E55AB9-EC1F-4E2D-9FEE-303273019C1F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B1D19C-4FD7-4FA9-8EEF-4A260F1033D2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Students now have a firmware design vocabulary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5A1CD5C-23C5-4286-A157-67D2980E1FC9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9E16618-6A30-4BE6-905A-3C8B737ED922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E35060B-33E1-46B5-AF91-C31007842971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38125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FD6AA55-3652-4D18-8512-89365ADB84B6}"/>
              </a:ext>
            </a:extLst>
          </p:cNvPr>
          <p:cNvSpPr>
            <a:spLocks noGrp="1"/>
          </p:cNvSpPr>
          <p:nvPr/>
        </p:nvSpPr>
        <p:spPr>
          <a:xfrm>
            <a:off x="11049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D5AB9FA-A607-4643-9DF1-6A08150D0691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Separate responsibilities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EE3BCEB-D8D4-424C-BCC4-A4F8E089B9DF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49A2D9F-70F0-4A6F-A67C-2186C2D93028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38125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AF0115E-F48E-404B-A9DA-4F511C1C6C91}"/>
              </a:ext>
            </a:extLst>
          </p:cNvPr>
          <p:cNvSpPr>
            <a:spLocks noGrp="1"/>
          </p:cNvSpPr>
          <p:nvPr/>
        </p:nvSpPr>
        <p:spPr>
          <a:xfrm>
            <a:off x="38481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84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844A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717A67D-8909-4960-BE33-A9AF50577CF0}"/>
              </a:ext>
            </a:extLst>
          </p:cNvPr>
          <p:cNvSpPr>
            <a:spLocks noGrp="1"/>
          </p:cNvSpPr>
          <p:nvPr/>
        </p:nvSpPr>
        <p:spPr>
          <a:xfrm>
            <a:off x="38481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Predict CPU sharing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65BE98F-9E05-405A-BF14-6564326DE154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1E2B7BB-B3EC-45EF-911F-1105C6391508}"/>
              </a:ext>
            </a:extLst>
          </p:cNvPr>
          <p:cNvSpPr>
            <a:spLocks noGrp="1"/>
          </p:cNvSpPr>
          <p:nvPr/>
        </p:nvSpPr>
        <p:spPr>
          <a:xfrm>
            <a:off x="6362700" y="2333625"/>
            <a:ext cx="238125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6005DF9-8209-4258-A769-045C103C4F48}"/>
              </a:ext>
            </a:extLst>
          </p:cNvPr>
          <p:cNvSpPr>
            <a:spLocks noGrp="1"/>
          </p:cNvSpPr>
          <p:nvPr/>
        </p:nvSpPr>
        <p:spPr>
          <a:xfrm>
            <a:off x="65913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IPC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DA9D63F-D187-4913-A8F0-87C21CE6B52C}"/>
              </a:ext>
            </a:extLst>
          </p:cNvPr>
          <p:cNvSpPr>
            <a:spLocks noGrp="1"/>
          </p:cNvSpPr>
          <p:nvPr/>
        </p:nvSpPr>
        <p:spPr>
          <a:xfrm>
            <a:off x="65913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Move data and events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E9FB94B-43E6-429A-9764-69C104101F35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4714AB1-8D88-4B2F-91B7-1016BE716796}"/>
              </a:ext>
            </a:extLst>
          </p:cNvPr>
          <p:cNvSpPr>
            <a:spLocks noGrp="1"/>
          </p:cNvSpPr>
          <p:nvPr/>
        </p:nvSpPr>
        <p:spPr>
          <a:xfrm>
            <a:off x="9105900" y="2333625"/>
            <a:ext cx="238125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D671FE0-26F8-4B9C-BFA0-0ECB26BA6EDC}"/>
              </a:ext>
            </a:extLst>
          </p:cNvPr>
          <p:cNvSpPr>
            <a:spLocks noGrp="1"/>
          </p:cNvSpPr>
          <p:nvPr/>
        </p:nvSpPr>
        <p:spPr>
          <a:xfrm>
            <a:off x="9334500" y="256222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Protection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090ED2-7212-4C19-8009-DACBBA91FE98}"/>
              </a:ext>
            </a:extLst>
          </p:cNvPr>
          <p:cNvSpPr>
            <a:spLocks noGrp="1"/>
          </p:cNvSpPr>
          <p:nvPr/>
        </p:nvSpPr>
        <p:spPr>
          <a:xfrm>
            <a:off x="9334500" y="295275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Own shared hardware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10D1DAE-9119-4858-BDA2-BC5D949B95EC}"/>
              </a:ext>
            </a:extLst>
          </p:cNvPr>
          <p:cNvSpPr>
            <a:spLocks noGrp="1"/>
          </p:cNvSpPr>
          <p:nvPr/>
        </p:nvSpPr>
        <p:spPr>
          <a:xfrm>
            <a:off x="876300" y="3990975"/>
            <a:ext cx="23812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BE624BA-49ED-4D17-B415-839F7FFFC5DB}"/>
              </a:ext>
            </a:extLst>
          </p:cNvPr>
          <p:cNvSpPr>
            <a:spLocks noGrp="1"/>
          </p:cNvSpPr>
          <p:nvPr/>
        </p:nvSpPr>
        <p:spPr>
          <a:xfrm>
            <a:off x="876300" y="3990975"/>
            <a:ext cx="238125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24F0DAF-9333-403F-A8A4-A813E2382B42}"/>
              </a:ext>
            </a:extLst>
          </p:cNvPr>
          <p:cNvSpPr>
            <a:spLocks noGrp="1"/>
          </p:cNvSpPr>
          <p:nvPr/>
        </p:nvSpPr>
        <p:spPr>
          <a:xfrm>
            <a:off x="1104900" y="4219575"/>
            <a:ext cx="1924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57646AD-D3DE-4444-B652-E29BA79DD481}"/>
              </a:ext>
            </a:extLst>
          </p:cNvPr>
          <p:cNvSpPr>
            <a:spLocks noGrp="1"/>
          </p:cNvSpPr>
          <p:nvPr/>
        </p:nvSpPr>
        <p:spPr>
          <a:xfrm>
            <a:off x="1104900" y="4610100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Build real systems</a:t>
            </a:r>
          </a:p>
        </p:txBody>
      </p:sp>
    </p:spTree>
    <p:extLst>
      <p:ext uri="{BB962C8B-B14F-4D97-AF65-F5344CB8AC3E}">
        <p14:creationId xmlns:p14="http://schemas.microsoft.com/office/powerpoint/2010/main" val="20289208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BCF62A6D-5AF2-4F0A-B958-AF217DDC9E5F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889638-ABC8-495A-8C16-854CBD79C177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C9161-FD67-4E8D-8E97-3B5C688681A4}"/>
              </a:ext>
            </a:extLst>
          </p:cNvPr>
          <p:cNvSpPr>
            <a:spLocks noGrp="1"/>
          </p:cNvSpPr>
          <p:nvPr/>
        </p:nvSpPr>
        <p:spPr>
          <a:xfrm>
            <a:off x="0" y="1295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46EC0D-1720-458A-8D1E-15DD84AF27B3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5AFD74-7A3B-456B-8754-03B97B43E564}"/>
              </a:ext>
            </a:extLst>
          </p:cNvPr>
          <p:cNvSpPr>
            <a:spLocks noGrp="1"/>
          </p:cNvSpPr>
          <p:nvPr/>
        </p:nvSpPr>
        <p:spPr>
          <a:xfrm>
            <a:off x="0" y="1752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056B3E-4ECF-4DD7-8410-688499E41672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2EFF4C-690C-4323-90E4-673FAAD3157E}"/>
              </a:ext>
            </a:extLst>
          </p:cNvPr>
          <p:cNvSpPr>
            <a:spLocks noGrp="1"/>
          </p:cNvSpPr>
          <p:nvPr/>
        </p:nvSpPr>
        <p:spPr>
          <a:xfrm>
            <a:off x="0" y="2209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2C5382-31FD-4D0E-9169-723350765111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D700DC-A29E-44FC-B514-50692133CF02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E6EA31-2619-40F3-B55F-D83B3D34477C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9D4F62-E25F-4278-BB20-E5EA1A79BF1C}"/>
              </a:ext>
            </a:extLst>
          </p:cNvPr>
          <p:cNvSpPr>
            <a:spLocks noGrp="1"/>
          </p:cNvSpPr>
          <p:nvPr/>
        </p:nvSpPr>
        <p:spPr>
          <a:xfrm>
            <a:off x="0" y="3124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971A4F-2A93-43C1-8C4B-51FDCA9A0CED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1A8367-7787-45F0-BEA9-4AF400F5AD03}"/>
              </a:ext>
            </a:extLst>
          </p:cNvPr>
          <p:cNvSpPr>
            <a:spLocks noGrp="1"/>
          </p:cNvSpPr>
          <p:nvPr/>
        </p:nvSpPr>
        <p:spPr>
          <a:xfrm>
            <a:off x="0" y="3581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67A630-C8AB-434E-8546-94B182305BAF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CF5A9-4494-48AD-B3A5-E0FE22890E84}"/>
              </a:ext>
            </a:extLst>
          </p:cNvPr>
          <p:cNvSpPr>
            <a:spLocks noGrp="1"/>
          </p:cNvSpPr>
          <p:nvPr/>
        </p:nvSpPr>
        <p:spPr>
          <a:xfrm>
            <a:off x="0" y="4038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BFDCE5-409C-431A-9C4D-D8306EC5ED37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5CE14C-0318-410A-9018-DEFC72A1033C}"/>
              </a:ext>
            </a:extLst>
          </p:cNvPr>
          <p:cNvSpPr>
            <a:spLocks noGrp="1"/>
          </p:cNvSpPr>
          <p:nvPr/>
        </p:nvSpPr>
        <p:spPr>
          <a:xfrm>
            <a:off x="0" y="4495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C4054B-76EB-4859-BD78-FD029D486112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3D18E0-F80F-4074-8F36-6060E7468307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167718-38E6-401C-9FDC-359573A44766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2C1529-3FC9-4928-B5F5-F7296C817CA4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D75734-0C52-4221-850A-481B862EA1A2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C8BC71-5658-4155-9F21-B116CB2270E5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122033">
              <a:alpha val="2800"/>
            </a:srgbClr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03C6C5-F7F2-44CE-B6DB-CCFD484008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F2F6F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E5C1AA-7352-4809-B980-45570F70B4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A5CCAB9F-75D8-4504-A5C8-898373D073B3}"/>
              </a:ext>
            </a:extLst>
          </p:cNvPr>
          <p:cNvSpPr>
            <a:spLocks noGrp="1"/>
          </p:cNvSpPr>
          <p:nvPr/>
        </p:nvSpPr>
        <p:spPr>
          <a:xfrm>
            <a:off x="0" y="666750"/>
            <a:ext cx="12192000" cy="0"/>
          </a:xfrm>
          <a:prstGeom prst="line">
            <a:avLst/>
          </a:prstGeom>
          <a:noFill/>
          <a:ln w="15240">
            <a:solidFill>
              <a:srgbClr val="AEBBCC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4180A150-1DE6-44C3-9B41-767EEACA8A7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0"/>
          </a:xfrm>
          <a:prstGeom prst="line">
            <a:avLst/>
          </a:prstGeom>
          <a:noFill/>
          <a:ln w="13335">
            <a:solidFill>
              <a:srgbClr val="AEBBC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96F55B-6EC3-4FE5-8847-F51F82F964BC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251717-2E15-4288-8893-34E0CC22B6B1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13335" cy="6858000"/>
          </a:xfrm>
          <a:prstGeom prst="rect">
            <a:avLst/>
          </a:prstGeom>
          <a:solidFill>
            <a:srgbClr val="AEBBCC"/>
          </a:solidFill>
          <a:ln w="0">
            <a:noFill/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6AE0D22-4A53-4F6D-8549-322EFDC76977}"/>
              </a:ext>
            </a:extLst>
          </p:cNvPr>
          <p:cNvSpPr>
            <a:spLocks noGrp="1"/>
          </p:cNvSpPr>
          <p:nvPr/>
        </p:nvSpPr>
        <p:spPr>
          <a:xfrm>
            <a:off x="895350" y="257175"/>
            <a:ext cx="142875" cy="142875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8376F08-81CB-41C9-9EA1-CB66A20C1D54}"/>
              </a:ext>
            </a:extLst>
          </p:cNvPr>
          <p:cNvSpPr>
            <a:spLocks noGrp="1"/>
          </p:cNvSpPr>
          <p:nvPr/>
        </p:nvSpPr>
        <p:spPr>
          <a:xfrm>
            <a:off x="1123950" y="257175"/>
            <a:ext cx="142875" cy="142875"/>
          </a:xfrm>
          <a:prstGeom prst="ellipse">
            <a:avLst/>
          </a:prstGeom>
          <a:solidFill>
            <a:srgbClr val="FDBA2D"/>
          </a:solidFill>
          <a:ln w="0">
            <a:noFill/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846283B-E0CB-4C2D-A4CE-634785381F33}"/>
              </a:ext>
            </a:extLst>
          </p:cNvPr>
          <p:cNvSpPr>
            <a:spLocks noGrp="1"/>
          </p:cNvSpPr>
          <p:nvPr/>
        </p:nvSpPr>
        <p:spPr>
          <a:xfrm>
            <a:off x="1352550" y="257175"/>
            <a:ext cx="142875" cy="142875"/>
          </a:xfrm>
          <a:prstGeom prst="ellipse">
            <a:avLst/>
          </a:prstGeom>
          <a:solidFill>
            <a:srgbClr val="22C55E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E2B8322-144B-49D5-A189-6E5C2C841608}"/>
              </a:ext>
            </a:extLst>
          </p:cNvPr>
          <p:cNvSpPr>
            <a:spLocks noGrp="1"/>
          </p:cNvSpPr>
          <p:nvPr/>
        </p:nvSpPr>
        <p:spPr>
          <a:xfrm>
            <a:off x="1828800" y="17145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07844A"/>
          </a:solidFill>
          <a:ln w="11430">
            <a:solidFill>
              <a:srgbClr val="07844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9687BB-086C-40E3-B843-913C3580242C}"/>
              </a:ext>
            </a:extLst>
          </p:cNvPr>
          <p:cNvSpPr>
            <a:spLocks noGrp="1"/>
          </p:cNvSpPr>
          <p:nvPr/>
        </p:nvSpPr>
        <p:spPr>
          <a:xfrm>
            <a:off x="1962150" y="24765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THANK YOU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D02D274-811F-4675-BCFC-4A3052446D82}"/>
              </a:ext>
            </a:extLst>
          </p:cNvPr>
          <p:cNvSpPr>
            <a:spLocks noGrp="1"/>
          </p:cNvSpPr>
          <p:nvPr/>
        </p:nvSpPr>
        <p:spPr>
          <a:xfrm>
            <a:off x="7524750" y="19050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98A2B3"/>
                </a:solidFill>
                <a:latin typeface="Cascadia Mono"/>
                <a:ea typeface="Cascadia Mono"/>
                <a:cs typeface="Cascadia Mono"/>
              </a:rPr>
              <a:t>ESP32_FREE_RTOS_WORKSHOP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1D85A6-BE10-435D-ABE4-E1C5A2C10249}"/>
              </a:ext>
            </a:extLst>
          </p:cNvPr>
          <p:cNvSpPr>
            <a:spLocks noGrp="1"/>
          </p:cNvSpPr>
          <p:nvPr/>
        </p:nvSpPr>
        <p:spPr>
          <a:xfrm>
            <a:off x="10572750" y="1905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89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B767A83-BB60-479C-BE73-D1D2786106CE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92B9D7A-4DC2-4549-B262-804EFA21ADB9}"/>
              </a:ext>
            </a:extLst>
          </p:cNvPr>
          <p:cNvSpPr>
            <a:spLocks noGrp="1"/>
          </p:cNvSpPr>
          <p:nvPr/>
        </p:nvSpPr>
        <p:spPr>
          <a:xfrm>
            <a:off x="11515725" y="6048375"/>
            <a:ext cx="133350" cy="133350"/>
          </a:xfrm>
          <a:prstGeom prst="ellipse">
            <a:avLst/>
          </a:prstGeom>
          <a:solidFill>
            <a:srgbClr val="0784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E48B6B5-46C6-44C2-B169-C06C660F85E1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971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Your loop is no longer alone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63A4B98-7AE0-4131-BB19-E7839D611751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838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Next step: make the final build reliable enough to explain under pressure.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E4B06CB-2328-470F-99C7-7BC3645E6C36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1428750" cy="38100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2BA7AC1-1140-43D0-9BA8-93AB3AABC1EA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5D7E4E0-7AAA-4EFD-82B9-7ACC2D2EA45F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638300" cy="666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4305E6-1355-4771-8325-A06A00C67D32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6D9C2B0-61F1-4476-B27B-1D38AC68BDA5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D382917-58AB-431A-B294-BB5055032AA7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784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45FF6F0-9317-4AE6-8138-05E7F4091A61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66675"/>
          </a:xfrm>
          <a:prstGeom prst="rect">
            <a:avLst/>
          </a:prstGeom>
          <a:solidFill>
            <a:srgbClr val="07844A"/>
          </a:solidFill>
          <a:ln w="0">
            <a:noFill/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659EEF8-531D-437C-9430-388B1848DD47}"/>
              </a:ext>
            </a:extLst>
          </p:cNvPr>
          <p:cNvSpPr>
            <a:spLocks noGrp="1"/>
          </p:cNvSpPr>
          <p:nvPr/>
        </p:nvSpPr>
        <p:spPr>
          <a:xfrm>
            <a:off x="29908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07844A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FC9E448-400D-4A9D-96D4-29210F892472}"/>
              </a:ext>
            </a:extLst>
          </p:cNvPr>
          <p:cNvSpPr>
            <a:spLocks noGrp="1"/>
          </p:cNvSpPr>
          <p:nvPr/>
        </p:nvSpPr>
        <p:spPr>
          <a:xfrm>
            <a:off x="29908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Separate</a:t>
            </a:r>
          </a:p>
        </p:txBody>
      </p:sp>
      <p:cxnSp>
        <p:nvCxnSpPr>
          <p:cNvPr id="115" name="Straight Arrow Connector 114"/>
          <p:cNvCxnSpPr>
            <a:stCxn id="42" idx="3"/>
            <a:endCxn id="46" idx="1"/>
          </p:cNvCxnSpPr>
          <p:nvPr/>
        </p:nvCxnSpPr>
        <p:spPr>
          <a:xfrm>
            <a:off x="24955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48B2C31-4A83-46BD-9C10-CBAC9856BDC8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67505D2-ACE5-4A31-ADBD-A7AD96E63023}"/>
              </a:ext>
            </a:extLst>
          </p:cNvPr>
          <p:cNvSpPr>
            <a:spLocks noGrp="1"/>
          </p:cNvSpPr>
          <p:nvPr/>
        </p:nvSpPr>
        <p:spPr>
          <a:xfrm>
            <a:off x="4819650" y="3143250"/>
            <a:ext cx="1638300" cy="666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3370B79-FFB5-4AE1-9FFB-E118A67D2B1F}"/>
              </a:ext>
            </a:extLst>
          </p:cNvPr>
          <p:cNvSpPr>
            <a:spLocks noGrp="1"/>
          </p:cNvSpPr>
          <p:nvPr/>
        </p:nvSpPr>
        <p:spPr>
          <a:xfrm>
            <a:off x="49720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9731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ED24828-8123-4FEB-997C-466646720E6B}"/>
              </a:ext>
            </a:extLst>
          </p:cNvPr>
          <p:cNvSpPr>
            <a:spLocks noGrp="1"/>
          </p:cNvSpPr>
          <p:nvPr/>
        </p:nvSpPr>
        <p:spPr>
          <a:xfrm>
            <a:off x="49720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Schedule</a:t>
            </a:r>
          </a:p>
        </p:txBody>
      </p:sp>
      <p:cxnSp>
        <p:nvCxnSpPr>
          <p:cNvPr id="120" name="Straight Arrow Connector 119"/>
          <p:cNvCxnSpPr>
            <a:stCxn id="46" idx="3"/>
            <a:endCxn id="51" idx="1"/>
          </p:cNvCxnSpPr>
          <p:nvPr/>
        </p:nvCxnSpPr>
        <p:spPr>
          <a:xfrm>
            <a:off x="44767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38DF319-E20D-401C-A7D8-74B110CB5158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C4B883D-5371-4C5B-908E-7100B9ED1F82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1638300" cy="66675"/>
          </a:xfrm>
          <a:prstGeom prst="rect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ADDCD3F-BBCB-479B-AA54-3F13A49ED00A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E11D48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16AB3F0-C6FF-4969-90B0-88144D360EA7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Communicate</a:t>
            </a:r>
          </a:p>
        </p:txBody>
      </p:sp>
      <p:cxnSp>
        <p:nvCxnSpPr>
          <p:cNvPr id="125" name="Straight Arrow Connector 124"/>
          <p:cNvCxnSpPr>
            <a:stCxn id="51" idx="3"/>
            <a:endCxn id="56" idx="1"/>
          </p:cNvCxnSpPr>
          <p:nvPr/>
        </p:nvCxnSpPr>
        <p:spPr>
          <a:xfrm>
            <a:off x="64579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AF04C6F-AD53-4F79-8981-365B9717D5FF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4754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0C03868-6FBC-4021-8525-10ACDE4320DA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638300" cy="66675"/>
          </a:xfrm>
          <a:prstGeom prst="rect">
            <a:avLst/>
          </a:prstGeom>
          <a:solidFill>
            <a:srgbClr val="475467"/>
          </a:solidFill>
          <a:ln w="0">
            <a:noFill/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5612531-DE39-4213-82C0-34959A7776A0}"/>
              </a:ext>
            </a:extLst>
          </p:cNvPr>
          <p:cNvSpPr>
            <a:spLocks noGrp="1"/>
          </p:cNvSpPr>
          <p:nvPr/>
        </p:nvSpPr>
        <p:spPr>
          <a:xfrm>
            <a:off x="8934450" y="33528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475467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4D842F9-1620-4E55-A7F4-223085C1B2C0}"/>
              </a:ext>
            </a:extLst>
          </p:cNvPr>
          <p:cNvSpPr>
            <a:spLocks noGrp="1"/>
          </p:cNvSpPr>
          <p:nvPr/>
        </p:nvSpPr>
        <p:spPr>
          <a:xfrm>
            <a:off x="8934450" y="36195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Protect</a:t>
            </a:r>
          </a:p>
        </p:txBody>
      </p:sp>
      <p:cxnSp>
        <p:nvCxnSpPr>
          <p:cNvPr id="130" name="Straight Arrow Connector 129"/>
          <p:cNvCxnSpPr>
            <a:stCxn id="56" idx="3"/>
            <a:endCxn id="61" idx="1"/>
          </p:cNvCxnSpPr>
          <p:nvPr/>
        </p:nvCxnSpPr>
        <p:spPr>
          <a:xfrm>
            <a:off x="8439150" y="3657600"/>
            <a:ext cx="342900" cy="0"/>
          </a:xfrm>
          <a:prstGeom prst="straightConnector1">
            <a:avLst/>
          </a:prstGeom>
          <a:ln w="19050">
            <a:solidFill>
              <a:srgbClr val="94A3B8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6839657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14309</Words>
  <Application>Microsoft Office PowerPoint</Application>
  <DocSecurity>0</DocSecurity>
  <PresentationFormat>Widescreen</PresentationFormat>
  <Paragraphs>1870</Paragraphs>
  <Slides>89</Slides>
  <Notes>89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6" baseType="lpstr">
      <vt:lpstr>Aptos</vt:lpstr>
      <vt:lpstr>Aptos Display</vt:lpstr>
      <vt:lpstr>Calibri</vt:lpstr>
      <vt:lpstr>Cascadia Mono</vt:lpstr>
      <vt:lpstr>Inter</vt:lpstr>
      <vt:lpstr>Segoe UI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Faizan Rabbani</cp:lastModifiedBy>
  <cp:revision>2</cp:revision>
  <dcterms:created xsi:type="dcterms:W3CDTF">2026-07-03T16:36:18Z</dcterms:created>
  <dcterms:modified xsi:type="dcterms:W3CDTF">2026-07-03T17:14:16Z</dcterms:modified>
</cp:coreProperties>
</file>